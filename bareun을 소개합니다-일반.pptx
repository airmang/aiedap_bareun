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y="5143500" cx="9144000"/>
  <p:notesSz cx="6858000" cy="9144000"/>
  <p:embeddedFontLst>
    <p:embeddedFont>
      <p:font typeface="IBM Plex Sans KR SemiBold"/>
      <p:regular r:id="rId45"/>
      <p:bold r:id="rId46"/>
    </p:embeddedFont>
    <p:embeddedFont>
      <p:font typeface="Gothic A1 SemiBold"/>
      <p:regular r:id="rId47"/>
      <p:bold r:id="rId48"/>
    </p:embeddedFont>
    <p:embeddedFont>
      <p:font typeface="Lora"/>
      <p:regular r:id="rId49"/>
      <p:bold r:id="rId50"/>
      <p:italic r:id="rId51"/>
      <p:boldItalic r:id="rId52"/>
    </p:embeddedFont>
    <p:embeddedFont>
      <p:font typeface="Gothic A1"/>
      <p:regular r:id="rId53"/>
      <p:bold r:id="rId54"/>
    </p:embeddedFont>
    <p:embeddedFont>
      <p:font typeface="Gothic A1 Black"/>
      <p:bold r:id="rId55"/>
    </p:embeddedFont>
    <p:embeddedFont>
      <p:font typeface="Gothic A1 Medium"/>
      <p:regular r:id="rId56"/>
      <p:bold r:id="rId57"/>
    </p:embeddedFont>
    <p:embeddedFont>
      <p:font typeface="Gothic A1 Light"/>
      <p:regular r:id="rId58"/>
      <p:bold r:id="rId59"/>
    </p:embeddedFont>
    <p:embeddedFont>
      <p:font typeface="IBM Plex Sans KR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54">
          <p15:clr>
            <a:srgbClr val="747775"/>
          </p15:clr>
        </p15:guide>
        <p15:guide id="2" pos="267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1688E43-0B14-4A75-B4AD-73AC54F4911F}">
  <a:tblStyle styleId="{B1688E43-0B14-4A75-B4AD-73AC54F4911F}" styleName="Table_0">
    <a:wholeTbl>
      <a:tcTxStyle b="off" i="off">
        <a:font>
          <a:latin typeface="맑은 고딕"/>
          <a:ea typeface="맑은 고딕"/>
          <a:cs typeface="맑은 고딕"/>
        </a:font>
        <a:srgbClr val="000000"/>
      </a:tcTxStyle>
      <a:tcStyle>
        <a:tcBdr>
          <a:left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/>
          </a:solidFill>
        </a:fill>
      </a:tcStyle>
    </a:wholeTbl>
    <a:band1H>
      <a:tcTxStyle/>
      <a:tcStyle>
        <a:fill>
          <a:solidFill>
            <a:srgbClr val="E9EFF7"/>
          </a:solidFill>
        </a:fill>
      </a:tcStyle>
    </a:band1H>
    <a:band2H>
      <a:tcTxStyle/>
    </a:band2H>
    <a:band1V>
      <a:tcTxStyle/>
      <a:tcStyle>
        <a:fill>
          <a:solidFill>
            <a:srgbClr val="E9EFF7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맑은 고딕"/>
          <a:ea typeface="맑은 고딕"/>
          <a:cs typeface="맑은 고딕"/>
        </a:font>
        <a:srgbClr val="FFFFFF"/>
      </a:tcTxStyle>
      <a:tcStyle>
        <a:fill>
          <a:solidFill>
            <a:srgbClr val="5B9BD5"/>
          </a:solidFill>
        </a:fill>
      </a:tcStyle>
    </a:firstRow>
    <a:neCell>
      <a:tcTxStyle/>
    </a:neCell>
    <a:nwCell>
      <a:tcTxStyle/>
    </a:nwCell>
  </a:tblStyle>
  <a:tblStyle styleId="{E0FCCD9F-2931-4359-8EE8-A17C1EFFD06F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F609F05E-37EA-40B7-BE87-E0668D00872D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899E37F-F271-4D2A-9FBD-6BC374133D71}" styleName="Table_3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54" orient="horz"/>
        <p:guide pos="26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font" Target="fonts/IBMPlexSansKRSemiBold-bold.fntdata"/><Relationship Id="rId45" Type="http://schemas.openxmlformats.org/officeDocument/2006/relationships/font" Target="fonts/IBMPlexSansKR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GothicA1SemiBold-bold.fntdata"/><Relationship Id="rId47" Type="http://schemas.openxmlformats.org/officeDocument/2006/relationships/font" Target="fonts/GothicA1SemiBold-regular.fntdata"/><Relationship Id="rId49" Type="http://schemas.openxmlformats.org/officeDocument/2006/relationships/font" Target="fonts/Lora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1" Type="http://schemas.openxmlformats.org/officeDocument/2006/relationships/font" Target="fonts/IBMPlexSansKR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IBMPlexSansKR-regular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Lora-italic.fntdata"/><Relationship Id="rId50" Type="http://schemas.openxmlformats.org/officeDocument/2006/relationships/font" Target="fonts/Lora-bold.fntdata"/><Relationship Id="rId53" Type="http://schemas.openxmlformats.org/officeDocument/2006/relationships/font" Target="fonts/GothicA1-regular.fntdata"/><Relationship Id="rId52" Type="http://schemas.openxmlformats.org/officeDocument/2006/relationships/font" Target="fonts/Lora-boldItalic.fntdata"/><Relationship Id="rId11" Type="http://schemas.openxmlformats.org/officeDocument/2006/relationships/slide" Target="slides/slide5.xml"/><Relationship Id="rId55" Type="http://schemas.openxmlformats.org/officeDocument/2006/relationships/font" Target="fonts/GothicA1Black-bold.fntdata"/><Relationship Id="rId10" Type="http://schemas.openxmlformats.org/officeDocument/2006/relationships/slide" Target="slides/slide4.xml"/><Relationship Id="rId54" Type="http://schemas.openxmlformats.org/officeDocument/2006/relationships/font" Target="fonts/GothicA1-bold.fntdata"/><Relationship Id="rId13" Type="http://schemas.openxmlformats.org/officeDocument/2006/relationships/slide" Target="slides/slide7.xml"/><Relationship Id="rId57" Type="http://schemas.openxmlformats.org/officeDocument/2006/relationships/font" Target="fonts/GothicA1Medium-bold.fntdata"/><Relationship Id="rId12" Type="http://schemas.openxmlformats.org/officeDocument/2006/relationships/slide" Target="slides/slide6.xml"/><Relationship Id="rId56" Type="http://schemas.openxmlformats.org/officeDocument/2006/relationships/font" Target="fonts/GothicA1Medium-regular.fntdata"/><Relationship Id="rId15" Type="http://schemas.openxmlformats.org/officeDocument/2006/relationships/slide" Target="slides/slide9.xml"/><Relationship Id="rId59" Type="http://schemas.openxmlformats.org/officeDocument/2006/relationships/font" Target="fonts/GothicA1Light-bold.fntdata"/><Relationship Id="rId14" Type="http://schemas.openxmlformats.org/officeDocument/2006/relationships/slide" Target="slides/slide8.xml"/><Relationship Id="rId58" Type="http://schemas.openxmlformats.org/officeDocument/2006/relationships/font" Target="fonts/GothicA1Light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6e0fde0c0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6e0fde0c0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37de72da97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37de72da97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37de72da97_0_33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37de72da97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37de72da97_0_44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37de72da97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37de72da97_0_56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37de72da97_0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37de72da97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37de72da97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37de72da97_0_57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37de72da97_0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37de72da97_0_58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37de72da97_0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37de72da97_0_59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37de72da97_0_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37de72da97_0_60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37de72da97_0_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7a4de1bcb9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7a4de1bc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37de72da97_0_61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37de72da97_0_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37de72da97_0_6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37de72da97_0_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37de72da97_0_62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37de72da97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37de72da97_0_63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37de72da97_0_6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37de72da97_0_64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37de72da97_0_6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37de72da97_0_65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237de72da97_0_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37de72da97_0_66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37de72da97_0_6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37de72da97_0_67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237de72da97_0_6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37de72da97_0_67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37de72da97_0_6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37de72da97_0_68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37de72da97_0_6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37de72da97_0_71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37de72da97_0_7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37de72da97_0_69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237de72da97_0_6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37de72da97_0_70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237de72da97_0_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37de72da97_0_72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237de72da97_0_7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237de72da97_0_72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237de72da97_0_7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37de72da97_0_73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237de72da97_0_7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37de72da97_0_74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237de72da97_0_7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37de72da97_0_75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237de72da97_0_7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237de72da97_0_76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237de72da97_0_7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237de72da97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237de72da97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37de72da97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237de72da97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37de72da97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237de72da97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237de72da97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237de72da97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237de72da97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237de72da97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237de72da97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237de72da97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23d7cb2654a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23d7cb2654a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3d7cb2654a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23d7cb2654a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996625" y="2003900"/>
            <a:ext cx="75594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Gothic A1 Medium"/>
              <a:buNone/>
              <a:defRPr b="0" sz="3000">
                <a:latin typeface="Gothic A1 Medium"/>
                <a:ea typeface="Gothic A1 Medium"/>
                <a:cs typeface="Gothic A1 Medium"/>
                <a:sym typeface="Gothic A1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Gothic A1 Medium"/>
              <a:buNone/>
              <a:defRPr b="0" sz="3000">
                <a:latin typeface="Gothic A1 Medium"/>
                <a:ea typeface="Gothic A1 Medium"/>
                <a:cs typeface="Gothic A1 Medium"/>
                <a:sym typeface="Gothic A1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Gothic A1 Medium"/>
              <a:buNone/>
              <a:defRPr b="0" sz="3000">
                <a:latin typeface="Gothic A1 Medium"/>
                <a:ea typeface="Gothic A1 Medium"/>
                <a:cs typeface="Gothic A1 Medium"/>
                <a:sym typeface="Gothic A1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Gothic A1 Medium"/>
              <a:buNone/>
              <a:defRPr b="0" sz="3000">
                <a:latin typeface="Gothic A1 Medium"/>
                <a:ea typeface="Gothic A1 Medium"/>
                <a:cs typeface="Gothic A1 Medium"/>
                <a:sym typeface="Gothic A1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Gothic A1 Medium"/>
              <a:buNone/>
              <a:defRPr b="0" sz="3000">
                <a:latin typeface="Gothic A1 Medium"/>
                <a:ea typeface="Gothic A1 Medium"/>
                <a:cs typeface="Gothic A1 Medium"/>
                <a:sym typeface="Gothic A1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Gothic A1 Medium"/>
              <a:buNone/>
              <a:defRPr b="0" sz="3000">
                <a:latin typeface="Gothic A1 Medium"/>
                <a:ea typeface="Gothic A1 Medium"/>
                <a:cs typeface="Gothic A1 Medium"/>
                <a:sym typeface="Gothic A1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Gothic A1 Medium"/>
              <a:buNone/>
              <a:defRPr b="0" sz="3000">
                <a:latin typeface="Gothic A1 Medium"/>
                <a:ea typeface="Gothic A1 Medium"/>
                <a:cs typeface="Gothic A1 Medium"/>
                <a:sym typeface="Gothic A1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Gothic A1 Medium"/>
              <a:buNone/>
              <a:defRPr b="0" sz="3000">
                <a:latin typeface="Gothic A1 Medium"/>
                <a:ea typeface="Gothic A1 Medium"/>
                <a:cs typeface="Gothic A1 Medium"/>
                <a:sym typeface="Gothic A1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Gothic A1 Medium"/>
              <a:buNone/>
              <a:defRPr b="0" sz="3000">
                <a:latin typeface="Gothic A1 Medium"/>
                <a:ea typeface="Gothic A1 Medium"/>
                <a:cs typeface="Gothic A1 Medium"/>
                <a:sym typeface="Gothic A1 Medium"/>
              </a:defRPr>
            </a:lvl9pPr>
          </a:lstStyle>
          <a:p/>
        </p:txBody>
      </p:sp>
      <p:cxnSp>
        <p:nvCxnSpPr>
          <p:cNvPr id="11" name="Google Shape;11;p2"/>
          <p:cNvCxnSpPr/>
          <p:nvPr/>
        </p:nvCxnSpPr>
        <p:spPr>
          <a:xfrm>
            <a:off x="0" y="3676512"/>
            <a:ext cx="91620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" name="Google Shape;12;p2"/>
          <p:cNvSpPr/>
          <p:nvPr/>
        </p:nvSpPr>
        <p:spPr>
          <a:xfrm>
            <a:off x="1117950" y="3393000"/>
            <a:ext cx="567000" cy="567000"/>
          </a:xfrm>
          <a:prstGeom prst="ellipse">
            <a:avLst/>
          </a:prstGeom>
          <a:solidFill>
            <a:srgbClr val="7CBE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 txBox="1"/>
          <p:nvPr>
            <p:ph idx="2" type="title"/>
          </p:nvPr>
        </p:nvSpPr>
        <p:spPr>
          <a:xfrm>
            <a:off x="996625" y="1114550"/>
            <a:ext cx="7559400" cy="88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Gothic A1 SemiBold"/>
              <a:buNone/>
              <a:defRPr b="0" sz="3600">
                <a:latin typeface="Gothic A1 SemiBold"/>
                <a:ea typeface="Gothic A1 SemiBold"/>
                <a:cs typeface="Gothic A1 SemiBold"/>
                <a:sym typeface="Gothic A1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Font typeface="Gothic A1 SemiBold"/>
              <a:buNone/>
              <a:defRPr b="0" sz="3600">
                <a:latin typeface="Gothic A1 SemiBold"/>
                <a:ea typeface="Gothic A1 SemiBold"/>
                <a:cs typeface="Gothic A1 SemiBold"/>
                <a:sym typeface="Gothic A1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Font typeface="Gothic A1 SemiBold"/>
              <a:buNone/>
              <a:defRPr b="0" sz="3600">
                <a:latin typeface="Gothic A1 SemiBold"/>
                <a:ea typeface="Gothic A1 SemiBold"/>
                <a:cs typeface="Gothic A1 SemiBold"/>
                <a:sym typeface="Gothic A1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Font typeface="Gothic A1 SemiBold"/>
              <a:buNone/>
              <a:defRPr b="0" sz="3600">
                <a:latin typeface="Gothic A1 SemiBold"/>
                <a:ea typeface="Gothic A1 SemiBold"/>
                <a:cs typeface="Gothic A1 SemiBold"/>
                <a:sym typeface="Gothic A1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Font typeface="Gothic A1 SemiBold"/>
              <a:buNone/>
              <a:defRPr b="0" sz="3600">
                <a:latin typeface="Gothic A1 SemiBold"/>
                <a:ea typeface="Gothic A1 SemiBold"/>
                <a:cs typeface="Gothic A1 SemiBold"/>
                <a:sym typeface="Gothic A1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Font typeface="Gothic A1 SemiBold"/>
              <a:buNone/>
              <a:defRPr b="0" sz="3600">
                <a:latin typeface="Gothic A1 SemiBold"/>
                <a:ea typeface="Gothic A1 SemiBold"/>
                <a:cs typeface="Gothic A1 SemiBold"/>
                <a:sym typeface="Gothic A1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Font typeface="Gothic A1 SemiBold"/>
              <a:buNone/>
              <a:defRPr b="0" sz="3600">
                <a:latin typeface="Gothic A1 SemiBold"/>
                <a:ea typeface="Gothic A1 SemiBold"/>
                <a:cs typeface="Gothic A1 SemiBold"/>
                <a:sym typeface="Gothic A1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Font typeface="Gothic A1 SemiBold"/>
              <a:buNone/>
              <a:defRPr b="0" sz="3600">
                <a:latin typeface="Gothic A1 SemiBold"/>
                <a:ea typeface="Gothic A1 SemiBold"/>
                <a:cs typeface="Gothic A1 SemiBold"/>
                <a:sym typeface="Gothic A1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Font typeface="Gothic A1 SemiBold"/>
              <a:buNone/>
              <a:defRPr b="0" sz="3600">
                <a:latin typeface="Gothic A1 SemiBold"/>
                <a:ea typeface="Gothic A1 SemiBold"/>
                <a:cs typeface="Gothic A1 SemiBold"/>
                <a:sym typeface="Gothic A1 SemiBo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996625" y="4379475"/>
            <a:ext cx="5190600" cy="46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60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섹션구분2">
  <p:cSld name="CUSTOM_1">
    <p:bg>
      <p:bgPr>
        <a:solidFill>
          <a:srgbClr val="66C53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760500" y="2260950"/>
            <a:ext cx="7923600" cy="62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BM Plex Sans KR SemiBold"/>
              <a:buNone/>
              <a:defRPr sz="4000">
                <a:solidFill>
                  <a:schemeClr val="lt1"/>
                </a:solidFill>
                <a:latin typeface="IBM Plex Sans KR SemiBold"/>
                <a:ea typeface="IBM Plex Sans KR SemiBold"/>
                <a:cs typeface="IBM Plex Sans KR SemiBold"/>
                <a:sym typeface="IBM Plex Sans K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BM Plex Sans KR SemiBold"/>
              <a:buNone/>
              <a:defRPr>
                <a:solidFill>
                  <a:schemeClr val="lt1"/>
                </a:solidFill>
                <a:latin typeface="IBM Plex Sans KR SemiBold"/>
                <a:ea typeface="IBM Plex Sans KR SemiBold"/>
                <a:cs typeface="IBM Plex Sans KR SemiBold"/>
                <a:sym typeface="IBM Plex Sans K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BM Plex Sans KR SemiBold"/>
              <a:buNone/>
              <a:defRPr>
                <a:solidFill>
                  <a:schemeClr val="lt1"/>
                </a:solidFill>
                <a:latin typeface="IBM Plex Sans KR SemiBold"/>
                <a:ea typeface="IBM Plex Sans KR SemiBold"/>
                <a:cs typeface="IBM Plex Sans KR SemiBold"/>
                <a:sym typeface="IBM Plex Sans K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KR SemiBold"/>
              <a:buNone/>
              <a:defRPr>
                <a:solidFill>
                  <a:schemeClr val="lt1"/>
                </a:solidFill>
                <a:latin typeface="IBM Plex Sans KR SemiBold"/>
                <a:ea typeface="IBM Plex Sans KR SemiBold"/>
                <a:cs typeface="IBM Plex Sans KR SemiBold"/>
                <a:sym typeface="IBM Plex Sans K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KR SemiBold"/>
              <a:buNone/>
              <a:defRPr>
                <a:solidFill>
                  <a:schemeClr val="lt1"/>
                </a:solidFill>
                <a:latin typeface="IBM Plex Sans KR SemiBold"/>
                <a:ea typeface="IBM Plex Sans KR SemiBold"/>
                <a:cs typeface="IBM Plex Sans KR SemiBold"/>
                <a:sym typeface="IBM Plex Sans K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KR SemiBold"/>
              <a:buNone/>
              <a:defRPr>
                <a:solidFill>
                  <a:schemeClr val="lt1"/>
                </a:solidFill>
                <a:latin typeface="IBM Plex Sans KR SemiBold"/>
                <a:ea typeface="IBM Plex Sans KR SemiBold"/>
                <a:cs typeface="IBM Plex Sans KR SemiBold"/>
                <a:sym typeface="IBM Plex Sans K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KR SemiBold"/>
              <a:buNone/>
              <a:defRPr>
                <a:solidFill>
                  <a:schemeClr val="lt1"/>
                </a:solidFill>
                <a:latin typeface="IBM Plex Sans KR SemiBold"/>
                <a:ea typeface="IBM Plex Sans KR SemiBold"/>
                <a:cs typeface="IBM Plex Sans KR SemiBold"/>
                <a:sym typeface="IBM Plex Sans K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KR SemiBold"/>
              <a:buNone/>
              <a:defRPr>
                <a:solidFill>
                  <a:schemeClr val="lt1"/>
                </a:solidFill>
                <a:latin typeface="IBM Plex Sans KR SemiBold"/>
                <a:ea typeface="IBM Plex Sans KR SemiBold"/>
                <a:cs typeface="IBM Plex Sans KR SemiBold"/>
                <a:sym typeface="IBM Plex Sans K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KR SemiBold"/>
              <a:buNone/>
              <a:defRPr>
                <a:solidFill>
                  <a:schemeClr val="lt1"/>
                </a:solidFill>
                <a:latin typeface="IBM Plex Sans KR SemiBold"/>
                <a:ea typeface="IBM Plex Sans KR SemiBold"/>
                <a:cs typeface="IBM Plex Sans KR SemiBold"/>
                <a:sym typeface="IBM Plex Sans KR SemiBold"/>
              </a:defRPr>
            </a:lvl9pPr>
          </a:lstStyle>
          <a:p/>
        </p:txBody>
      </p:sp>
      <p:cxnSp>
        <p:nvCxnSpPr>
          <p:cNvPr id="18" name="Google Shape;18;p3"/>
          <p:cNvCxnSpPr/>
          <p:nvPr/>
        </p:nvCxnSpPr>
        <p:spPr>
          <a:xfrm flipH="1" rot="10800000">
            <a:off x="531000" y="3066200"/>
            <a:ext cx="8082000" cy="19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" name="Google Shape;19;p3"/>
          <p:cNvSpPr txBox="1"/>
          <p:nvPr>
            <p:ph idx="2" type="body"/>
          </p:nvPr>
        </p:nvSpPr>
        <p:spPr>
          <a:xfrm>
            <a:off x="517075" y="3126325"/>
            <a:ext cx="8082000" cy="19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KR"/>
              <a:buChar char="◉"/>
              <a:defRPr sz="1800">
                <a:solidFill>
                  <a:schemeClr val="lt1"/>
                </a:solidFill>
                <a:latin typeface="IBM Plex Sans KR"/>
                <a:ea typeface="IBM Plex Sans KR"/>
                <a:cs typeface="IBM Plex Sans KR"/>
                <a:sym typeface="IBM Plex Sans KR"/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KR"/>
              <a:buChar char="○"/>
              <a:defRPr sz="1800">
                <a:solidFill>
                  <a:schemeClr val="lt1"/>
                </a:solidFill>
                <a:latin typeface="IBM Plex Sans KR"/>
                <a:ea typeface="IBM Plex Sans KR"/>
                <a:cs typeface="IBM Plex Sans KR"/>
                <a:sym typeface="IBM Plex Sans KR"/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KR"/>
              <a:buChar char="■"/>
              <a:defRPr sz="1800">
                <a:solidFill>
                  <a:schemeClr val="lt1"/>
                </a:solidFill>
                <a:latin typeface="IBM Plex Sans KR"/>
                <a:ea typeface="IBM Plex Sans KR"/>
                <a:cs typeface="IBM Plex Sans KR"/>
                <a:sym typeface="IBM Plex Sans KR"/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KR"/>
              <a:buChar char="●"/>
              <a:defRPr>
                <a:solidFill>
                  <a:schemeClr val="lt1"/>
                </a:solidFill>
                <a:latin typeface="IBM Plex Sans KR"/>
                <a:ea typeface="IBM Plex Sans KR"/>
                <a:cs typeface="IBM Plex Sans KR"/>
                <a:sym typeface="IBM Plex Sans KR"/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KR"/>
              <a:buChar char="○"/>
              <a:defRPr>
                <a:solidFill>
                  <a:schemeClr val="lt1"/>
                </a:solidFill>
                <a:latin typeface="IBM Plex Sans KR"/>
                <a:ea typeface="IBM Plex Sans KR"/>
                <a:cs typeface="IBM Plex Sans KR"/>
                <a:sym typeface="IBM Plex Sans KR"/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KR"/>
              <a:buChar char="■"/>
              <a:defRPr>
                <a:solidFill>
                  <a:schemeClr val="lt1"/>
                </a:solidFill>
                <a:latin typeface="IBM Plex Sans KR"/>
                <a:ea typeface="IBM Plex Sans KR"/>
                <a:cs typeface="IBM Plex Sans KR"/>
                <a:sym typeface="IBM Plex Sans KR"/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KR"/>
              <a:buChar char="●"/>
              <a:defRPr>
                <a:solidFill>
                  <a:schemeClr val="lt1"/>
                </a:solidFill>
                <a:latin typeface="IBM Plex Sans KR"/>
                <a:ea typeface="IBM Plex Sans KR"/>
                <a:cs typeface="IBM Plex Sans KR"/>
                <a:sym typeface="IBM Plex Sans KR"/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KR"/>
              <a:buChar char="○"/>
              <a:defRPr>
                <a:solidFill>
                  <a:schemeClr val="lt1"/>
                </a:solidFill>
                <a:latin typeface="IBM Plex Sans KR"/>
                <a:ea typeface="IBM Plex Sans KR"/>
                <a:cs typeface="IBM Plex Sans KR"/>
                <a:sym typeface="IBM Plex Sans KR"/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KR"/>
              <a:buChar char="■"/>
              <a:defRPr>
                <a:solidFill>
                  <a:schemeClr val="lt1"/>
                </a:solidFill>
                <a:latin typeface="IBM Plex Sans KR"/>
                <a:ea typeface="IBM Plex Sans KR"/>
                <a:cs typeface="IBM Plex Sans KR"/>
                <a:sym typeface="IBM Plex Sans K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목차">
  <p:cSld name="CUSTOM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1381250" y="667949"/>
            <a:ext cx="6809700" cy="4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Gothic A1"/>
                <a:ea typeface="Gothic A1"/>
                <a:cs typeface="Gothic A1"/>
                <a:sym typeface="Gothic A1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Gothic A1"/>
                <a:ea typeface="Gothic A1"/>
                <a:cs typeface="Gothic A1"/>
                <a:sym typeface="Gothic A1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Gothic A1"/>
                <a:ea typeface="Gothic A1"/>
                <a:cs typeface="Gothic A1"/>
                <a:sym typeface="Gothic A1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Gothic A1"/>
                <a:ea typeface="Gothic A1"/>
                <a:cs typeface="Gothic A1"/>
                <a:sym typeface="Gothic A1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Gothic A1"/>
                <a:ea typeface="Gothic A1"/>
                <a:cs typeface="Gothic A1"/>
                <a:sym typeface="Gothic A1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Gothic A1"/>
                <a:ea typeface="Gothic A1"/>
                <a:cs typeface="Gothic A1"/>
                <a:sym typeface="Gothic A1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Gothic A1"/>
                <a:ea typeface="Gothic A1"/>
                <a:cs typeface="Gothic A1"/>
                <a:sym typeface="Gothic A1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Gothic A1"/>
                <a:ea typeface="Gothic A1"/>
                <a:cs typeface="Gothic A1"/>
                <a:sym typeface="Gothic A1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Gothic A1"/>
                <a:ea typeface="Gothic A1"/>
                <a:cs typeface="Gothic A1"/>
                <a:sym typeface="Gothic A1"/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0" y="1422612"/>
            <a:ext cx="9167100" cy="123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" name="Google Shape;24;p4"/>
          <p:cNvSpPr/>
          <p:nvPr/>
        </p:nvSpPr>
        <p:spPr>
          <a:xfrm>
            <a:off x="-10075" y="-56050"/>
            <a:ext cx="9154200" cy="1457700"/>
          </a:xfrm>
          <a:prstGeom prst="rect">
            <a:avLst/>
          </a:prstGeom>
          <a:solidFill>
            <a:srgbClr val="A7D8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1117950" y="1145250"/>
            <a:ext cx="567000" cy="567000"/>
          </a:xfrm>
          <a:prstGeom prst="ellipse">
            <a:avLst/>
          </a:prstGeom>
          <a:solidFill>
            <a:srgbClr val="7CBE5F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1882975" y="2048650"/>
            <a:ext cx="6879300" cy="30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400"/>
              <a:buChar char="◉"/>
              <a:defRPr/>
            </a:lvl1pPr>
            <a:lvl2pPr indent="-355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2pPr>
            <a:lvl3pPr indent="-355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indent="-3429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2" type="ctrTitle"/>
          </p:nvPr>
        </p:nvSpPr>
        <p:spPr>
          <a:xfrm>
            <a:off x="1765975" y="482050"/>
            <a:ext cx="6787200" cy="67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Gothic A1 Medium"/>
              <a:buNone/>
              <a:defRPr b="0" sz="3000">
                <a:latin typeface="Gothic A1 Medium"/>
                <a:ea typeface="Gothic A1 Medium"/>
                <a:cs typeface="Gothic A1 Medium"/>
                <a:sym typeface="Gothic A1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Gothic A1 Medium"/>
              <a:buNone/>
              <a:defRPr b="0" sz="3000">
                <a:latin typeface="Gothic A1 Medium"/>
                <a:ea typeface="Gothic A1 Medium"/>
                <a:cs typeface="Gothic A1 Medium"/>
                <a:sym typeface="Gothic A1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Gothic A1 Medium"/>
              <a:buNone/>
              <a:defRPr b="0" sz="3000">
                <a:latin typeface="Gothic A1 Medium"/>
                <a:ea typeface="Gothic A1 Medium"/>
                <a:cs typeface="Gothic A1 Medium"/>
                <a:sym typeface="Gothic A1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Gothic A1 Medium"/>
              <a:buNone/>
              <a:defRPr b="0" sz="3000">
                <a:latin typeface="Gothic A1 Medium"/>
                <a:ea typeface="Gothic A1 Medium"/>
                <a:cs typeface="Gothic A1 Medium"/>
                <a:sym typeface="Gothic A1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Gothic A1 Medium"/>
              <a:buNone/>
              <a:defRPr b="0" sz="3000">
                <a:latin typeface="Gothic A1 Medium"/>
                <a:ea typeface="Gothic A1 Medium"/>
                <a:cs typeface="Gothic A1 Medium"/>
                <a:sym typeface="Gothic A1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Gothic A1 Medium"/>
              <a:buNone/>
              <a:defRPr b="0" sz="3000">
                <a:latin typeface="Gothic A1 Medium"/>
                <a:ea typeface="Gothic A1 Medium"/>
                <a:cs typeface="Gothic A1 Medium"/>
                <a:sym typeface="Gothic A1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Gothic A1 Medium"/>
              <a:buNone/>
              <a:defRPr b="0" sz="3000">
                <a:latin typeface="Gothic A1 Medium"/>
                <a:ea typeface="Gothic A1 Medium"/>
                <a:cs typeface="Gothic A1 Medium"/>
                <a:sym typeface="Gothic A1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Gothic A1 Medium"/>
              <a:buNone/>
              <a:defRPr b="0" sz="3000">
                <a:latin typeface="Gothic A1 Medium"/>
                <a:ea typeface="Gothic A1 Medium"/>
                <a:cs typeface="Gothic A1 Medium"/>
                <a:sym typeface="Gothic A1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Gothic A1 Medium"/>
              <a:buNone/>
              <a:defRPr b="0" sz="3000">
                <a:latin typeface="Gothic A1 Medium"/>
                <a:ea typeface="Gothic A1 Medium"/>
                <a:cs typeface="Gothic A1 Medium"/>
                <a:sym typeface="Gothic A1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섹션구분">
  <p:cSld name="TITLE_1">
    <p:bg>
      <p:bgPr>
        <a:solidFill>
          <a:srgbClr val="F3F3F3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 flipH="1" rot="10800000">
            <a:off x="0" y="2542032"/>
            <a:ext cx="9154200" cy="27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" name="Google Shape;30;p5"/>
          <p:cNvSpPr/>
          <p:nvPr/>
        </p:nvSpPr>
        <p:spPr>
          <a:xfrm>
            <a:off x="1117950" y="2288250"/>
            <a:ext cx="567000" cy="567000"/>
          </a:xfrm>
          <a:prstGeom prst="ellipse">
            <a:avLst/>
          </a:prstGeom>
          <a:solidFill>
            <a:srgbClr val="7CBE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5"/>
          <p:cNvSpPr txBox="1"/>
          <p:nvPr>
            <p:ph type="ctrTitle"/>
          </p:nvPr>
        </p:nvSpPr>
        <p:spPr>
          <a:xfrm>
            <a:off x="1765975" y="1777450"/>
            <a:ext cx="6787200" cy="67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Gothic A1 Medium"/>
              <a:buNone/>
              <a:defRPr b="0" sz="3000">
                <a:latin typeface="Gothic A1 Medium"/>
                <a:ea typeface="Gothic A1 Medium"/>
                <a:cs typeface="Gothic A1 Medium"/>
                <a:sym typeface="Gothic A1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Gothic A1 Medium"/>
              <a:buNone/>
              <a:defRPr b="0" sz="3000">
                <a:latin typeface="Gothic A1 Medium"/>
                <a:ea typeface="Gothic A1 Medium"/>
                <a:cs typeface="Gothic A1 Medium"/>
                <a:sym typeface="Gothic A1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Gothic A1 Medium"/>
              <a:buNone/>
              <a:defRPr b="0" sz="3000">
                <a:latin typeface="Gothic A1 Medium"/>
                <a:ea typeface="Gothic A1 Medium"/>
                <a:cs typeface="Gothic A1 Medium"/>
                <a:sym typeface="Gothic A1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Gothic A1 Medium"/>
              <a:buNone/>
              <a:defRPr b="0" sz="3000">
                <a:latin typeface="Gothic A1 Medium"/>
                <a:ea typeface="Gothic A1 Medium"/>
                <a:cs typeface="Gothic A1 Medium"/>
                <a:sym typeface="Gothic A1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Gothic A1 Medium"/>
              <a:buNone/>
              <a:defRPr b="0" sz="3000">
                <a:latin typeface="Gothic A1 Medium"/>
                <a:ea typeface="Gothic A1 Medium"/>
                <a:cs typeface="Gothic A1 Medium"/>
                <a:sym typeface="Gothic A1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Gothic A1 Medium"/>
              <a:buNone/>
              <a:defRPr b="0" sz="3000">
                <a:latin typeface="Gothic A1 Medium"/>
                <a:ea typeface="Gothic A1 Medium"/>
                <a:cs typeface="Gothic A1 Medium"/>
                <a:sym typeface="Gothic A1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Gothic A1 Medium"/>
              <a:buNone/>
              <a:defRPr b="0" sz="3000">
                <a:latin typeface="Gothic A1 Medium"/>
                <a:ea typeface="Gothic A1 Medium"/>
                <a:cs typeface="Gothic A1 Medium"/>
                <a:sym typeface="Gothic A1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Gothic A1 Medium"/>
              <a:buNone/>
              <a:defRPr b="0" sz="3000">
                <a:latin typeface="Gothic A1 Medium"/>
                <a:ea typeface="Gothic A1 Medium"/>
                <a:cs typeface="Gothic A1 Medium"/>
                <a:sym typeface="Gothic A1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Gothic A1 Medium"/>
              <a:buNone/>
              <a:defRPr b="0" sz="3000">
                <a:latin typeface="Gothic A1 Medium"/>
                <a:ea typeface="Gothic A1 Medium"/>
                <a:cs typeface="Gothic A1 Medium"/>
                <a:sym typeface="Gothic A1 Medium"/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1870425" y="2855250"/>
            <a:ext cx="6642300" cy="19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74650" lvl="0" marL="457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300"/>
              <a:buChar char="◉"/>
              <a:defRPr sz="2300"/>
            </a:lvl1pPr>
            <a:lvl2pPr indent="-3746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2pPr>
            <a:lvl3pPr indent="-3746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3pPr>
            <a:lvl4pPr indent="-3746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4pPr>
            <a:lvl5pPr indent="-3746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5pPr>
            <a:lvl6pPr indent="-3746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6pPr>
            <a:lvl7pPr indent="-3746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7pPr>
            <a:lvl8pPr indent="-3746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8pPr>
            <a:lvl9pPr indent="-3746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9pPr>
          </a:lstStyle>
          <a:p/>
        </p:txBody>
      </p:sp>
      <p:sp>
        <p:nvSpPr>
          <p:cNvPr id="34" name="Google Shape;34;p5"/>
          <p:cNvSpPr/>
          <p:nvPr>
            <p:ph idx="2" type="pic"/>
          </p:nvPr>
        </p:nvSpPr>
        <p:spPr>
          <a:xfrm>
            <a:off x="6393975" y="975850"/>
            <a:ext cx="1851000" cy="1336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본문(인용)">
  <p:cSld name="TITLE_1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idx="1" type="body"/>
          </p:nvPr>
        </p:nvSpPr>
        <p:spPr>
          <a:xfrm>
            <a:off x="2105050" y="471775"/>
            <a:ext cx="4933800" cy="258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600"/>
              </a:spcBef>
              <a:spcAft>
                <a:spcPts val="0"/>
              </a:spcAft>
              <a:buSzPts val="1800"/>
              <a:buChar char="◉"/>
              <a:defRPr i="1" sz="1800"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 i="1" sz="1800"/>
            </a:lvl2pPr>
            <a:lvl3pPr indent="-342900" lvl="2" marL="1371600" rtl="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 i="1" sz="1800"/>
            </a:lvl3pPr>
            <a:lvl4pPr indent="-342900" lvl="3" marL="18288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 i="1"/>
            </a:lvl4pPr>
            <a:lvl5pPr indent="-342900" lvl="4" marL="22860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 i="1"/>
            </a:lvl5pPr>
            <a:lvl6pPr indent="-342900" lvl="5" marL="2743200" rtl="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 i="1"/>
            </a:lvl6pPr>
            <a:lvl7pPr indent="-342900" lvl="6" marL="32004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 i="1"/>
            </a:lvl7pPr>
            <a:lvl8pPr indent="-342900" lvl="7" marL="36576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 i="1"/>
            </a:lvl8pPr>
            <a:lvl9pPr indent="-342900" lvl="8" marL="4114800" rtl="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 i="1"/>
            </a:lvl9pPr>
          </a:lstStyle>
          <a:p/>
        </p:txBody>
      </p:sp>
      <p:cxnSp>
        <p:nvCxnSpPr>
          <p:cNvPr id="37" name="Google Shape;37;p6"/>
          <p:cNvCxnSpPr/>
          <p:nvPr/>
        </p:nvCxnSpPr>
        <p:spPr>
          <a:xfrm>
            <a:off x="4584075" y="3676500"/>
            <a:ext cx="0" cy="148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" name="Google Shape;38;p6"/>
          <p:cNvSpPr/>
          <p:nvPr/>
        </p:nvSpPr>
        <p:spPr>
          <a:xfrm>
            <a:off x="4288500" y="3545400"/>
            <a:ext cx="567000" cy="567000"/>
          </a:xfrm>
          <a:prstGeom prst="ellipse">
            <a:avLst/>
          </a:prstGeom>
          <a:solidFill>
            <a:srgbClr val="7CBE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6"/>
          <p:cNvSpPr txBox="1"/>
          <p:nvPr/>
        </p:nvSpPr>
        <p:spPr>
          <a:xfrm>
            <a:off x="3593400" y="3565052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latin typeface="Lora"/>
                <a:ea typeface="Lora"/>
                <a:cs typeface="Lora"/>
                <a:sym typeface="Lora"/>
              </a:rPr>
              <a:t>“</a:t>
            </a:r>
            <a:endParaRPr b="1" sz="36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4297650" y="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latin typeface="Lora"/>
                <a:ea typeface="Lora"/>
                <a:cs typeface="Lora"/>
                <a:sym typeface="Lora"/>
              </a:defRPr>
            </a:lvl1pPr>
            <a:lvl2pPr lvl="1" rtl="0" algn="ctr">
              <a:buNone/>
              <a:defRPr>
                <a:latin typeface="Lora"/>
                <a:ea typeface="Lora"/>
                <a:cs typeface="Lora"/>
                <a:sym typeface="Lora"/>
              </a:defRPr>
            </a:lvl2pPr>
            <a:lvl3pPr lvl="2" rtl="0" algn="ctr">
              <a:buNone/>
              <a:defRPr>
                <a:latin typeface="Lora"/>
                <a:ea typeface="Lora"/>
                <a:cs typeface="Lora"/>
                <a:sym typeface="Lora"/>
              </a:defRPr>
            </a:lvl3pPr>
            <a:lvl4pPr lvl="3" rtl="0" algn="ctr">
              <a:buNone/>
              <a:defRPr>
                <a:latin typeface="Lora"/>
                <a:ea typeface="Lora"/>
                <a:cs typeface="Lora"/>
                <a:sym typeface="Lora"/>
              </a:defRPr>
            </a:lvl4pPr>
            <a:lvl5pPr lvl="4" rtl="0" algn="ctr">
              <a:buNone/>
              <a:defRPr>
                <a:latin typeface="Lora"/>
                <a:ea typeface="Lora"/>
                <a:cs typeface="Lora"/>
                <a:sym typeface="Lora"/>
              </a:defRPr>
            </a:lvl5pPr>
            <a:lvl6pPr lvl="5" rtl="0" algn="ctr">
              <a:buNone/>
              <a:defRPr>
                <a:latin typeface="Lora"/>
                <a:ea typeface="Lora"/>
                <a:cs typeface="Lora"/>
                <a:sym typeface="Lora"/>
              </a:defRPr>
            </a:lvl6pPr>
            <a:lvl7pPr lvl="6" rtl="0" algn="ctr">
              <a:buNone/>
              <a:defRPr>
                <a:latin typeface="Lora"/>
                <a:ea typeface="Lora"/>
                <a:cs typeface="Lora"/>
                <a:sym typeface="Lora"/>
              </a:defRPr>
            </a:lvl7pPr>
            <a:lvl8pPr lvl="7" rtl="0" algn="ctr">
              <a:buNone/>
              <a:defRPr>
                <a:latin typeface="Lora"/>
                <a:ea typeface="Lora"/>
                <a:cs typeface="Lora"/>
                <a:sym typeface="Lora"/>
              </a:defRPr>
            </a:lvl8pPr>
            <a:lvl9pPr lvl="8" rtl="0" algn="ctr">
              <a:buNone/>
              <a:defRPr>
                <a:latin typeface="Lora"/>
                <a:ea typeface="Lora"/>
                <a:cs typeface="Lora"/>
                <a:sym typeface="Lor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본문(1칼럼)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Google Shape;42;p7"/>
          <p:cNvCxnSpPr/>
          <p:nvPr/>
        </p:nvCxnSpPr>
        <p:spPr>
          <a:xfrm>
            <a:off x="0" y="826925"/>
            <a:ext cx="9154200" cy="9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" name="Google Shape;43;p7"/>
          <p:cNvSpPr/>
          <p:nvPr/>
        </p:nvSpPr>
        <p:spPr>
          <a:xfrm>
            <a:off x="436475" y="623967"/>
            <a:ext cx="405900" cy="405900"/>
          </a:xfrm>
          <a:prstGeom prst="ellipse">
            <a:avLst/>
          </a:prstGeom>
          <a:solidFill>
            <a:srgbClr val="7CBE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45" name="Google Shape;45;p7"/>
          <p:cNvSpPr txBox="1"/>
          <p:nvPr>
            <p:ph type="title"/>
          </p:nvPr>
        </p:nvSpPr>
        <p:spPr>
          <a:xfrm>
            <a:off x="924050" y="286500"/>
            <a:ext cx="74667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latin typeface="Gothic A1 Medium"/>
                <a:ea typeface="Gothic A1 Medium"/>
                <a:cs typeface="Gothic A1 Medium"/>
                <a:sym typeface="Gothic A1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highlight>
                  <a:srgbClr val="FFFFFF"/>
                </a:highlight>
                <a:latin typeface="Gothic A1 Medium"/>
                <a:ea typeface="Gothic A1 Medium"/>
                <a:cs typeface="Gothic A1 Medium"/>
                <a:sym typeface="Gothic A1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highlight>
                  <a:srgbClr val="FFFFFF"/>
                </a:highlight>
                <a:latin typeface="Gothic A1 Medium"/>
                <a:ea typeface="Gothic A1 Medium"/>
                <a:cs typeface="Gothic A1 Medium"/>
                <a:sym typeface="Gothic A1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highlight>
                  <a:srgbClr val="FFFFFF"/>
                </a:highlight>
                <a:latin typeface="Gothic A1 Medium"/>
                <a:ea typeface="Gothic A1 Medium"/>
                <a:cs typeface="Gothic A1 Medium"/>
                <a:sym typeface="Gothic A1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highlight>
                  <a:srgbClr val="FFFFFF"/>
                </a:highlight>
                <a:latin typeface="Gothic A1 Medium"/>
                <a:ea typeface="Gothic A1 Medium"/>
                <a:cs typeface="Gothic A1 Medium"/>
                <a:sym typeface="Gothic A1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highlight>
                  <a:srgbClr val="FFFFFF"/>
                </a:highlight>
                <a:latin typeface="Gothic A1 Medium"/>
                <a:ea typeface="Gothic A1 Medium"/>
                <a:cs typeface="Gothic A1 Medium"/>
                <a:sym typeface="Gothic A1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highlight>
                  <a:srgbClr val="FFFFFF"/>
                </a:highlight>
                <a:latin typeface="Gothic A1 Medium"/>
                <a:ea typeface="Gothic A1 Medium"/>
                <a:cs typeface="Gothic A1 Medium"/>
                <a:sym typeface="Gothic A1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highlight>
                  <a:srgbClr val="FFFFFF"/>
                </a:highlight>
                <a:latin typeface="Gothic A1 Medium"/>
                <a:ea typeface="Gothic A1 Medium"/>
                <a:cs typeface="Gothic A1 Medium"/>
                <a:sym typeface="Gothic A1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highlight>
                  <a:srgbClr val="FFFFFF"/>
                </a:highlight>
                <a:latin typeface="Gothic A1 Medium"/>
                <a:ea typeface="Gothic A1 Medium"/>
                <a:cs typeface="Gothic A1 Medium"/>
                <a:sym typeface="Gothic A1 Medium"/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512675" y="1193875"/>
            <a:ext cx="8030700" cy="35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◉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752">
          <p15:clr>
            <a:srgbClr val="FA7B17"/>
          </p15:clr>
        </p15:guide>
        <p15:guide id="2" pos="323">
          <p15:clr>
            <a:srgbClr val="FA7B17"/>
          </p15:clr>
        </p15:guide>
        <p15:guide id="3" pos="2976">
          <p15:clr>
            <a:srgbClr val="FA7B17"/>
          </p15:clr>
        </p15:guide>
        <p15:guide id="4" orient="horz" pos="1716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본문(2칼럼)" type="twoColTx">
  <p:cSld name="TITLE_AND_TWO_COLUMN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cxnSp>
        <p:nvCxnSpPr>
          <p:cNvPr id="49" name="Google Shape;49;p8"/>
          <p:cNvCxnSpPr/>
          <p:nvPr/>
        </p:nvCxnSpPr>
        <p:spPr>
          <a:xfrm>
            <a:off x="0" y="826925"/>
            <a:ext cx="9154200" cy="9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" name="Google Shape;50;p8"/>
          <p:cNvSpPr/>
          <p:nvPr/>
        </p:nvSpPr>
        <p:spPr>
          <a:xfrm>
            <a:off x="436475" y="623967"/>
            <a:ext cx="405900" cy="405900"/>
          </a:xfrm>
          <a:prstGeom prst="ellipse">
            <a:avLst/>
          </a:prstGeom>
          <a:solidFill>
            <a:srgbClr val="7CBE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8"/>
          <p:cNvSpPr txBox="1"/>
          <p:nvPr>
            <p:ph type="title"/>
          </p:nvPr>
        </p:nvSpPr>
        <p:spPr>
          <a:xfrm>
            <a:off x="924050" y="286500"/>
            <a:ext cx="74667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latin typeface="Gothic A1 Medium"/>
                <a:ea typeface="Gothic A1 Medium"/>
                <a:cs typeface="Gothic A1 Medium"/>
                <a:sym typeface="Gothic A1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highlight>
                  <a:srgbClr val="FFFFFF"/>
                </a:highlight>
                <a:latin typeface="Gothic A1 Medium"/>
                <a:ea typeface="Gothic A1 Medium"/>
                <a:cs typeface="Gothic A1 Medium"/>
                <a:sym typeface="Gothic A1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highlight>
                  <a:srgbClr val="FFFFFF"/>
                </a:highlight>
                <a:latin typeface="Gothic A1 Medium"/>
                <a:ea typeface="Gothic A1 Medium"/>
                <a:cs typeface="Gothic A1 Medium"/>
                <a:sym typeface="Gothic A1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highlight>
                  <a:srgbClr val="FFFFFF"/>
                </a:highlight>
                <a:latin typeface="Gothic A1 Medium"/>
                <a:ea typeface="Gothic A1 Medium"/>
                <a:cs typeface="Gothic A1 Medium"/>
                <a:sym typeface="Gothic A1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highlight>
                  <a:srgbClr val="FFFFFF"/>
                </a:highlight>
                <a:latin typeface="Gothic A1 Medium"/>
                <a:ea typeface="Gothic A1 Medium"/>
                <a:cs typeface="Gothic A1 Medium"/>
                <a:sym typeface="Gothic A1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highlight>
                  <a:srgbClr val="FFFFFF"/>
                </a:highlight>
                <a:latin typeface="Gothic A1 Medium"/>
                <a:ea typeface="Gothic A1 Medium"/>
                <a:cs typeface="Gothic A1 Medium"/>
                <a:sym typeface="Gothic A1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highlight>
                  <a:srgbClr val="FFFFFF"/>
                </a:highlight>
                <a:latin typeface="Gothic A1 Medium"/>
                <a:ea typeface="Gothic A1 Medium"/>
                <a:cs typeface="Gothic A1 Medium"/>
                <a:sym typeface="Gothic A1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highlight>
                  <a:srgbClr val="FFFFFF"/>
                </a:highlight>
                <a:latin typeface="Gothic A1 Medium"/>
                <a:ea typeface="Gothic A1 Medium"/>
                <a:cs typeface="Gothic A1 Medium"/>
                <a:sym typeface="Gothic A1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highlight>
                  <a:srgbClr val="FFFFFF"/>
                </a:highlight>
                <a:latin typeface="Gothic A1 Medium"/>
                <a:ea typeface="Gothic A1 Medium"/>
                <a:cs typeface="Gothic A1 Medium"/>
                <a:sym typeface="Gothic A1 Medium"/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idx="1" type="body"/>
          </p:nvPr>
        </p:nvSpPr>
        <p:spPr>
          <a:xfrm>
            <a:off x="512675" y="1193875"/>
            <a:ext cx="3765600" cy="35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◉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3" name="Google Shape;53;p8"/>
          <p:cNvSpPr txBox="1"/>
          <p:nvPr>
            <p:ph idx="2" type="body"/>
          </p:nvPr>
        </p:nvSpPr>
        <p:spPr>
          <a:xfrm>
            <a:off x="4661650" y="1193875"/>
            <a:ext cx="3881700" cy="35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◉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본문(키워드+내용) ">
  <p:cSld name="TITLE_AND_TWO_COLUMNS_2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cxnSp>
        <p:nvCxnSpPr>
          <p:cNvPr id="56" name="Google Shape;56;p9"/>
          <p:cNvCxnSpPr/>
          <p:nvPr/>
        </p:nvCxnSpPr>
        <p:spPr>
          <a:xfrm>
            <a:off x="0" y="826925"/>
            <a:ext cx="9154200" cy="9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" name="Google Shape;57;p9"/>
          <p:cNvSpPr/>
          <p:nvPr/>
        </p:nvSpPr>
        <p:spPr>
          <a:xfrm>
            <a:off x="436475" y="623967"/>
            <a:ext cx="405900" cy="405900"/>
          </a:xfrm>
          <a:prstGeom prst="ellipse">
            <a:avLst/>
          </a:prstGeom>
          <a:solidFill>
            <a:srgbClr val="7CBE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9"/>
          <p:cNvSpPr txBox="1"/>
          <p:nvPr>
            <p:ph type="title"/>
          </p:nvPr>
        </p:nvSpPr>
        <p:spPr>
          <a:xfrm>
            <a:off x="924050" y="286500"/>
            <a:ext cx="74667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latin typeface="Gothic A1 Medium"/>
                <a:ea typeface="Gothic A1 Medium"/>
                <a:cs typeface="Gothic A1 Medium"/>
                <a:sym typeface="Gothic A1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highlight>
                  <a:srgbClr val="FFFFFF"/>
                </a:highlight>
                <a:latin typeface="Gothic A1 Medium"/>
                <a:ea typeface="Gothic A1 Medium"/>
                <a:cs typeface="Gothic A1 Medium"/>
                <a:sym typeface="Gothic A1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highlight>
                  <a:srgbClr val="FFFFFF"/>
                </a:highlight>
                <a:latin typeface="Gothic A1 Medium"/>
                <a:ea typeface="Gothic A1 Medium"/>
                <a:cs typeface="Gothic A1 Medium"/>
                <a:sym typeface="Gothic A1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highlight>
                  <a:srgbClr val="FFFFFF"/>
                </a:highlight>
                <a:latin typeface="Gothic A1 Medium"/>
                <a:ea typeface="Gothic A1 Medium"/>
                <a:cs typeface="Gothic A1 Medium"/>
                <a:sym typeface="Gothic A1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highlight>
                  <a:srgbClr val="FFFFFF"/>
                </a:highlight>
                <a:latin typeface="Gothic A1 Medium"/>
                <a:ea typeface="Gothic A1 Medium"/>
                <a:cs typeface="Gothic A1 Medium"/>
                <a:sym typeface="Gothic A1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highlight>
                  <a:srgbClr val="FFFFFF"/>
                </a:highlight>
                <a:latin typeface="Gothic A1 Medium"/>
                <a:ea typeface="Gothic A1 Medium"/>
                <a:cs typeface="Gothic A1 Medium"/>
                <a:sym typeface="Gothic A1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highlight>
                  <a:srgbClr val="FFFFFF"/>
                </a:highlight>
                <a:latin typeface="Gothic A1 Medium"/>
                <a:ea typeface="Gothic A1 Medium"/>
                <a:cs typeface="Gothic A1 Medium"/>
                <a:sym typeface="Gothic A1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highlight>
                  <a:srgbClr val="FFFFFF"/>
                </a:highlight>
                <a:latin typeface="Gothic A1 Medium"/>
                <a:ea typeface="Gothic A1 Medium"/>
                <a:cs typeface="Gothic A1 Medium"/>
                <a:sym typeface="Gothic A1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highlight>
                  <a:srgbClr val="FFFFFF"/>
                </a:highlight>
                <a:latin typeface="Gothic A1 Medium"/>
                <a:ea typeface="Gothic A1 Medium"/>
                <a:cs typeface="Gothic A1 Medium"/>
                <a:sym typeface="Gothic A1 Medium"/>
              </a:defRPr>
            </a:lvl9pPr>
          </a:lstStyle>
          <a:p/>
        </p:txBody>
      </p:sp>
      <p:sp>
        <p:nvSpPr>
          <p:cNvPr id="59" name="Google Shape;59;p9"/>
          <p:cNvSpPr txBox="1"/>
          <p:nvPr>
            <p:ph idx="1" type="subTitle"/>
          </p:nvPr>
        </p:nvSpPr>
        <p:spPr>
          <a:xfrm>
            <a:off x="512675" y="1196925"/>
            <a:ext cx="1725900" cy="1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600"/>
              </a:spcBef>
              <a:spcAft>
                <a:spcPts val="0"/>
              </a:spcAft>
              <a:buClr>
                <a:srgbClr val="19AA4A"/>
              </a:buClr>
              <a:buSzPts val="1400"/>
              <a:buFont typeface="Gothic A1 SemiBold"/>
              <a:buNone/>
              <a:defRPr sz="1400">
                <a:solidFill>
                  <a:srgbClr val="19AA4A"/>
                </a:solidFill>
                <a:latin typeface="Gothic A1 SemiBold"/>
                <a:ea typeface="Gothic A1 SemiBold"/>
                <a:cs typeface="Gothic A1 SemiBold"/>
                <a:sym typeface="Gothic A1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2A551"/>
              </a:buClr>
              <a:buSzPts val="1400"/>
              <a:buFont typeface="Gothic A1 SemiBold"/>
              <a:buNone/>
              <a:defRPr sz="1400">
                <a:solidFill>
                  <a:srgbClr val="52A551"/>
                </a:solidFill>
                <a:latin typeface="Gothic A1 SemiBold"/>
                <a:ea typeface="Gothic A1 SemiBold"/>
                <a:cs typeface="Gothic A1 SemiBold"/>
                <a:sym typeface="Gothic A1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2A551"/>
              </a:buClr>
              <a:buSzPts val="1400"/>
              <a:buFont typeface="Gothic A1 SemiBold"/>
              <a:buNone/>
              <a:defRPr sz="1400">
                <a:solidFill>
                  <a:srgbClr val="52A551"/>
                </a:solidFill>
                <a:latin typeface="Gothic A1 SemiBold"/>
                <a:ea typeface="Gothic A1 SemiBold"/>
                <a:cs typeface="Gothic A1 SemiBold"/>
                <a:sym typeface="Gothic A1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2A551"/>
              </a:buClr>
              <a:buSzPts val="1400"/>
              <a:buFont typeface="Gothic A1 SemiBold"/>
              <a:buNone/>
              <a:defRPr sz="1400">
                <a:solidFill>
                  <a:srgbClr val="52A551"/>
                </a:solidFill>
                <a:latin typeface="Gothic A1 SemiBold"/>
                <a:ea typeface="Gothic A1 SemiBold"/>
                <a:cs typeface="Gothic A1 SemiBold"/>
                <a:sym typeface="Gothic A1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2A551"/>
              </a:buClr>
              <a:buSzPts val="1400"/>
              <a:buFont typeface="Gothic A1 SemiBold"/>
              <a:buNone/>
              <a:defRPr sz="1400">
                <a:solidFill>
                  <a:srgbClr val="52A551"/>
                </a:solidFill>
                <a:latin typeface="Gothic A1 SemiBold"/>
                <a:ea typeface="Gothic A1 SemiBold"/>
                <a:cs typeface="Gothic A1 SemiBold"/>
                <a:sym typeface="Gothic A1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2A551"/>
              </a:buClr>
              <a:buSzPts val="1400"/>
              <a:buFont typeface="Gothic A1 SemiBold"/>
              <a:buNone/>
              <a:defRPr sz="1400">
                <a:solidFill>
                  <a:srgbClr val="52A551"/>
                </a:solidFill>
                <a:latin typeface="Gothic A1 SemiBold"/>
                <a:ea typeface="Gothic A1 SemiBold"/>
                <a:cs typeface="Gothic A1 SemiBold"/>
                <a:sym typeface="Gothic A1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2A551"/>
              </a:buClr>
              <a:buSzPts val="1400"/>
              <a:buFont typeface="Gothic A1 SemiBold"/>
              <a:buNone/>
              <a:defRPr sz="1400">
                <a:solidFill>
                  <a:srgbClr val="52A551"/>
                </a:solidFill>
                <a:latin typeface="Gothic A1 SemiBold"/>
                <a:ea typeface="Gothic A1 SemiBold"/>
                <a:cs typeface="Gothic A1 SemiBold"/>
                <a:sym typeface="Gothic A1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2A551"/>
              </a:buClr>
              <a:buSzPts val="1400"/>
              <a:buFont typeface="Gothic A1 SemiBold"/>
              <a:buNone/>
              <a:defRPr sz="1400">
                <a:solidFill>
                  <a:srgbClr val="52A551"/>
                </a:solidFill>
                <a:latin typeface="Gothic A1 SemiBold"/>
                <a:ea typeface="Gothic A1 SemiBold"/>
                <a:cs typeface="Gothic A1 SemiBold"/>
                <a:sym typeface="Gothic A1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2A551"/>
              </a:buClr>
              <a:buSzPts val="1400"/>
              <a:buFont typeface="Gothic A1 SemiBold"/>
              <a:buNone/>
              <a:defRPr sz="1400">
                <a:solidFill>
                  <a:srgbClr val="52A551"/>
                </a:solidFill>
                <a:latin typeface="Gothic A1 SemiBold"/>
                <a:ea typeface="Gothic A1 SemiBold"/>
                <a:cs typeface="Gothic A1 SemiBold"/>
                <a:sym typeface="Gothic A1 SemiBold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2" type="body"/>
          </p:nvPr>
        </p:nvSpPr>
        <p:spPr>
          <a:xfrm>
            <a:off x="2404925" y="1196925"/>
            <a:ext cx="6301200" cy="1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◉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61" name="Google Shape;61;p9"/>
          <p:cNvSpPr txBox="1"/>
          <p:nvPr>
            <p:ph idx="3" type="subTitle"/>
          </p:nvPr>
        </p:nvSpPr>
        <p:spPr>
          <a:xfrm>
            <a:off x="512675" y="2897175"/>
            <a:ext cx="1725900" cy="1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600"/>
              </a:spcBef>
              <a:spcAft>
                <a:spcPts val="0"/>
              </a:spcAft>
              <a:buClr>
                <a:srgbClr val="19AA4A"/>
              </a:buClr>
              <a:buSzPts val="1400"/>
              <a:buFont typeface="Gothic A1 SemiBold"/>
              <a:buNone/>
              <a:defRPr sz="1400">
                <a:solidFill>
                  <a:srgbClr val="19AA4A"/>
                </a:solidFill>
                <a:latin typeface="Gothic A1 SemiBold"/>
                <a:ea typeface="Gothic A1 SemiBold"/>
                <a:cs typeface="Gothic A1 SemiBold"/>
                <a:sym typeface="Gothic A1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52A551"/>
              </a:buClr>
              <a:buSzPts val="1400"/>
              <a:buFont typeface="Gothic A1 SemiBold"/>
              <a:buNone/>
              <a:defRPr sz="1400">
                <a:solidFill>
                  <a:srgbClr val="52A551"/>
                </a:solidFill>
                <a:latin typeface="Gothic A1 SemiBold"/>
                <a:ea typeface="Gothic A1 SemiBold"/>
                <a:cs typeface="Gothic A1 SemiBold"/>
                <a:sym typeface="Gothic A1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52A551"/>
              </a:buClr>
              <a:buSzPts val="1400"/>
              <a:buFont typeface="Gothic A1 SemiBold"/>
              <a:buNone/>
              <a:defRPr sz="1400">
                <a:solidFill>
                  <a:srgbClr val="52A551"/>
                </a:solidFill>
                <a:latin typeface="Gothic A1 SemiBold"/>
                <a:ea typeface="Gothic A1 SemiBold"/>
                <a:cs typeface="Gothic A1 SemiBold"/>
                <a:sym typeface="Gothic A1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52A551"/>
              </a:buClr>
              <a:buSzPts val="1400"/>
              <a:buFont typeface="Gothic A1 SemiBold"/>
              <a:buNone/>
              <a:defRPr sz="1400">
                <a:solidFill>
                  <a:srgbClr val="52A551"/>
                </a:solidFill>
                <a:latin typeface="Gothic A1 SemiBold"/>
                <a:ea typeface="Gothic A1 SemiBold"/>
                <a:cs typeface="Gothic A1 SemiBold"/>
                <a:sym typeface="Gothic A1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52A551"/>
              </a:buClr>
              <a:buSzPts val="1400"/>
              <a:buFont typeface="Gothic A1 SemiBold"/>
              <a:buNone/>
              <a:defRPr sz="1400">
                <a:solidFill>
                  <a:srgbClr val="52A551"/>
                </a:solidFill>
                <a:latin typeface="Gothic A1 SemiBold"/>
                <a:ea typeface="Gothic A1 SemiBold"/>
                <a:cs typeface="Gothic A1 SemiBold"/>
                <a:sym typeface="Gothic A1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52A551"/>
              </a:buClr>
              <a:buSzPts val="1400"/>
              <a:buFont typeface="Gothic A1 SemiBold"/>
              <a:buNone/>
              <a:defRPr sz="1400">
                <a:solidFill>
                  <a:srgbClr val="52A551"/>
                </a:solidFill>
                <a:latin typeface="Gothic A1 SemiBold"/>
                <a:ea typeface="Gothic A1 SemiBold"/>
                <a:cs typeface="Gothic A1 SemiBold"/>
                <a:sym typeface="Gothic A1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52A551"/>
              </a:buClr>
              <a:buSzPts val="1400"/>
              <a:buFont typeface="Gothic A1 SemiBold"/>
              <a:buNone/>
              <a:defRPr sz="1400">
                <a:solidFill>
                  <a:srgbClr val="52A551"/>
                </a:solidFill>
                <a:latin typeface="Gothic A1 SemiBold"/>
                <a:ea typeface="Gothic A1 SemiBold"/>
                <a:cs typeface="Gothic A1 SemiBold"/>
                <a:sym typeface="Gothic A1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52A551"/>
              </a:buClr>
              <a:buSzPts val="1400"/>
              <a:buFont typeface="Gothic A1 SemiBold"/>
              <a:buNone/>
              <a:defRPr sz="1400">
                <a:solidFill>
                  <a:srgbClr val="52A551"/>
                </a:solidFill>
                <a:latin typeface="Gothic A1 SemiBold"/>
                <a:ea typeface="Gothic A1 SemiBold"/>
                <a:cs typeface="Gothic A1 SemiBold"/>
                <a:sym typeface="Gothic A1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52A551"/>
              </a:buClr>
              <a:buSzPts val="1400"/>
              <a:buFont typeface="Gothic A1 SemiBold"/>
              <a:buNone/>
              <a:defRPr sz="1400">
                <a:solidFill>
                  <a:srgbClr val="52A551"/>
                </a:solidFill>
                <a:latin typeface="Gothic A1 SemiBold"/>
                <a:ea typeface="Gothic A1 SemiBold"/>
                <a:cs typeface="Gothic A1 SemiBold"/>
                <a:sym typeface="Gothic A1 SemiBold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4" type="body"/>
          </p:nvPr>
        </p:nvSpPr>
        <p:spPr>
          <a:xfrm>
            <a:off x="2404925" y="2897175"/>
            <a:ext cx="6301200" cy="14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◉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본문(키워드+여백)">
  <p:cSld name="TITLE_AND_TWO_COLUMNS_2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cxnSp>
        <p:nvCxnSpPr>
          <p:cNvPr id="65" name="Google Shape;65;p10"/>
          <p:cNvCxnSpPr/>
          <p:nvPr/>
        </p:nvCxnSpPr>
        <p:spPr>
          <a:xfrm>
            <a:off x="0" y="826925"/>
            <a:ext cx="9154200" cy="9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" name="Google Shape;66;p10"/>
          <p:cNvSpPr/>
          <p:nvPr/>
        </p:nvSpPr>
        <p:spPr>
          <a:xfrm>
            <a:off x="436475" y="623967"/>
            <a:ext cx="405900" cy="405900"/>
          </a:xfrm>
          <a:prstGeom prst="ellipse">
            <a:avLst/>
          </a:prstGeom>
          <a:solidFill>
            <a:srgbClr val="7CBE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0"/>
          <p:cNvSpPr txBox="1"/>
          <p:nvPr>
            <p:ph type="title"/>
          </p:nvPr>
        </p:nvSpPr>
        <p:spPr>
          <a:xfrm>
            <a:off x="924050" y="286500"/>
            <a:ext cx="74667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latin typeface="Gothic A1 Medium"/>
                <a:ea typeface="Gothic A1 Medium"/>
                <a:cs typeface="Gothic A1 Medium"/>
                <a:sym typeface="Gothic A1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highlight>
                  <a:srgbClr val="FFFFFF"/>
                </a:highlight>
                <a:latin typeface="Gothic A1 Medium"/>
                <a:ea typeface="Gothic A1 Medium"/>
                <a:cs typeface="Gothic A1 Medium"/>
                <a:sym typeface="Gothic A1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highlight>
                  <a:srgbClr val="FFFFFF"/>
                </a:highlight>
                <a:latin typeface="Gothic A1 Medium"/>
                <a:ea typeface="Gothic A1 Medium"/>
                <a:cs typeface="Gothic A1 Medium"/>
                <a:sym typeface="Gothic A1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highlight>
                  <a:srgbClr val="FFFFFF"/>
                </a:highlight>
                <a:latin typeface="Gothic A1 Medium"/>
                <a:ea typeface="Gothic A1 Medium"/>
                <a:cs typeface="Gothic A1 Medium"/>
                <a:sym typeface="Gothic A1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highlight>
                  <a:srgbClr val="FFFFFF"/>
                </a:highlight>
                <a:latin typeface="Gothic A1 Medium"/>
                <a:ea typeface="Gothic A1 Medium"/>
                <a:cs typeface="Gothic A1 Medium"/>
                <a:sym typeface="Gothic A1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highlight>
                  <a:srgbClr val="FFFFFF"/>
                </a:highlight>
                <a:latin typeface="Gothic A1 Medium"/>
                <a:ea typeface="Gothic A1 Medium"/>
                <a:cs typeface="Gothic A1 Medium"/>
                <a:sym typeface="Gothic A1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highlight>
                  <a:srgbClr val="FFFFFF"/>
                </a:highlight>
                <a:latin typeface="Gothic A1 Medium"/>
                <a:ea typeface="Gothic A1 Medium"/>
                <a:cs typeface="Gothic A1 Medium"/>
                <a:sym typeface="Gothic A1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highlight>
                  <a:srgbClr val="FFFFFF"/>
                </a:highlight>
                <a:latin typeface="Gothic A1 Medium"/>
                <a:ea typeface="Gothic A1 Medium"/>
                <a:cs typeface="Gothic A1 Medium"/>
                <a:sym typeface="Gothic A1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highlight>
                  <a:srgbClr val="FFFFFF"/>
                </a:highlight>
                <a:latin typeface="Gothic A1 Medium"/>
                <a:ea typeface="Gothic A1 Medium"/>
                <a:cs typeface="Gothic A1 Medium"/>
                <a:sym typeface="Gothic A1 Medium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" type="subTitle"/>
          </p:nvPr>
        </p:nvSpPr>
        <p:spPr>
          <a:xfrm>
            <a:off x="512675" y="1196925"/>
            <a:ext cx="1596000" cy="35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600"/>
              </a:spcBef>
              <a:spcAft>
                <a:spcPts val="0"/>
              </a:spcAft>
              <a:buClr>
                <a:srgbClr val="19AA4A"/>
              </a:buClr>
              <a:buSzPts val="1400"/>
              <a:buFont typeface="Gothic A1 SemiBold"/>
              <a:buNone/>
              <a:defRPr sz="1400">
                <a:solidFill>
                  <a:srgbClr val="19AA4A"/>
                </a:solidFill>
                <a:latin typeface="Gothic A1 SemiBold"/>
                <a:ea typeface="Gothic A1 SemiBold"/>
                <a:cs typeface="Gothic A1 SemiBold"/>
                <a:sym typeface="Gothic A1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52A551"/>
              </a:buClr>
              <a:buSzPts val="1400"/>
              <a:buFont typeface="Gothic A1 SemiBold"/>
              <a:buNone/>
              <a:defRPr sz="1400">
                <a:solidFill>
                  <a:srgbClr val="52A551"/>
                </a:solidFill>
                <a:latin typeface="Gothic A1 SemiBold"/>
                <a:ea typeface="Gothic A1 SemiBold"/>
                <a:cs typeface="Gothic A1 SemiBold"/>
                <a:sym typeface="Gothic A1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52A551"/>
              </a:buClr>
              <a:buSzPts val="1400"/>
              <a:buFont typeface="Gothic A1 SemiBold"/>
              <a:buNone/>
              <a:defRPr sz="1400">
                <a:solidFill>
                  <a:srgbClr val="52A551"/>
                </a:solidFill>
                <a:latin typeface="Gothic A1 SemiBold"/>
                <a:ea typeface="Gothic A1 SemiBold"/>
                <a:cs typeface="Gothic A1 SemiBold"/>
                <a:sym typeface="Gothic A1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52A551"/>
              </a:buClr>
              <a:buSzPts val="1400"/>
              <a:buFont typeface="Gothic A1 SemiBold"/>
              <a:buNone/>
              <a:defRPr sz="1400">
                <a:solidFill>
                  <a:srgbClr val="52A551"/>
                </a:solidFill>
                <a:latin typeface="Gothic A1 SemiBold"/>
                <a:ea typeface="Gothic A1 SemiBold"/>
                <a:cs typeface="Gothic A1 SemiBold"/>
                <a:sym typeface="Gothic A1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52A551"/>
              </a:buClr>
              <a:buSzPts val="1400"/>
              <a:buFont typeface="Gothic A1 SemiBold"/>
              <a:buNone/>
              <a:defRPr sz="1400">
                <a:solidFill>
                  <a:srgbClr val="52A551"/>
                </a:solidFill>
                <a:latin typeface="Gothic A1 SemiBold"/>
                <a:ea typeface="Gothic A1 SemiBold"/>
                <a:cs typeface="Gothic A1 SemiBold"/>
                <a:sym typeface="Gothic A1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52A551"/>
              </a:buClr>
              <a:buSzPts val="1400"/>
              <a:buFont typeface="Gothic A1 SemiBold"/>
              <a:buNone/>
              <a:defRPr sz="1400">
                <a:solidFill>
                  <a:srgbClr val="52A551"/>
                </a:solidFill>
                <a:latin typeface="Gothic A1 SemiBold"/>
                <a:ea typeface="Gothic A1 SemiBold"/>
                <a:cs typeface="Gothic A1 SemiBold"/>
                <a:sym typeface="Gothic A1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52A551"/>
              </a:buClr>
              <a:buSzPts val="1400"/>
              <a:buFont typeface="Gothic A1 SemiBold"/>
              <a:buNone/>
              <a:defRPr sz="1400">
                <a:solidFill>
                  <a:srgbClr val="52A551"/>
                </a:solidFill>
                <a:latin typeface="Gothic A1 SemiBold"/>
                <a:ea typeface="Gothic A1 SemiBold"/>
                <a:cs typeface="Gothic A1 SemiBold"/>
                <a:sym typeface="Gothic A1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52A551"/>
              </a:buClr>
              <a:buSzPts val="1400"/>
              <a:buFont typeface="Gothic A1 SemiBold"/>
              <a:buNone/>
              <a:defRPr sz="1400">
                <a:solidFill>
                  <a:srgbClr val="52A551"/>
                </a:solidFill>
                <a:latin typeface="Gothic A1 SemiBold"/>
                <a:ea typeface="Gothic A1 SemiBold"/>
                <a:cs typeface="Gothic A1 SemiBold"/>
                <a:sym typeface="Gothic A1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52A551"/>
              </a:buClr>
              <a:buSzPts val="1400"/>
              <a:buFont typeface="Gothic A1 SemiBold"/>
              <a:buNone/>
              <a:defRPr sz="1400">
                <a:solidFill>
                  <a:srgbClr val="52A551"/>
                </a:solidFill>
                <a:latin typeface="Gothic A1 SemiBold"/>
                <a:ea typeface="Gothic A1 SemiBold"/>
                <a:cs typeface="Gothic A1 SemiBold"/>
                <a:sym typeface="Gothic A1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1440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본문(3칼럼)">
  <p:cSld name="TITLE_AND_TWO_COLUMNS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cxnSp>
        <p:nvCxnSpPr>
          <p:cNvPr id="71" name="Google Shape;71;p11"/>
          <p:cNvCxnSpPr/>
          <p:nvPr/>
        </p:nvCxnSpPr>
        <p:spPr>
          <a:xfrm>
            <a:off x="0" y="826925"/>
            <a:ext cx="9154200" cy="9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" name="Google Shape;72;p11"/>
          <p:cNvSpPr/>
          <p:nvPr/>
        </p:nvSpPr>
        <p:spPr>
          <a:xfrm>
            <a:off x="436475" y="623967"/>
            <a:ext cx="405900" cy="405900"/>
          </a:xfrm>
          <a:prstGeom prst="ellipse">
            <a:avLst/>
          </a:prstGeom>
          <a:solidFill>
            <a:srgbClr val="7CBE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1"/>
          <p:cNvSpPr txBox="1"/>
          <p:nvPr>
            <p:ph type="title"/>
          </p:nvPr>
        </p:nvSpPr>
        <p:spPr>
          <a:xfrm>
            <a:off x="924050" y="286500"/>
            <a:ext cx="74667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latin typeface="Gothic A1 Medium"/>
                <a:ea typeface="Gothic A1 Medium"/>
                <a:cs typeface="Gothic A1 Medium"/>
                <a:sym typeface="Gothic A1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highlight>
                  <a:srgbClr val="FFFFFF"/>
                </a:highlight>
                <a:latin typeface="Gothic A1 Medium"/>
                <a:ea typeface="Gothic A1 Medium"/>
                <a:cs typeface="Gothic A1 Medium"/>
                <a:sym typeface="Gothic A1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highlight>
                  <a:srgbClr val="FFFFFF"/>
                </a:highlight>
                <a:latin typeface="Gothic A1 Medium"/>
                <a:ea typeface="Gothic A1 Medium"/>
                <a:cs typeface="Gothic A1 Medium"/>
                <a:sym typeface="Gothic A1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highlight>
                  <a:srgbClr val="FFFFFF"/>
                </a:highlight>
                <a:latin typeface="Gothic A1 Medium"/>
                <a:ea typeface="Gothic A1 Medium"/>
                <a:cs typeface="Gothic A1 Medium"/>
                <a:sym typeface="Gothic A1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highlight>
                  <a:srgbClr val="FFFFFF"/>
                </a:highlight>
                <a:latin typeface="Gothic A1 Medium"/>
                <a:ea typeface="Gothic A1 Medium"/>
                <a:cs typeface="Gothic A1 Medium"/>
                <a:sym typeface="Gothic A1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highlight>
                  <a:srgbClr val="FFFFFF"/>
                </a:highlight>
                <a:latin typeface="Gothic A1 Medium"/>
                <a:ea typeface="Gothic A1 Medium"/>
                <a:cs typeface="Gothic A1 Medium"/>
                <a:sym typeface="Gothic A1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highlight>
                  <a:srgbClr val="FFFFFF"/>
                </a:highlight>
                <a:latin typeface="Gothic A1 Medium"/>
                <a:ea typeface="Gothic A1 Medium"/>
                <a:cs typeface="Gothic A1 Medium"/>
                <a:sym typeface="Gothic A1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highlight>
                  <a:srgbClr val="FFFFFF"/>
                </a:highlight>
                <a:latin typeface="Gothic A1 Medium"/>
                <a:ea typeface="Gothic A1 Medium"/>
                <a:cs typeface="Gothic A1 Medium"/>
                <a:sym typeface="Gothic A1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highlight>
                  <a:srgbClr val="FFFFFF"/>
                </a:highlight>
                <a:latin typeface="Gothic A1 Medium"/>
                <a:ea typeface="Gothic A1 Medium"/>
                <a:cs typeface="Gothic A1 Medium"/>
                <a:sym typeface="Gothic A1 Medium"/>
              </a:defRPr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>
            <a:off x="512675" y="1193875"/>
            <a:ext cx="2550300" cy="35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◉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75" name="Google Shape;75;p11"/>
          <p:cNvSpPr txBox="1"/>
          <p:nvPr>
            <p:ph idx="2" type="body"/>
          </p:nvPr>
        </p:nvSpPr>
        <p:spPr>
          <a:xfrm>
            <a:off x="3296850" y="1193875"/>
            <a:ext cx="2550300" cy="35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◉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76" name="Google Shape;76;p11"/>
          <p:cNvSpPr txBox="1"/>
          <p:nvPr>
            <p:ph idx="3" type="body"/>
          </p:nvPr>
        </p:nvSpPr>
        <p:spPr>
          <a:xfrm>
            <a:off x="6081025" y="1193875"/>
            <a:ext cx="2550300" cy="35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◉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752">
          <p15:clr>
            <a:srgbClr val="FA7B17"/>
          </p15:clr>
        </p15:guide>
        <p15:guide id="2" pos="2880">
          <p15:clr>
            <a:srgbClr val="FA7B17"/>
          </p15:clr>
        </p15:guide>
        <p15:guide id="3" pos="499">
          <p15:clr>
            <a:srgbClr val="FA7B17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본문(자유)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cxnSp>
        <p:nvCxnSpPr>
          <p:cNvPr id="79" name="Google Shape;79;p12"/>
          <p:cNvCxnSpPr/>
          <p:nvPr/>
        </p:nvCxnSpPr>
        <p:spPr>
          <a:xfrm>
            <a:off x="0" y="826925"/>
            <a:ext cx="9154200" cy="9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12"/>
          <p:cNvSpPr/>
          <p:nvPr/>
        </p:nvSpPr>
        <p:spPr>
          <a:xfrm>
            <a:off x="436475" y="623967"/>
            <a:ext cx="405900" cy="405900"/>
          </a:xfrm>
          <a:prstGeom prst="ellipse">
            <a:avLst/>
          </a:prstGeom>
          <a:solidFill>
            <a:srgbClr val="7CBE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2"/>
          <p:cNvSpPr txBox="1"/>
          <p:nvPr>
            <p:ph type="title"/>
          </p:nvPr>
        </p:nvSpPr>
        <p:spPr>
          <a:xfrm>
            <a:off x="924050" y="286500"/>
            <a:ext cx="74667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latin typeface="Gothic A1 Medium"/>
                <a:ea typeface="Gothic A1 Medium"/>
                <a:cs typeface="Gothic A1 Medium"/>
                <a:sym typeface="Gothic A1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highlight>
                  <a:srgbClr val="FFFFFF"/>
                </a:highlight>
                <a:latin typeface="Gothic A1 Medium"/>
                <a:ea typeface="Gothic A1 Medium"/>
                <a:cs typeface="Gothic A1 Medium"/>
                <a:sym typeface="Gothic A1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highlight>
                  <a:srgbClr val="FFFFFF"/>
                </a:highlight>
                <a:latin typeface="Gothic A1 Medium"/>
                <a:ea typeface="Gothic A1 Medium"/>
                <a:cs typeface="Gothic A1 Medium"/>
                <a:sym typeface="Gothic A1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highlight>
                  <a:srgbClr val="FFFFFF"/>
                </a:highlight>
                <a:latin typeface="Gothic A1 Medium"/>
                <a:ea typeface="Gothic A1 Medium"/>
                <a:cs typeface="Gothic A1 Medium"/>
                <a:sym typeface="Gothic A1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highlight>
                  <a:srgbClr val="FFFFFF"/>
                </a:highlight>
                <a:latin typeface="Gothic A1 Medium"/>
                <a:ea typeface="Gothic A1 Medium"/>
                <a:cs typeface="Gothic A1 Medium"/>
                <a:sym typeface="Gothic A1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highlight>
                  <a:srgbClr val="FFFFFF"/>
                </a:highlight>
                <a:latin typeface="Gothic A1 Medium"/>
                <a:ea typeface="Gothic A1 Medium"/>
                <a:cs typeface="Gothic A1 Medium"/>
                <a:sym typeface="Gothic A1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highlight>
                  <a:srgbClr val="FFFFFF"/>
                </a:highlight>
                <a:latin typeface="Gothic A1 Medium"/>
                <a:ea typeface="Gothic A1 Medium"/>
                <a:cs typeface="Gothic A1 Medium"/>
                <a:sym typeface="Gothic A1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highlight>
                  <a:srgbClr val="FFFFFF"/>
                </a:highlight>
                <a:latin typeface="Gothic A1 Medium"/>
                <a:ea typeface="Gothic A1 Medium"/>
                <a:cs typeface="Gothic A1 Medium"/>
                <a:sym typeface="Gothic A1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Gothic A1 Medium"/>
              <a:buNone/>
              <a:defRPr b="0" sz="2000">
                <a:highlight>
                  <a:srgbClr val="FFFFFF"/>
                </a:highlight>
                <a:latin typeface="Gothic A1 Medium"/>
                <a:ea typeface="Gothic A1 Medium"/>
                <a:cs typeface="Gothic A1 Medium"/>
                <a:sym typeface="Gothic A1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idx="1" type="body"/>
          </p:nvPr>
        </p:nvSpPr>
        <p:spPr>
          <a:xfrm>
            <a:off x="1990450" y="4037375"/>
            <a:ext cx="5163000" cy="51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 algn="ctr">
              <a:spcBef>
                <a:spcPts val="360"/>
              </a:spcBef>
              <a:spcAft>
                <a:spcPts val="0"/>
              </a:spcAft>
              <a:buSzPts val="1400"/>
              <a:buNone/>
              <a:defRPr i="1" sz="1400"/>
            </a:lvl1pPr>
          </a:lstStyle>
          <a:p/>
        </p:txBody>
      </p:sp>
      <p:cxnSp>
        <p:nvCxnSpPr>
          <p:cNvPr id="84" name="Google Shape;84;p13"/>
          <p:cNvCxnSpPr/>
          <p:nvPr/>
        </p:nvCxnSpPr>
        <p:spPr>
          <a:xfrm>
            <a:off x="-6025" y="4666129"/>
            <a:ext cx="91620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" name="Google Shape;85;p13"/>
          <p:cNvSpPr/>
          <p:nvPr/>
        </p:nvSpPr>
        <p:spPr>
          <a:xfrm>
            <a:off x="4457400" y="4551496"/>
            <a:ext cx="229200" cy="229200"/>
          </a:xfrm>
          <a:prstGeom prst="ellipse">
            <a:avLst/>
          </a:prstGeom>
          <a:solidFill>
            <a:srgbClr val="7CBE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4297650" y="4780700"/>
            <a:ext cx="548700" cy="36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latin typeface="Lora"/>
                <a:ea typeface="Lora"/>
                <a:cs typeface="Lora"/>
                <a:sym typeface="Lora"/>
              </a:defRPr>
            </a:lvl1pPr>
            <a:lvl2pPr lvl="1" rtl="0" algn="ctr">
              <a:buNone/>
              <a:defRPr>
                <a:latin typeface="Lora"/>
                <a:ea typeface="Lora"/>
                <a:cs typeface="Lora"/>
                <a:sym typeface="Lora"/>
              </a:defRPr>
            </a:lvl2pPr>
            <a:lvl3pPr lvl="2" rtl="0" algn="ctr">
              <a:buNone/>
              <a:defRPr>
                <a:latin typeface="Lora"/>
                <a:ea typeface="Lora"/>
                <a:cs typeface="Lora"/>
                <a:sym typeface="Lora"/>
              </a:defRPr>
            </a:lvl3pPr>
            <a:lvl4pPr lvl="3" rtl="0" algn="ctr">
              <a:buNone/>
              <a:defRPr>
                <a:latin typeface="Lora"/>
                <a:ea typeface="Lora"/>
                <a:cs typeface="Lora"/>
                <a:sym typeface="Lora"/>
              </a:defRPr>
            </a:lvl4pPr>
            <a:lvl5pPr lvl="4" rtl="0" algn="ctr">
              <a:buNone/>
              <a:defRPr>
                <a:latin typeface="Lora"/>
                <a:ea typeface="Lora"/>
                <a:cs typeface="Lora"/>
                <a:sym typeface="Lora"/>
              </a:defRPr>
            </a:lvl5pPr>
            <a:lvl6pPr lvl="5" rtl="0" algn="ctr">
              <a:buNone/>
              <a:defRPr>
                <a:latin typeface="Lora"/>
                <a:ea typeface="Lora"/>
                <a:cs typeface="Lora"/>
                <a:sym typeface="Lora"/>
              </a:defRPr>
            </a:lvl6pPr>
            <a:lvl7pPr lvl="6" rtl="0" algn="ctr">
              <a:buNone/>
              <a:defRPr>
                <a:latin typeface="Lora"/>
                <a:ea typeface="Lora"/>
                <a:cs typeface="Lora"/>
                <a:sym typeface="Lora"/>
              </a:defRPr>
            </a:lvl7pPr>
            <a:lvl8pPr lvl="7" rtl="0" algn="ctr">
              <a:buNone/>
              <a:defRPr>
                <a:latin typeface="Lora"/>
                <a:ea typeface="Lora"/>
                <a:cs typeface="Lora"/>
                <a:sym typeface="Lora"/>
              </a:defRPr>
            </a:lvl8pPr>
            <a:lvl9pPr lvl="8" rtl="0" algn="ctr">
              <a:buNone/>
              <a:defRPr>
                <a:latin typeface="Lora"/>
                <a:ea typeface="Lora"/>
                <a:cs typeface="Lora"/>
                <a:sym typeface="Lor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" name="Google Shape;88;p14"/>
          <p:cNvCxnSpPr/>
          <p:nvPr/>
        </p:nvCxnSpPr>
        <p:spPr>
          <a:xfrm>
            <a:off x="-6025" y="4513729"/>
            <a:ext cx="91620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" name="Google Shape;89;p14"/>
          <p:cNvSpPr/>
          <p:nvPr/>
        </p:nvSpPr>
        <p:spPr>
          <a:xfrm>
            <a:off x="4293700" y="4235405"/>
            <a:ext cx="556500" cy="556500"/>
          </a:xfrm>
          <a:prstGeom prst="ellipse">
            <a:avLst/>
          </a:prstGeom>
          <a:solidFill>
            <a:srgbClr val="7CBE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4"/>
          <p:cNvSpPr txBox="1"/>
          <p:nvPr>
            <p:ph idx="12" type="sldNum"/>
          </p:nvPr>
        </p:nvSpPr>
        <p:spPr>
          <a:xfrm>
            <a:off x="4297650" y="4791900"/>
            <a:ext cx="548700" cy="35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latin typeface="Lora"/>
                <a:ea typeface="Lora"/>
                <a:cs typeface="Lora"/>
                <a:sym typeface="Lora"/>
              </a:defRPr>
            </a:lvl1pPr>
            <a:lvl2pPr lvl="1" rtl="0" algn="ctr">
              <a:buNone/>
              <a:defRPr>
                <a:latin typeface="Lora"/>
                <a:ea typeface="Lora"/>
                <a:cs typeface="Lora"/>
                <a:sym typeface="Lora"/>
              </a:defRPr>
            </a:lvl2pPr>
            <a:lvl3pPr lvl="2" rtl="0" algn="ctr">
              <a:buNone/>
              <a:defRPr>
                <a:latin typeface="Lora"/>
                <a:ea typeface="Lora"/>
                <a:cs typeface="Lora"/>
                <a:sym typeface="Lora"/>
              </a:defRPr>
            </a:lvl3pPr>
            <a:lvl4pPr lvl="3" rtl="0" algn="ctr">
              <a:buNone/>
              <a:defRPr>
                <a:latin typeface="Lora"/>
                <a:ea typeface="Lora"/>
                <a:cs typeface="Lora"/>
                <a:sym typeface="Lora"/>
              </a:defRPr>
            </a:lvl4pPr>
            <a:lvl5pPr lvl="4" rtl="0" algn="ctr">
              <a:buNone/>
              <a:defRPr>
                <a:latin typeface="Lora"/>
                <a:ea typeface="Lora"/>
                <a:cs typeface="Lora"/>
                <a:sym typeface="Lora"/>
              </a:defRPr>
            </a:lvl5pPr>
            <a:lvl6pPr lvl="5" rtl="0" algn="ctr">
              <a:buNone/>
              <a:defRPr>
                <a:latin typeface="Lora"/>
                <a:ea typeface="Lora"/>
                <a:cs typeface="Lora"/>
                <a:sym typeface="Lora"/>
              </a:defRPr>
            </a:lvl6pPr>
            <a:lvl7pPr lvl="6" rtl="0" algn="ctr">
              <a:buNone/>
              <a:defRPr>
                <a:latin typeface="Lora"/>
                <a:ea typeface="Lora"/>
                <a:cs typeface="Lora"/>
                <a:sym typeface="Lora"/>
              </a:defRPr>
            </a:lvl7pPr>
            <a:lvl8pPr lvl="7" rtl="0" algn="ctr">
              <a:buNone/>
              <a:defRPr>
                <a:latin typeface="Lora"/>
                <a:ea typeface="Lora"/>
                <a:cs typeface="Lora"/>
                <a:sym typeface="Lora"/>
              </a:defRPr>
            </a:lvl8pPr>
            <a:lvl9pPr lvl="8" rtl="0" algn="ctr">
              <a:buNone/>
              <a:defRPr>
                <a:latin typeface="Lora"/>
                <a:ea typeface="Lora"/>
                <a:cs typeface="Lora"/>
                <a:sym typeface="Lor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tire Blank">
  <p:cSld name="BLANK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2">
  <p:cSld name="TITLE_2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5" name="Google Shape;95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6" name="Google Shape;9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본문">
  <p:cSld name="TITLE_ONLY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49637" y="168310"/>
            <a:ext cx="1080000" cy="30658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>
            <p:ph type="title"/>
          </p:nvPr>
        </p:nvSpPr>
        <p:spPr>
          <a:xfrm>
            <a:off x="298200" y="754950"/>
            <a:ext cx="8547600" cy="4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Gothic A1 SemiBold"/>
              <a:buNone/>
              <a:defRPr sz="2000">
                <a:latin typeface="Gothic A1 SemiBold"/>
                <a:ea typeface="Gothic A1 SemiBold"/>
                <a:cs typeface="Gothic A1 SemiBold"/>
                <a:sym typeface="Gothic A1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Gothic A1 SemiBold"/>
              <a:buNone/>
              <a:defRPr sz="2000">
                <a:latin typeface="Gothic A1 SemiBold"/>
                <a:ea typeface="Gothic A1 SemiBold"/>
                <a:cs typeface="Gothic A1 SemiBold"/>
                <a:sym typeface="Gothic A1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Gothic A1 SemiBold"/>
              <a:buNone/>
              <a:defRPr sz="2000">
                <a:latin typeface="Gothic A1 SemiBold"/>
                <a:ea typeface="Gothic A1 SemiBold"/>
                <a:cs typeface="Gothic A1 SemiBold"/>
                <a:sym typeface="Gothic A1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Gothic A1 SemiBold"/>
              <a:buNone/>
              <a:defRPr sz="2000">
                <a:latin typeface="Gothic A1 SemiBold"/>
                <a:ea typeface="Gothic A1 SemiBold"/>
                <a:cs typeface="Gothic A1 SemiBold"/>
                <a:sym typeface="Gothic A1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Gothic A1 SemiBold"/>
              <a:buNone/>
              <a:defRPr sz="2000">
                <a:latin typeface="Gothic A1 SemiBold"/>
                <a:ea typeface="Gothic A1 SemiBold"/>
                <a:cs typeface="Gothic A1 SemiBold"/>
                <a:sym typeface="Gothic A1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Gothic A1 SemiBold"/>
              <a:buNone/>
              <a:defRPr sz="2000">
                <a:latin typeface="Gothic A1 SemiBold"/>
                <a:ea typeface="Gothic A1 SemiBold"/>
                <a:cs typeface="Gothic A1 SemiBold"/>
                <a:sym typeface="Gothic A1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Gothic A1 SemiBold"/>
              <a:buNone/>
              <a:defRPr sz="2000">
                <a:latin typeface="Gothic A1 SemiBold"/>
                <a:ea typeface="Gothic A1 SemiBold"/>
                <a:cs typeface="Gothic A1 SemiBold"/>
                <a:sym typeface="Gothic A1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Gothic A1 SemiBold"/>
              <a:buNone/>
              <a:defRPr sz="2000">
                <a:latin typeface="Gothic A1 SemiBold"/>
                <a:ea typeface="Gothic A1 SemiBold"/>
                <a:cs typeface="Gothic A1 SemiBold"/>
                <a:sym typeface="Gothic A1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Gothic A1 SemiBold"/>
              <a:buNone/>
              <a:defRPr sz="2000">
                <a:latin typeface="Gothic A1 SemiBold"/>
                <a:ea typeface="Gothic A1 SemiBold"/>
                <a:cs typeface="Gothic A1 SemiBold"/>
                <a:sym typeface="Gothic A1 SemiBold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2" type="title"/>
          </p:nvPr>
        </p:nvSpPr>
        <p:spPr>
          <a:xfrm>
            <a:off x="152400" y="76200"/>
            <a:ext cx="7286700" cy="4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thic A1 SemiBold"/>
              <a:buNone/>
              <a:defRPr sz="1400">
                <a:solidFill>
                  <a:schemeClr val="dk2"/>
                </a:solidFill>
                <a:latin typeface="Gothic A1 SemiBold"/>
                <a:ea typeface="Gothic A1 SemiBold"/>
                <a:cs typeface="Gothic A1 SemiBold"/>
                <a:sym typeface="Gothic A1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thic A1 SemiBold"/>
              <a:buNone/>
              <a:defRPr sz="1400">
                <a:solidFill>
                  <a:schemeClr val="dk2"/>
                </a:solidFill>
                <a:latin typeface="Gothic A1 SemiBold"/>
                <a:ea typeface="Gothic A1 SemiBold"/>
                <a:cs typeface="Gothic A1 SemiBold"/>
                <a:sym typeface="Gothic A1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thic A1 SemiBold"/>
              <a:buNone/>
              <a:defRPr sz="1400">
                <a:solidFill>
                  <a:schemeClr val="dk2"/>
                </a:solidFill>
                <a:latin typeface="Gothic A1 SemiBold"/>
                <a:ea typeface="Gothic A1 SemiBold"/>
                <a:cs typeface="Gothic A1 SemiBold"/>
                <a:sym typeface="Gothic A1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thic A1 SemiBold"/>
              <a:buNone/>
              <a:defRPr sz="1400">
                <a:solidFill>
                  <a:schemeClr val="dk2"/>
                </a:solidFill>
                <a:latin typeface="Gothic A1 SemiBold"/>
                <a:ea typeface="Gothic A1 SemiBold"/>
                <a:cs typeface="Gothic A1 SemiBold"/>
                <a:sym typeface="Gothic A1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thic A1 SemiBold"/>
              <a:buNone/>
              <a:defRPr sz="1400">
                <a:solidFill>
                  <a:schemeClr val="dk2"/>
                </a:solidFill>
                <a:latin typeface="Gothic A1 SemiBold"/>
                <a:ea typeface="Gothic A1 SemiBold"/>
                <a:cs typeface="Gothic A1 SemiBold"/>
                <a:sym typeface="Gothic A1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thic A1 SemiBold"/>
              <a:buNone/>
              <a:defRPr sz="1400">
                <a:solidFill>
                  <a:schemeClr val="dk2"/>
                </a:solidFill>
                <a:latin typeface="Gothic A1 SemiBold"/>
                <a:ea typeface="Gothic A1 SemiBold"/>
                <a:cs typeface="Gothic A1 SemiBold"/>
                <a:sym typeface="Gothic A1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thic A1 SemiBold"/>
              <a:buNone/>
              <a:defRPr sz="1400">
                <a:solidFill>
                  <a:schemeClr val="dk2"/>
                </a:solidFill>
                <a:latin typeface="Gothic A1 SemiBold"/>
                <a:ea typeface="Gothic A1 SemiBold"/>
                <a:cs typeface="Gothic A1 SemiBold"/>
                <a:sym typeface="Gothic A1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thic A1 SemiBold"/>
              <a:buNone/>
              <a:defRPr sz="1400">
                <a:solidFill>
                  <a:schemeClr val="dk2"/>
                </a:solidFill>
                <a:latin typeface="Gothic A1 SemiBold"/>
                <a:ea typeface="Gothic A1 SemiBold"/>
                <a:cs typeface="Gothic A1 SemiBold"/>
                <a:sym typeface="Gothic A1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thic A1 SemiBold"/>
              <a:buNone/>
              <a:defRPr sz="1400">
                <a:solidFill>
                  <a:schemeClr val="dk2"/>
                </a:solidFill>
                <a:latin typeface="Gothic A1 SemiBold"/>
                <a:ea typeface="Gothic A1 SemiBold"/>
                <a:cs typeface="Gothic A1 SemiBold"/>
                <a:sym typeface="Gothic A1 SemiBold"/>
              </a:defRPr>
            </a:lvl9pPr>
          </a:lstStyle>
          <a:p/>
        </p:txBody>
      </p:sp>
      <p:sp>
        <p:nvSpPr>
          <p:cNvPr id="101" name="Google Shape;10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latin typeface="Lora"/>
                <a:ea typeface="Lora"/>
                <a:cs typeface="Lora"/>
                <a:sym typeface="Lora"/>
              </a:defRPr>
            </a:lvl1pPr>
            <a:lvl2pPr lvl="1" rtl="0" algn="r">
              <a:buNone/>
              <a:defRPr sz="1000">
                <a:latin typeface="Lora"/>
                <a:ea typeface="Lora"/>
                <a:cs typeface="Lora"/>
                <a:sym typeface="Lora"/>
              </a:defRPr>
            </a:lvl2pPr>
            <a:lvl3pPr lvl="2" rtl="0" algn="r">
              <a:buNone/>
              <a:defRPr sz="1000">
                <a:latin typeface="Lora"/>
                <a:ea typeface="Lora"/>
                <a:cs typeface="Lora"/>
                <a:sym typeface="Lora"/>
              </a:defRPr>
            </a:lvl3pPr>
            <a:lvl4pPr lvl="3" rtl="0" algn="r">
              <a:buNone/>
              <a:defRPr sz="1000">
                <a:latin typeface="Lora"/>
                <a:ea typeface="Lora"/>
                <a:cs typeface="Lora"/>
                <a:sym typeface="Lora"/>
              </a:defRPr>
            </a:lvl4pPr>
            <a:lvl5pPr lvl="4" rtl="0" algn="r">
              <a:buNone/>
              <a:defRPr sz="1000">
                <a:latin typeface="Lora"/>
                <a:ea typeface="Lora"/>
                <a:cs typeface="Lora"/>
                <a:sym typeface="Lora"/>
              </a:defRPr>
            </a:lvl5pPr>
            <a:lvl6pPr lvl="5" rtl="0" algn="r">
              <a:buNone/>
              <a:defRPr sz="1000">
                <a:latin typeface="Lora"/>
                <a:ea typeface="Lora"/>
                <a:cs typeface="Lora"/>
                <a:sym typeface="Lora"/>
              </a:defRPr>
            </a:lvl6pPr>
            <a:lvl7pPr lvl="6" rtl="0" algn="r">
              <a:buNone/>
              <a:defRPr sz="1000">
                <a:latin typeface="Lora"/>
                <a:ea typeface="Lora"/>
                <a:cs typeface="Lora"/>
                <a:sym typeface="Lora"/>
              </a:defRPr>
            </a:lvl7pPr>
            <a:lvl8pPr lvl="7" rtl="0" algn="r">
              <a:buNone/>
              <a:defRPr sz="1000">
                <a:latin typeface="Lora"/>
                <a:ea typeface="Lora"/>
                <a:cs typeface="Lora"/>
                <a:sym typeface="Lora"/>
              </a:defRPr>
            </a:lvl8pPr>
            <a:lvl9pPr lvl="8" rtl="0" algn="r">
              <a:buNone/>
              <a:defRPr sz="1000">
                <a:latin typeface="Lora"/>
                <a:ea typeface="Lora"/>
                <a:cs typeface="Lora"/>
                <a:sym typeface="Lor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3">
  <p:cSld name="TITLE_2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8"/>
          <p:cNvSpPr txBox="1"/>
          <p:nvPr>
            <p:ph type="ctrTitle"/>
          </p:nvPr>
        </p:nvSpPr>
        <p:spPr>
          <a:xfrm>
            <a:off x="669600" y="592175"/>
            <a:ext cx="7804800" cy="132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" name="Google Shape;105;p18"/>
          <p:cNvSpPr txBox="1"/>
          <p:nvPr>
            <p:ph idx="1" type="subTitle"/>
          </p:nvPr>
        </p:nvSpPr>
        <p:spPr>
          <a:xfrm>
            <a:off x="669600" y="1843525"/>
            <a:ext cx="78048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6" name="Google Shape;106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noFill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1381250" y="1616470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7CBE5F"/>
              </a:buClr>
              <a:buSzPts val="2400"/>
              <a:buFont typeface="Gothic A1"/>
              <a:buChar char="◉"/>
              <a:defRPr sz="24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1pPr>
            <a:lvl2pPr indent="-3556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CBE5F"/>
              </a:buClr>
              <a:buSzPts val="2000"/>
              <a:buFont typeface="Gothic A1"/>
              <a:buChar char="○"/>
              <a:defRPr sz="20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2pPr>
            <a:lvl3pPr indent="-3556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CBE5F"/>
              </a:buClr>
              <a:buSzPts val="2000"/>
              <a:buFont typeface="Gothic A1"/>
              <a:buChar char="■"/>
              <a:defRPr sz="20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3pPr>
            <a:lvl4pPr indent="-3429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CBE5F"/>
              </a:buClr>
              <a:buSzPts val="1800"/>
              <a:buFont typeface="Gothic A1"/>
              <a:buChar char="●"/>
              <a:defRPr sz="18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4pPr>
            <a:lvl5pPr indent="-3429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thic A1"/>
              <a:buChar char="○"/>
              <a:defRPr sz="18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5pPr>
            <a:lvl6pPr indent="-3429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thic A1"/>
              <a:buChar char="■"/>
              <a:defRPr sz="18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6pPr>
            <a:lvl7pPr indent="-3429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thic A1"/>
              <a:buChar char="●"/>
              <a:defRPr sz="18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7pPr>
            <a:lvl8pPr indent="-3429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thic A1"/>
              <a:buChar char="○"/>
              <a:defRPr sz="18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8pPr>
            <a:lvl9pPr indent="-3429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thic A1"/>
              <a:buChar char="■"/>
              <a:defRPr sz="18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1381250" y="896549"/>
            <a:ext cx="68097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thic A1 Medium"/>
              <a:buNone/>
              <a:defRPr sz="2000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thic A1 Medium"/>
              <a:buNone/>
              <a:defRPr sz="2000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thic A1 Medium"/>
              <a:buNone/>
              <a:defRPr sz="2000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thic A1 Medium"/>
              <a:buNone/>
              <a:defRPr sz="2000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thic A1 Medium"/>
              <a:buNone/>
              <a:defRPr sz="2000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thic A1 Medium"/>
              <a:buNone/>
              <a:defRPr sz="2000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thic A1 Medium"/>
              <a:buNone/>
              <a:defRPr sz="2000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thic A1 Medium"/>
              <a:buNone/>
              <a:defRPr sz="2000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thic A1 Medium"/>
              <a:buNone/>
              <a:defRPr sz="2000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rtl="0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lvl="2" rtl="0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lvl="3" rtl="0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lvl="4" rtl="0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lvl="5" rtl="0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lvl="6" rtl="0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lvl="7" rtl="0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lvl="8" rtl="0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hyperlink" Target="https://opendict.korean.go.kr/dictionary/view?sense_no=448436&amp;viewType=confirm" TargetMode="External"/><Relationship Id="rId10" Type="http://schemas.openxmlformats.org/officeDocument/2006/relationships/hyperlink" Target="https://opendict.korean.go.kr/dictionary/view?sense_no=448436&amp;viewType=confirm" TargetMode="External"/><Relationship Id="rId13" Type="http://schemas.openxmlformats.org/officeDocument/2006/relationships/hyperlink" Target="https://opendict.korean.go.kr/dictionary/view?sense_no=448436&amp;viewType=confirm" TargetMode="External"/><Relationship Id="rId12" Type="http://schemas.openxmlformats.org/officeDocument/2006/relationships/hyperlink" Target="https://opendict.korean.go.kr/dictionary/view?sense_no=448436&amp;viewType=confirm" TargetMode="External"/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opendict.korean.go.kr/dictionary/view?sense_no=69523&amp;viewType=confirm" TargetMode="External"/><Relationship Id="rId4" Type="http://schemas.openxmlformats.org/officeDocument/2006/relationships/hyperlink" Target="https://opendict.korean.go.kr/dictionary/view?sense_no=69523&amp;viewType=confirm" TargetMode="External"/><Relationship Id="rId9" Type="http://schemas.openxmlformats.org/officeDocument/2006/relationships/hyperlink" Target="https://opendict.korean.go.kr/dictionary/view?sense_no=448436&amp;viewType=confirm" TargetMode="External"/><Relationship Id="rId14" Type="http://schemas.openxmlformats.org/officeDocument/2006/relationships/hyperlink" Target="https://opendict.korean.go.kr/dictionary/view?sense_no=448436&amp;viewType=confirm" TargetMode="External"/><Relationship Id="rId5" Type="http://schemas.openxmlformats.org/officeDocument/2006/relationships/hyperlink" Target="https://opendict.korean.go.kr/dictionary/view?sense_no=69523&amp;viewType=confirm" TargetMode="External"/><Relationship Id="rId6" Type="http://schemas.openxmlformats.org/officeDocument/2006/relationships/hyperlink" Target="https://opendict.korean.go.kr/dictionary/view?sense_no=69523&amp;viewType=confirm" TargetMode="External"/><Relationship Id="rId7" Type="http://schemas.openxmlformats.org/officeDocument/2006/relationships/hyperlink" Target="https://opendict.korean.go.kr/dictionary/view?sense_no=69523&amp;viewType=confirm" TargetMode="External"/><Relationship Id="rId8" Type="http://schemas.openxmlformats.org/officeDocument/2006/relationships/hyperlink" Target="https://opendict.korean.go.kr/dictionary/view?sense_no=69523&amp;viewType=confirm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5" Type="http://schemas.openxmlformats.org/officeDocument/2006/relationships/image" Target="../media/image18.png"/><Relationship Id="rId6" Type="http://schemas.openxmlformats.org/officeDocument/2006/relationships/image" Target="../media/image24.png"/><Relationship Id="rId7" Type="http://schemas.openxmlformats.org/officeDocument/2006/relationships/image" Target="../media/image11.png"/><Relationship Id="rId8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Relationship Id="rId4" Type="http://schemas.openxmlformats.org/officeDocument/2006/relationships/hyperlink" Target="https://docs.bareun.ai/install/overview/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1.png"/><Relationship Id="rId4" Type="http://schemas.openxmlformats.org/officeDocument/2006/relationships/image" Target="../media/image38.png"/><Relationship Id="rId5" Type="http://schemas.openxmlformats.org/officeDocument/2006/relationships/image" Target="../media/image3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0.png"/><Relationship Id="rId4" Type="http://schemas.openxmlformats.org/officeDocument/2006/relationships/image" Target="../media/image29.png"/><Relationship Id="rId5" Type="http://schemas.openxmlformats.org/officeDocument/2006/relationships/image" Target="../media/image3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1" Type="http://schemas.openxmlformats.org/officeDocument/2006/relationships/image" Target="../media/image28.jpg"/><Relationship Id="rId10" Type="http://schemas.openxmlformats.org/officeDocument/2006/relationships/image" Target="../media/image25.jp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groups.google.com/a/bareun.ai/g/bareun.license" TargetMode="External"/><Relationship Id="rId4" Type="http://schemas.openxmlformats.org/officeDocument/2006/relationships/hyperlink" Target="mailto:support@bareun.ai" TargetMode="External"/><Relationship Id="rId9" Type="http://schemas.openxmlformats.org/officeDocument/2006/relationships/image" Target="../media/image26.png"/><Relationship Id="rId5" Type="http://schemas.openxmlformats.org/officeDocument/2006/relationships/hyperlink" Target="https://docs.bareun.ai/intro/" TargetMode="External"/><Relationship Id="rId6" Type="http://schemas.openxmlformats.org/officeDocument/2006/relationships/hyperlink" Target="https://join.slack.com/t/bareun-ai/shared_invite/zt-1r3npjwmv-f0i51Q_e4y4RlwSHPAlapg" TargetMode="External"/><Relationship Id="rId7" Type="http://schemas.openxmlformats.org/officeDocument/2006/relationships/hyperlink" Target="https://open.kakao.com/o/g1T4XVxf" TargetMode="External"/><Relationship Id="rId8" Type="http://schemas.openxmlformats.org/officeDocument/2006/relationships/hyperlink" Target="https://github.com/bareun-nlp/bareun-support/issu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/>
          <p:nvPr/>
        </p:nvSpPr>
        <p:spPr>
          <a:xfrm>
            <a:off x="421350" y="1132250"/>
            <a:ext cx="8301300" cy="3679500"/>
          </a:xfrm>
          <a:prstGeom prst="roundRect">
            <a:avLst>
              <a:gd fmla="val 2589" name="adj"/>
            </a:avLst>
          </a:prstGeom>
          <a:noFill/>
          <a:ln cap="flat" cmpd="sng" w="76200">
            <a:solidFill>
              <a:srgbClr val="CFE2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9"/>
          <p:cNvSpPr/>
          <p:nvPr/>
        </p:nvSpPr>
        <p:spPr>
          <a:xfrm>
            <a:off x="650025" y="4462250"/>
            <a:ext cx="4680000" cy="66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2814" y="1639461"/>
            <a:ext cx="2902309" cy="2592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4" name="Google Shape;114;p19"/>
          <p:cNvCxnSpPr/>
          <p:nvPr/>
        </p:nvCxnSpPr>
        <p:spPr>
          <a:xfrm flipH="1">
            <a:off x="3103383" y="1519675"/>
            <a:ext cx="687000" cy="661500"/>
          </a:xfrm>
          <a:prstGeom prst="straightConnector1">
            <a:avLst/>
          </a:prstGeom>
          <a:noFill/>
          <a:ln cap="flat" cmpd="sng" w="12700">
            <a:solidFill>
              <a:srgbClr val="D8D8D8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115" name="Google Shape;115;p19"/>
          <p:cNvCxnSpPr/>
          <p:nvPr/>
        </p:nvCxnSpPr>
        <p:spPr>
          <a:xfrm rot="10800000">
            <a:off x="1253625" y="2067025"/>
            <a:ext cx="522900" cy="1696200"/>
          </a:xfrm>
          <a:prstGeom prst="straightConnector1">
            <a:avLst/>
          </a:prstGeom>
          <a:noFill/>
          <a:ln cap="flat" cmpd="sng" w="12700">
            <a:solidFill>
              <a:srgbClr val="D8D8D8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116" name="Google Shape;116;p19"/>
          <p:cNvSpPr/>
          <p:nvPr/>
        </p:nvSpPr>
        <p:spPr>
          <a:xfrm>
            <a:off x="3094823" y="2205050"/>
            <a:ext cx="1975485" cy="738092"/>
          </a:xfrm>
          <a:custGeom>
            <a:rect b="b" l="l" r="r" t="t"/>
            <a:pathLst>
              <a:path extrusionOk="0" h="312420" w="381000">
                <a:moveTo>
                  <a:pt x="381000" y="31242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D8D8D8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17" name="Google Shape;117;p19"/>
          <p:cNvCxnSpPr/>
          <p:nvPr/>
        </p:nvCxnSpPr>
        <p:spPr>
          <a:xfrm flipH="1" rot="10800000">
            <a:off x="3099150" y="1489775"/>
            <a:ext cx="2468100" cy="713100"/>
          </a:xfrm>
          <a:prstGeom prst="straightConnector1">
            <a:avLst/>
          </a:prstGeom>
          <a:noFill/>
          <a:ln cap="flat" cmpd="sng" w="12700">
            <a:solidFill>
              <a:srgbClr val="D8D8D8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118" name="Google Shape;118;p19"/>
          <p:cNvCxnSpPr/>
          <p:nvPr/>
        </p:nvCxnSpPr>
        <p:spPr>
          <a:xfrm flipH="1" rot="10800000">
            <a:off x="1789500" y="2211700"/>
            <a:ext cx="1283700" cy="1564500"/>
          </a:xfrm>
          <a:prstGeom prst="straightConnector1">
            <a:avLst/>
          </a:prstGeom>
          <a:noFill/>
          <a:ln cap="flat" cmpd="sng" w="12700">
            <a:solidFill>
              <a:srgbClr val="D8D8D8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119" name="Google Shape;119;p19"/>
          <p:cNvSpPr/>
          <p:nvPr/>
        </p:nvSpPr>
        <p:spPr>
          <a:xfrm>
            <a:off x="1789500" y="3227725"/>
            <a:ext cx="3306413" cy="548392"/>
          </a:xfrm>
          <a:custGeom>
            <a:rect b="b" l="l" r="r" t="t"/>
            <a:pathLst>
              <a:path extrusionOk="0" h="83820" w="434340">
                <a:moveTo>
                  <a:pt x="0" y="83820"/>
                </a:moveTo>
                <a:lnTo>
                  <a:pt x="434340" y="0"/>
                </a:lnTo>
              </a:path>
            </a:pathLst>
          </a:custGeom>
          <a:noFill/>
          <a:ln cap="flat" cmpd="sng" w="12700">
            <a:solidFill>
              <a:srgbClr val="D8D8D8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0" name="Google Shape;120;p19"/>
          <p:cNvSpPr/>
          <p:nvPr/>
        </p:nvSpPr>
        <p:spPr>
          <a:xfrm>
            <a:off x="3730075" y="3443775"/>
            <a:ext cx="1400461" cy="738435"/>
          </a:xfrm>
          <a:custGeom>
            <a:rect b="b" l="l" r="r" t="t"/>
            <a:pathLst>
              <a:path extrusionOk="0" h="449580" w="220980">
                <a:moveTo>
                  <a:pt x="220980" y="0"/>
                </a:moveTo>
                <a:lnTo>
                  <a:pt x="0" y="449580"/>
                </a:lnTo>
              </a:path>
            </a:pathLst>
          </a:custGeom>
          <a:noFill/>
          <a:ln cap="flat" cmpd="sng" w="12700">
            <a:solidFill>
              <a:srgbClr val="D8D8D8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21" name="Google Shape;121;p19"/>
          <p:cNvCxnSpPr/>
          <p:nvPr/>
        </p:nvCxnSpPr>
        <p:spPr>
          <a:xfrm>
            <a:off x="1785175" y="3776200"/>
            <a:ext cx="1944900" cy="406200"/>
          </a:xfrm>
          <a:prstGeom prst="straightConnector1">
            <a:avLst/>
          </a:prstGeom>
          <a:noFill/>
          <a:ln cap="flat" cmpd="sng" w="12700">
            <a:solidFill>
              <a:srgbClr val="D8D8D8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122" name="Google Shape;122;p19"/>
          <p:cNvCxnSpPr/>
          <p:nvPr/>
        </p:nvCxnSpPr>
        <p:spPr>
          <a:xfrm>
            <a:off x="3734525" y="4178175"/>
            <a:ext cx="2083200" cy="242100"/>
          </a:xfrm>
          <a:prstGeom prst="straightConnector1">
            <a:avLst/>
          </a:prstGeom>
          <a:noFill/>
          <a:ln cap="flat" cmpd="sng" w="12700">
            <a:solidFill>
              <a:srgbClr val="D8D8D8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123" name="Google Shape;123;p19"/>
          <p:cNvSpPr/>
          <p:nvPr/>
        </p:nvSpPr>
        <p:spPr>
          <a:xfrm>
            <a:off x="2491200" y="2811600"/>
            <a:ext cx="100500" cy="100500"/>
          </a:xfrm>
          <a:prstGeom prst="ellipse">
            <a:avLst/>
          </a:prstGeom>
          <a:solidFill>
            <a:srgbClr val="ECF2D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4" name="Google Shape;124;p19"/>
          <p:cNvSpPr/>
          <p:nvPr/>
        </p:nvSpPr>
        <p:spPr>
          <a:xfrm>
            <a:off x="3689863" y="4130957"/>
            <a:ext cx="100500" cy="1005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4399638" y="3286800"/>
            <a:ext cx="100500" cy="100500"/>
          </a:xfrm>
          <a:prstGeom prst="ellipse">
            <a:avLst/>
          </a:prstGeom>
          <a:solidFill>
            <a:srgbClr val="FCE5C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26" name="Google Shape;126;p19"/>
          <p:cNvGrpSpPr/>
          <p:nvPr/>
        </p:nvGrpSpPr>
        <p:grpSpPr>
          <a:xfrm>
            <a:off x="3227649" y="3111546"/>
            <a:ext cx="738000" cy="738000"/>
            <a:chOff x="3560280" y="3250328"/>
            <a:chExt cx="984000" cy="984000"/>
          </a:xfrm>
        </p:grpSpPr>
        <p:sp>
          <p:nvSpPr>
            <p:cNvPr id="127" name="Google Shape;127;p19"/>
            <p:cNvSpPr/>
            <p:nvPr/>
          </p:nvSpPr>
          <p:spPr>
            <a:xfrm>
              <a:off x="3560280" y="3250328"/>
              <a:ext cx="984000" cy="984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128" name="Google Shape;128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730888" y="3480731"/>
              <a:ext cx="657700" cy="4910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9" name="Google Shape;129;p19"/>
          <p:cNvSpPr/>
          <p:nvPr/>
        </p:nvSpPr>
        <p:spPr>
          <a:xfrm>
            <a:off x="4500139" y="2699176"/>
            <a:ext cx="100500" cy="100500"/>
          </a:xfrm>
          <a:prstGeom prst="ellipse">
            <a:avLst/>
          </a:prstGeom>
          <a:solidFill>
            <a:srgbClr val="6AD20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1741277" y="3732362"/>
            <a:ext cx="100500" cy="100500"/>
          </a:xfrm>
          <a:prstGeom prst="ellipse">
            <a:avLst/>
          </a:prstGeom>
          <a:solidFill>
            <a:srgbClr val="EAD1D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31" name="Google Shape;131;p19"/>
          <p:cNvGrpSpPr/>
          <p:nvPr/>
        </p:nvGrpSpPr>
        <p:grpSpPr>
          <a:xfrm>
            <a:off x="898877" y="1652349"/>
            <a:ext cx="738000" cy="738000"/>
            <a:chOff x="1081117" y="1288732"/>
            <a:chExt cx="984000" cy="984000"/>
          </a:xfrm>
        </p:grpSpPr>
        <p:sp>
          <p:nvSpPr>
            <p:cNvPr id="132" name="Google Shape;132;p19"/>
            <p:cNvSpPr/>
            <p:nvPr/>
          </p:nvSpPr>
          <p:spPr>
            <a:xfrm>
              <a:off x="1081117" y="1288732"/>
              <a:ext cx="984000" cy="984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133" name="Google Shape;133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268476" y="1438205"/>
              <a:ext cx="676109" cy="7218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4" name="Google Shape;134;p19"/>
          <p:cNvGrpSpPr/>
          <p:nvPr/>
        </p:nvGrpSpPr>
        <p:grpSpPr>
          <a:xfrm>
            <a:off x="2575162" y="1691616"/>
            <a:ext cx="1007550" cy="1007550"/>
            <a:chOff x="3316164" y="934688"/>
            <a:chExt cx="1343400" cy="1343400"/>
          </a:xfrm>
        </p:grpSpPr>
        <p:sp>
          <p:nvSpPr>
            <p:cNvPr id="135" name="Google Shape;135;p19"/>
            <p:cNvSpPr/>
            <p:nvPr/>
          </p:nvSpPr>
          <p:spPr>
            <a:xfrm rot="1361055">
              <a:off x="3474448" y="1092972"/>
              <a:ext cx="1026831" cy="1026831"/>
            </a:xfrm>
            <a:prstGeom prst="ellipse">
              <a:avLst/>
            </a:prstGeom>
            <a:solidFill>
              <a:srgbClr val="FFFFFF"/>
            </a:solidFill>
            <a:ln cap="flat" cmpd="sng" w="12700">
              <a:solidFill>
                <a:srgbClr val="6AD20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136" name="Google Shape;136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730888" y="1268374"/>
              <a:ext cx="495143" cy="67661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7" name="Google Shape;137;p19"/>
          <p:cNvSpPr txBox="1"/>
          <p:nvPr/>
        </p:nvSpPr>
        <p:spPr>
          <a:xfrm>
            <a:off x="650025" y="468825"/>
            <a:ext cx="4680000" cy="105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414000" spcFirstLastPara="1" rIns="198000" wrap="square" tIns="90000">
            <a:noAutofit/>
          </a:bodyPr>
          <a:lstStyle/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666666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최고 성능의 한국어 형태소 분석기</a:t>
            </a:r>
            <a:endParaRPr>
              <a:solidFill>
                <a:srgbClr val="666666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>
                <a:solidFill>
                  <a:srgbClr val="666666"/>
                </a:solidFill>
                <a:latin typeface="Gothic A1 Black"/>
                <a:ea typeface="Gothic A1 Black"/>
                <a:cs typeface="Gothic A1 Black"/>
                <a:sym typeface="Gothic A1 Black"/>
              </a:rPr>
              <a:t>bareun을 소개합니다.</a:t>
            </a:r>
            <a:endParaRPr sz="3000">
              <a:solidFill>
                <a:srgbClr val="666666"/>
              </a:solidFill>
              <a:latin typeface="Gothic A1 Black"/>
              <a:ea typeface="Gothic A1 Black"/>
              <a:cs typeface="Gothic A1 Black"/>
              <a:sym typeface="Gothic A1 Black"/>
            </a:endParaRPr>
          </a:p>
        </p:txBody>
      </p:sp>
      <p:pic>
        <p:nvPicPr>
          <p:cNvPr id="138" name="Google Shape;138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41810" y="4620525"/>
            <a:ext cx="1154483" cy="3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28825" y="4494304"/>
            <a:ext cx="1080001" cy="576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04405" y="4627725"/>
            <a:ext cx="1096500" cy="3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/>
          <p:nvPr>
            <p:ph idx="2" type="ctrTitle"/>
          </p:nvPr>
        </p:nvSpPr>
        <p:spPr>
          <a:xfrm>
            <a:off x="1765975" y="482050"/>
            <a:ext cx="6787200" cy="67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CONTENTS</a:t>
            </a:r>
            <a:endParaRPr/>
          </a:p>
        </p:txBody>
      </p:sp>
      <p:sp>
        <p:nvSpPr>
          <p:cNvPr id="146" name="Google Shape;146;p20"/>
          <p:cNvSpPr txBox="1"/>
          <p:nvPr>
            <p:ph idx="1" type="body"/>
          </p:nvPr>
        </p:nvSpPr>
        <p:spPr>
          <a:xfrm>
            <a:off x="1882975" y="2048650"/>
            <a:ext cx="6879300" cy="30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ko" sz="2000"/>
              <a:t>고성능 형태소 분석기가 필요한 이유?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ko" sz="2000"/>
              <a:t>바른은 어떻게 개발되었는가?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ko" sz="2000"/>
              <a:t>바른의 특장점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ko" sz="2000"/>
              <a:t>바른의 활용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ko" sz="2000"/>
              <a:t>바른의 성능 비교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ko" sz="2000"/>
              <a:t>기술지원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 txBox="1"/>
          <p:nvPr>
            <p:ph idx="1" type="body"/>
          </p:nvPr>
        </p:nvSpPr>
        <p:spPr>
          <a:xfrm>
            <a:off x="549600" y="3491025"/>
            <a:ext cx="4296900" cy="8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chemeClr val="accent3"/>
                </a:solidFill>
              </a:rPr>
              <a:t>AI 군비 경쟁</a:t>
            </a:r>
            <a:r>
              <a:rPr b="1" lang="ko" sz="1600"/>
              <a:t>의 시대에도 </a:t>
            </a:r>
            <a:endParaRPr b="1" sz="16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ko" sz="1600"/>
              <a:t>철, 한글은 우리의 삶을 지배하고 있습니다.</a:t>
            </a:r>
            <a:endParaRPr b="1" sz="1600"/>
          </a:p>
        </p:txBody>
      </p:sp>
      <p:sp>
        <p:nvSpPr>
          <p:cNvPr id="152" name="Google Shape;152;p21"/>
          <p:cNvSpPr txBox="1"/>
          <p:nvPr>
            <p:ph idx="12" type="sldNum"/>
          </p:nvPr>
        </p:nvSpPr>
        <p:spPr>
          <a:xfrm>
            <a:off x="4297650" y="4780700"/>
            <a:ext cx="548700" cy="36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cxnSp>
        <p:nvCxnSpPr>
          <p:cNvPr id="153" name="Google Shape;153;p21"/>
          <p:cNvCxnSpPr/>
          <p:nvPr/>
        </p:nvCxnSpPr>
        <p:spPr>
          <a:xfrm>
            <a:off x="583655" y="3160800"/>
            <a:ext cx="7983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" name="Google Shape;154;p21"/>
          <p:cNvSpPr txBox="1"/>
          <p:nvPr/>
        </p:nvSpPr>
        <p:spPr>
          <a:xfrm>
            <a:off x="576445" y="376875"/>
            <a:ext cx="7983900" cy="3849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D9D9D9"/>
              </a:gs>
              <a:gs pos="100000">
                <a:srgbClr val="B3B3B3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666666"/>
                </a:solidFill>
                <a:latin typeface="Gothic A1"/>
                <a:ea typeface="Gothic A1"/>
                <a:cs typeface="Gothic A1"/>
                <a:sym typeface="Gothic A1"/>
              </a:rPr>
              <a:t>구리</a:t>
            </a:r>
            <a:endParaRPr sz="1300">
              <a:solidFill>
                <a:srgbClr val="666666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155" name="Google Shape;155;p21"/>
          <p:cNvSpPr txBox="1"/>
          <p:nvPr/>
        </p:nvSpPr>
        <p:spPr>
          <a:xfrm>
            <a:off x="1001688" y="763136"/>
            <a:ext cx="7558800" cy="3849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D9D9D9"/>
              </a:gs>
              <a:gs pos="100000">
                <a:srgbClr val="B3B3B3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666666"/>
                </a:solidFill>
                <a:latin typeface="Gothic A1"/>
                <a:ea typeface="Gothic A1"/>
                <a:cs typeface="Gothic A1"/>
                <a:sym typeface="Gothic A1"/>
              </a:rPr>
              <a:t>철</a:t>
            </a:r>
            <a:endParaRPr sz="1300">
              <a:solidFill>
                <a:srgbClr val="666666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156" name="Google Shape;156;p21"/>
          <p:cNvSpPr txBox="1"/>
          <p:nvPr/>
        </p:nvSpPr>
        <p:spPr>
          <a:xfrm>
            <a:off x="3175194" y="1921919"/>
            <a:ext cx="5385000" cy="3849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D9D9D9"/>
              </a:gs>
              <a:gs pos="100000">
                <a:srgbClr val="B3B3B3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666666"/>
                </a:solidFill>
                <a:latin typeface="Gothic A1"/>
                <a:ea typeface="Gothic A1"/>
                <a:cs typeface="Gothic A1"/>
                <a:sym typeface="Gothic A1"/>
              </a:rPr>
              <a:t>전기</a:t>
            </a:r>
            <a:endParaRPr sz="1300">
              <a:solidFill>
                <a:srgbClr val="666666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157" name="Google Shape;157;p21"/>
          <p:cNvSpPr txBox="1"/>
          <p:nvPr/>
        </p:nvSpPr>
        <p:spPr>
          <a:xfrm>
            <a:off x="2510661" y="1535658"/>
            <a:ext cx="6049800" cy="3849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D9D9D9"/>
              </a:gs>
              <a:gs pos="100000">
                <a:srgbClr val="B3B3B3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666666"/>
                </a:solidFill>
                <a:latin typeface="Gothic A1"/>
                <a:ea typeface="Gothic A1"/>
                <a:cs typeface="Gothic A1"/>
                <a:sym typeface="Gothic A1"/>
              </a:rPr>
              <a:t>철도</a:t>
            </a:r>
            <a:endParaRPr sz="1300">
              <a:solidFill>
                <a:srgbClr val="666666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158" name="Google Shape;158;p21"/>
          <p:cNvSpPr txBox="1"/>
          <p:nvPr/>
        </p:nvSpPr>
        <p:spPr>
          <a:xfrm>
            <a:off x="1634293" y="1149397"/>
            <a:ext cx="6926100" cy="384900"/>
          </a:xfrm>
          <a:prstGeom prst="rect">
            <a:avLst/>
          </a:prstGeom>
          <a:gradFill>
            <a:gsLst>
              <a:gs pos="0">
                <a:srgbClr val="EAD1DC"/>
              </a:gs>
              <a:gs pos="100000">
                <a:srgbClr val="D9D9D9"/>
              </a:gs>
              <a:gs pos="100000">
                <a:srgbClr val="B3B3B3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666666"/>
                </a:solidFill>
                <a:latin typeface="Gothic A1"/>
                <a:ea typeface="Gothic A1"/>
                <a:cs typeface="Gothic A1"/>
                <a:sym typeface="Gothic A1"/>
              </a:rPr>
              <a:t>한글</a:t>
            </a:r>
            <a:endParaRPr sz="1300">
              <a:solidFill>
                <a:srgbClr val="666666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159" name="Google Shape;159;p21"/>
          <p:cNvSpPr txBox="1"/>
          <p:nvPr/>
        </p:nvSpPr>
        <p:spPr>
          <a:xfrm>
            <a:off x="3887861" y="2308181"/>
            <a:ext cx="4672200" cy="3849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D9D9D9"/>
              </a:gs>
              <a:gs pos="100000">
                <a:srgbClr val="B3B3B3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666666"/>
                </a:solidFill>
                <a:latin typeface="Gothic A1"/>
                <a:ea typeface="Gothic A1"/>
                <a:cs typeface="Gothic A1"/>
                <a:sym typeface="Gothic A1"/>
              </a:rPr>
              <a:t>컴퓨터</a:t>
            </a:r>
            <a:endParaRPr sz="1300">
              <a:solidFill>
                <a:srgbClr val="666666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160" name="Google Shape;160;p21"/>
          <p:cNvSpPr txBox="1"/>
          <p:nvPr/>
        </p:nvSpPr>
        <p:spPr>
          <a:xfrm>
            <a:off x="4524966" y="2694442"/>
            <a:ext cx="4035600" cy="3849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D9D9D9"/>
              </a:gs>
              <a:gs pos="100000">
                <a:srgbClr val="B3B3B3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666666"/>
                </a:solidFill>
                <a:latin typeface="Gothic A1"/>
                <a:ea typeface="Gothic A1"/>
                <a:cs typeface="Gothic A1"/>
                <a:sym typeface="Gothic A1"/>
              </a:rPr>
              <a:t>인터넷</a:t>
            </a:r>
            <a:endParaRPr sz="1300">
              <a:solidFill>
                <a:srgbClr val="666666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161" name="Google Shape;161;p21"/>
          <p:cNvSpPr txBox="1"/>
          <p:nvPr/>
        </p:nvSpPr>
        <p:spPr>
          <a:xfrm>
            <a:off x="5096400" y="3233103"/>
            <a:ext cx="3463800" cy="3849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D9D9D9"/>
              </a:gs>
              <a:gs pos="100000">
                <a:srgbClr val="B3B3B3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666666"/>
                </a:solidFill>
                <a:latin typeface="Gothic A1"/>
                <a:ea typeface="Gothic A1"/>
                <a:cs typeface="Gothic A1"/>
                <a:sym typeface="Gothic A1"/>
              </a:rPr>
              <a:t>AI, 딥러닝</a:t>
            </a:r>
            <a:endParaRPr sz="1300">
              <a:solidFill>
                <a:srgbClr val="666666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162" name="Google Shape;162;p21"/>
          <p:cNvSpPr txBox="1"/>
          <p:nvPr/>
        </p:nvSpPr>
        <p:spPr>
          <a:xfrm>
            <a:off x="5478387" y="3619364"/>
            <a:ext cx="3082200" cy="3849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D9D9D9"/>
              </a:gs>
              <a:gs pos="100000">
                <a:srgbClr val="B3B3B3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666666"/>
                </a:solidFill>
                <a:latin typeface="Gothic A1"/>
                <a:ea typeface="Gothic A1"/>
                <a:cs typeface="Gothic A1"/>
                <a:sym typeface="Gothic A1"/>
              </a:rPr>
              <a:t>트랜스포머</a:t>
            </a:r>
            <a:endParaRPr sz="1300">
              <a:solidFill>
                <a:srgbClr val="666666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163" name="Google Shape;163;p21"/>
          <p:cNvSpPr txBox="1"/>
          <p:nvPr/>
        </p:nvSpPr>
        <p:spPr>
          <a:xfrm>
            <a:off x="6048087" y="4005625"/>
            <a:ext cx="2511900" cy="3849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D9D9D9"/>
              </a:gs>
              <a:gs pos="100000">
                <a:srgbClr val="B3B3B3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666666"/>
                </a:solidFill>
                <a:latin typeface="Gothic A1"/>
                <a:ea typeface="Gothic A1"/>
                <a:cs typeface="Gothic A1"/>
                <a:sym typeface="Gothic A1"/>
              </a:rPr>
              <a:t>챗GPT</a:t>
            </a:r>
            <a:endParaRPr sz="1300">
              <a:solidFill>
                <a:srgbClr val="666666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164" name="Google Shape;164;p21"/>
          <p:cNvSpPr txBox="1"/>
          <p:nvPr/>
        </p:nvSpPr>
        <p:spPr>
          <a:xfrm>
            <a:off x="7716316" y="3619364"/>
            <a:ext cx="844200" cy="384900"/>
          </a:xfrm>
          <a:prstGeom prst="rect">
            <a:avLst/>
          </a:prstGeom>
          <a:gradFill>
            <a:gsLst>
              <a:gs pos="0">
                <a:srgbClr val="EAD1DC"/>
              </a:gs>
              <a:gs pos="100000">
                <a:srgbClr val="D9D9D9"/>
              </a:gs>
              <a:gs pos="100000">
                <a:srgbClr val="B3B3B3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666666"/>
                </a:solidFill>
                <a:latin typeface="Gothic A1"/>
                <a:ea typeface="Gothic A1"/>
                <a:cs typeface="Gothic A1"/>
                <a:sym typeface="Gothic A1"/>
              </a:rPr>
              <a:t>바른</a:t>
            </a:r>
            <a:endParaRPr sz="1300">
              <a:solidFill>
                <a:srgbClr val="666666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/>
          <p:nvPr>
            <p:ph idx="2" type="body"/>
          </p:nvPr>
        </p:nvSpPr>
        <p:spPr>
          <a:xfrm>
            <a:off x="3373050" y="1193875"/>
            <a:ext cx="2550300" cy="19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ko"/>
              <a:t>언어 처리의 정확성 향상</a:t>
            </a:r>
            <a:endParaRPr b="1"/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ko"/>
              <a:t>형태소 분석이 정확하지 않으면 NLP 알고리즘의 결과도 잘못됨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ko"/>
              <a:t>고성능 </a:t>
            </a:r>
            <a:r>
              <a:rPr b="1" lang="ko"/>
              <a:t>한국어 토크나이저</a:t>
            </a:r>
            <a:r>
              <a:rPr lang="ko"/>
              <a:t>의 부재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2"/>
          <p:cNvSpPr txBox="1"/>
          <p:nvPr>
            <p:ph idx="1" type="body"/>
          </p:nvPr>
        </p:nvSpPr>
        <p:spPr>
          <a:xfrm>
            <a:off x="439025" y="1193875"/>
            <a:ext cx="2852400" cy="19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ko"/>
              <a:t>자연어 처리의 기초 작업</a:t>
            </a:r>
            <a:endParaRPr b="1"/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ko"/>
              <a:t>언어 모델링, 검색 엔진, 감정 분석, 문장 생성, 문서 요약, 번역 등 NLP(자연어 처리)의 기반 마련에 중요한 역할</a:t>
            </a:r>
            <a:endParaRPr/>
          </a:p>
        </p:txBody>
      </p:sp>
      <p:sp>
        <p:nvSpPr>
          <p:cNvPr id="171" name="Google Shape;171;p22"/>
          <p:cNvSpPr txBox="1"/>
          <p:nvPr>
            <p:ph idx="3" type="body"/>
          </p:nvPr>
        </p:nvSpPr>
        <p:spPr>
          <a:xfrm>
            <a:off x="6004825" y="1193875"/>
            <a:ext cx="2852400" cy="19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ko"/>
              <a:t>딥러닝 기반의 유연성</a:t>
            </a:r>
            <a:endParaRPr b="1"/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ko"/>
              <a:t>딥러닝 기반으로 언어의 구조와 의미를 정확하게 분석하여 신조어, 고유명사에 유연하게 대응</a:t>
            </a:r>
            <a:endParaRPr/>
          </a:p>
        </p:txBody>
      </p:sp>
      <p:sp>
        <p:nvSpPr>
          <p:cNvPr id="172" name="Google Shape;172;p22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73" name="Google Shape;173;p22"/>
          <p:cNvSpPr txBox="1"/>
          <p:nvPr>
            <p:ph type="title"/>
          </p:nvPr>
        </p:nvSpPr>
        <p:spPr>
          <a:xfrm>
            <a:off x="924050" y="286500"/>
            <a:ext cx="74667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고성능 형태소 분석기가 필요한 이유</a:t>
            </a:r>
            <a:endParaRPr/>
          </a:p>
        </p:txBody>
      </p:sp>
      <p:sp>
        <p:nvSpPr>
          <p:cNvPr id="174" name="Google Shape;174;p22"/>
          <p:cNvSpPr txBox="1"/>
          <p:nvPr/>
        </p:nvSpPr>
        <p:spPr>
          <a:xfrm>
            <a:off x="423600" y="3227325"/>
            <a:ext cx="8268900" cy="1294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Gothic A1"/>
              <a:buChar char="●"/>
            </a:pPr>
            <a:r>
              <a:rPr lang="ko">
                <a:latin typeface="Gothic A1"/>
                <a:ea typeface="Gothic A1"/>
                <a:cs typeface="Gothic A1"/>
                <a:sym typeface="Gothic A1"/>
              </a:rPr>
              <a:t>기존 형태소 분석기들 중 일본어에 기초한 것들이 여전히 쓰이고 있고 오류가 많음.</a:t>
            </a:r>
            <a:endParaRPr>
              <a:latin typeface="Gothic A1"/>
              <a:ea typeface="Gothic A1"/>
              <a:cs typeface="Gothic A1"/>
              <a:sym typeface="Gothic A1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Gothic A1"/>
              <a:buChar char="●"/>
            </a:pPr>
            <a:r>
              <a:rPr lang="ko">
                <a:latin typeface="Gothic A1"/>
                <a:ea typeface="Gothic A1"/>
                <a:cs typeface="Gothic A1"/>
                <a:sym typeface="Gothic A1"/>
              </a:rPr>
              <a:t>한국어의 구조를 제대로 이해하여 한국어 특성에 맞도록 정확도를 극대화할 필요</a:t>
            </a:r>
            <a:endParaRPr>
              <a:latin typeface="Gothic A1"/>
              <a:ea typeface="Gothic A1"/>
              <a:cs typeface="Gothic A1"/>
              <a:sym typeface="Gothic A1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Gothic A1"/>
              <a:buChar char="●"/>
            </a:pPr>
            <a:r>
              <a:rPr lang="ko">
                <a:latin typeface="Gothic A1"/>
                <a:ea typeface="Gothic A1"/>
                <a:cs typeface="Gothic A1"/>
                <a:sym typeface="Gothic A1"/>
              </a:rPr>
              <a:t>BERT, GPT 등 대용량 언어모델(LLM)에서 필수적인 토크나이저를 한국어에 맞게 변경하게 되면 한국어 이해, 생성이 훨씬 더 정확하게 동작.</a:t>
            </a:r>
            <a:endParaRPr>
              <a:latin typeface="Gothic A1"/>
              <a:ea typeface="Gothic A1"/>
              <a:cs typeface="Gothic A1"/>
              <a:sym typeface="Gothic A1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 txBox="1"/>
          <p:nvPr>
            <p:ph idx="12" type="sldNum"/>
          </p:nvPr>
        </p:nvSpPr>
        <p:spPr>
          <a:xfrm>
            <a:off x="4297650" y="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80" name="Google Shape;180;p23"/>
          <p:cNvSpPr txBox="1"/>
          <p:nvPr>
            <p:ph idx="1" type="body"/>
          </p:nvPr>
        </p:nvSpPr>
        <p:spPr>
          <a:xfrm>
            <a:off x="2105050" y="471775"/>
            <a:ext cx="4933800" cy="258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ko"/>
              <a:t>바른은 어떻게 개발되었는가?</a:t>
            </a:r>
            <a:endParaRPr/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ctr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한국어 활용 구조를 이해</a:t>
            </a:r>
            <a:endParaRPr/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지속적인 학습 데이터 개선 및 보강</a:t>
            </a:r>
            <a:endParaRPr/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다양한 통계 분석을 통한 품질 보강</a:t>
            </a:r>
            <a:endParaRPr/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한국어 전문가의 결합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4"/>
          <p:cNvSpPr txBox="1"/>
          <p:nvPr>
            <p:ph type="title"/>
          </p:nvPr>
        </p:nvSpPr>
        <p:spPr>
          <a:xfrm>
            <a:off x="924050" y="286500"/>
            <a:ext cx="74667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형태소 분석기 bareun</a:t>
            </a:r>
            <a:endParaRPr/>
          </a:p>
        </p:txBody>
      </p:sp>
      <p:sp>
        <p:nvSpPr>
          <p:cNvPr id="186" name="Google Shape;186;p24"/>
          <p:cNvSpPr/>
          <p:nvPr/>
        </p:nvSpPr>
        <p:spPr>
          <a:xfrm>
            <a:off x="6423825" y="4132250"/>
            <a:ext cx="2340000" cy="911700"/>
          </a:xfrm>
          <a:prstGeom prst="rect">
            <a:avLst/>
          </a:prstGeom>
          <a:solidFill>
            <a:srgbClr val="47607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ko" sz="1200" u="none" cap="none" strike="noStrike">
                <a:solidFill>
                  <a:srgbClr val="FFFFFF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구문론의 최고 수준 권위자 </a:t>
            </a:r>
            <a:endParaRPr i="0" sz="1200" u="none" cap="none" strike="noStrike">
              <a:solidFill>
                <a:srgbClr val="FFFFFF"/>
              </a:solidFill>
              <a:latin typeface="Gothic A1 SemiBold"/>
              <a:ea typeface="Gothic A1 SemiBold"/>
              <a:cs typeface="Gothic A1 SemiBold"/>
              <a:sym typeface="Gothic A1 SemiBold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ko" sz="1200" u="none" cap="none" strike="noStrike">
                <a:solidFill>
                  <a:srgbClr val="FFFFFF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서울대 박진호 교수와 함께 </a:t>
            </a:r>
            <a:endParaRPr i="0" sz="1200" u="none" cap="none" strike="noStrike">
              <a:solidFill>
                <a:srgbClr val="FFFFFF"/>
              </a:solidFill>
              <a:latin typeface="Gothic A1 SemiBold"/>
              <a:ea typeface="Gothic A1 SemiBold"/>
              <a:cs typeface="Gothic A1 SemiBold"/>
              <a:sym typeface="Gothic A1 SemiBold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ko" sz="1200" u="none" cap="none" strike="noStrike">
                <a:solidFill>
                  <a:srgbClr val="FFFFFF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한국어 NLP 엔진</a:t>
            </a:r>
            <a:r>
              <a:rPr lang="ko" sz="1200">
                <a:solidFill>
                  <a:srgbClr val="FFFFFF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 개발</a:t>
            </a:r>
            <a:endParaRPr sz="1200">
              <a:solidFill>
                <a:srgbClr val="FFFFFF"/>
              </a:solidFill>
              <a:latin typeface="Gothic A1 SemiBold"/>
              <a:ea typeface="Gothic A1 SemiBold"/>
              <a:cs typeface="Gothic A1 SemiBold"/>
              <a:sym typeface="Gothic A1 SemiBold"/>
            </a:endParaRPr>
          </a:p>
        </p:txBody>
      </p:sp>
      <p:sp>
        <p:nvSpPr>
          <p:cNvPr id="187" name="Google Shape;187;p24"/>
          <p:cNvSpPr txBox="1"/>
          <p:nvPr/>
        </p:nvSpPr>
        <p:spPr>
          <a:xfrm>
            <a:off x="456325" y="4132250"/>
            <a:ext cx="5694000" cy="911700"/>
          </a:xfrm>
          <a:prstGeom prst="rect">
            <a:avLst/>
          </a:prstGeom>
          <a:solidFill>
            <a:srgbClr val="E9EF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3199" lvl="0" marL="22383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i="0" lang="ko" sz="1100" u="none" cap="none" strike="noStrike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① 21세기 세종 계획 형태의미분석 말뭉치 1200만 어절 / 문어, 구어 포함</a:t>
            </a:r>
            <a:endParaRPr i="0" sz="1100" u="none" cap="none" strike="noStrike">
              <a:solidFill>
                <a:srgbClr val="000000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-223199" lvl="0" marL="22383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i="0" lang="ko" sz="1100" u="none" cap="none" strike="noStrike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② 2019년 국립국어원 구축 형태소 분석 말뭉치 300만 어절 (문어 200만, 구어 100만)</a:t>
            </a:r>
            <a:endParaRPr i="0" sz="1100" u="none" cap="none" strike="noStrike">
              <a:solidFill>
                <a:srgbClr val="000000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-223199" lvl="0" marL="22383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i="0" lang="ko" sz="1100" u="none" cap="none" strike="noStrike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③ 자체 형태소 학습 말뭉치: 30만 어절, 기존 자료에서 빈도수 낮은 데이터 보강</a:t>
            </a:r>
            <a:endParaRPr i="0" sz="1100" u="none" cap="none" strike="noStrike">
              <a:solidFill>
                <a:srgbClr val="000000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-223199" lvl="0" marL="22383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lang="ko" sz="11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④</a:t>
            </a:r>
            <a:r>
              <a:rPr lang="ko" sz="1100">
                <a:latin typeface="Gothic A1"/>
                <a:ea typeface="Gothic A1"/>
                <a:cs typeface="Gothic A1"/>
                <a:sym typeface="Gothic A1"/>
              </a:rPr>
              <a:t> 구축이론</a:t>
            </a:r>
            <a:r>
              <a:rPr lang="ko" sz="1100">
                <a:latin typeface="Gothic A1"/>
                <a:ea typeface="Gothic A1"/>
                <a:cs typeface="Gothic A1"/>
                <a:sym typeface="Gothic A1"/>
              </a:rPr>
              <a:t>논문: 박진호(2019), 딥러닝 기반 자연어 처리에서 도메인 지식의 역할</a:t>
            </a:r>
            <a:endParaRPr sz="1100">
              <a:latin typeface="Gothic A1"/>
              <a:ea typeface="Gothic A1"/>
              <a:cs typeface="Gothic A1"/>
              <a:sym typeface="Gothic A1"/>
            </a:endParaRPr>
          </a:p>
        </p:txBody>
      </p:sp>
      <p:graphicFrame>
        <p:nvGraphicFramePr>
          <p:cNvPr id="188" name="Google Shape;188;p24"/>
          <p:cNvGraphicFramePr/>
          <p:nvPr/>
        </p:nvGraphicFramePr>
        <p:xfrm>
          <a:off x="3806606" y="2467883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{B1688E43-0B14-4A75-B4AD-73AC54F4911F}</a:tableStyleId>
              </a:tblPr>
              <a:tblGrid>
                <a:gridCol w="937950"/>
                <a:gridCol w="937950"/>
                <a:gridCol w="937950"/>
                <a:gridCol w="937950"/>
                <a:gridCol w="1129250"/>
              </a:tblGrid>
              <a:tr h="226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 u="none" strike="noStrike">
                          <a:solidFill>
                            <a:srgbClr val="000000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구분</a:t>
                      </a:r>
                      <a:endParaRPr sz="1200">
                        <a:solidFill>
                          <a:srgbClr val="000000"/>
                        </a:solidFill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21600" marB="21600" marR="45725" marL="45725" anchor="ctr">
                    <a:lnL cap="flat" cmpd="sng" w="12700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 u="none" strike="noStrike">
                          <a:solidFill>
                            <a:srgbClr val="000000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비교항목</a:t>
                      </a:r>
                      <a:endParaRPr sz="1200">
                        <a:solidFill>
                          <a:srgbClr val="000000"/>
                        </a:solidFill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21600" marB="21600" marR="45725" marL="45725" anchor="ctr">
                    <a:lnL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 u="none" strike="noStrike">
                          <a:solidFill>
                            <a:srgbClr val="000000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ETRI</a:t>
                      </a:r>
                      <a:endParaRPr sz="1200">
                        <a:solidFill>
                          <a:srgbClr val="000000"/>
                        </a:solidFill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21600" marB="21600" marR="45725" marL="45725" anchor="ctr">
                    <a:lnL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rgbClr val="000000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카카오</a:t>
                      </a:r>
                      <a:endParaRPr sz="1200">
                        <a:solidFill>
                          <a:srgbClr val="000000"/>
                        </a:solidFill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21600" marB="21600" marR="45725" marL="45725" anchor="ctr">
                    <a:lnL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rgbClr val="0053A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bareun</a:t>
                      </a:r>
                      <a:endParaRPr sz="1200">
                        <a:solidFill>
                          <a:srgbClr val="0053A3"/>
                        </a:solidFill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21600" marB="21600" marR="45725" marL="45725" anchor="ctr">
                    <a:lnL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210850"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u="none" strike="noStrike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기능</a:t>
                      </a:r>
                      <a:endParaRPr sz="11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21600" marB="21600" marR="45725" marL="45725" anchor="ctr">
                    <a:lnL cap="flat" cmpd="sng" w="12700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u="none" strike="noStrike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어절분리</a:t>
                      </a:r>
                      <a:endParaRPr sz="11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21600" marB="21600" marR="45725" marL="45725" anchor="ctr">
                    <a:lnL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u="none" strike="noStrike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NA</a:t>
                      </a:r>
                      <a:endParaRPr sz="11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21600" marB="21600" marR="45725" marL="45725" anchor="ctr">
                    <a:lnL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u="none" strike="noStrike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NA</a:t>
                      </a:r>
                      <a:endParaRPr sz="11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21600" marB="21600" marR="45725" marL="45725" anchor="ctr">
                    <a:lnL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strike="noStrike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99.7%</a:t>
                      </a:r>
                      <a:endParaRPr b="1" sz="11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21600" marB="21600" marR="45725" marL="45725" anchor="ctr">
                    <a:lnL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u="none" strike="noStrike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사용엔진</a:t>
                      </a:r>
                      <a:endParaRPr sz="11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21600" marB="21600" marR="45725" marL="45725" anchor="ctr">
                    <a:lnL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u="none" strike="noStrike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SVM</a:t>
                      </a:r>
                      <a:endParaRPr sz="11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21600" marB="21600" marR="45725" marL="45725" anchor="ctr">
                    <a:lnL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u="none" strike="noStrike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CNN 등</a:t>
                      </a:r>
                      <a:endParaRPr sz="11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21600" marB="21600" marR="45725" marL="45725" anchor="ctr">
                    <a:lnL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strike="noStrike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LS</a:t>
                      </a:r>
                      <a:r>
                        <a:rPr b="1" lang="ko" sz="1100" u="none" strike="noStrike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TM 등</a:t>
                      </a:r>
                      <a:endParaRPr b="1" sz="11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21600" marB="21600" marR="45725" marL="45725" anchor="ctr">
                    <a:lnL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8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u="none" strike="noStrike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정확도</a:t>
                      </a:r>
                      <a:endParaRPr sz="11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21600" marB="21600" marR="45725" marL="45725" anchor="ctr">
                    <a:lnL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u="none" strike="noStrike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93%</a:t>
                      </a:r>
                      <a:endParaRPr sz="11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21600" marB="21600" marR="45725" marL="45725" anchor="ctr">
                    <a:lnL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u="none" strike="noStrike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91%</a:t>
                      </a:r>
                      <a:endParaRPr sz="11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21600" marB="21600" marR="45725" marL="45725" anchor="ctr">
                    <a:lnL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600" u="none" strike="noStrike">
                          <a:solidFill>
                            <a:srgbClr val="0000FF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99%</a:t>
                      </a:r>
                      <a:endParaRPr b="1" sz="1600">
                        <a:solidFill>
                          <a:srgbClr val="0000FF"/>
                        </a:solidFill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21600" marB="21600" marR="45725" marL="45725" anchor="ctr">
                    <a:lnL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0850"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u="none" strike="noStrike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성능</a:t>
                      </a:r>
                      <a:endParaRPr sz="11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21600" marB="21600" marR="45725" marL="45725" anchor="ctr">
                    <a:lnL cap="flat" cmpd="sng" w="12700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u="none" strike="noStrike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로딩속도</a:t>
                      </a:r>
                      <a:endParaRPr sz="11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21600" marB="21600" marR="45725" marL="45725" anchor="ctr">
                    <a:lnL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u="none" strike="noStrike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20sec</a:t>
                      </a:r>
                      <a:endParaRPr sz="11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21600" marB="21600" marR="45725" marL="45725" anchor="ctr">
                    <a:lnL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u="none" strike="noStrike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NA</a:t>
                      </a:r>
                      <a:endParaRPr sz="11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21600" marB="21600" marR="45725" marL="45725" anchor="ctr">
                    <a:lnL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strike="noStrike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1sec</a:t>
                      </a:r>
                      <a:endParaRPr b="1" sz="11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21600" marB="21600" marR="45725" marL="45725" anchor="ctr">
                    <a:lnL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u="none" strike="noStrike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실행속도</a:t>
                      </a:r>
                      <a:endParaRPr sz="11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21600" marB="21600" marR="45725" marL="45725" anchor="ctr">
                    <a:lnL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u="none" strike="noStrike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562/sec</a:t>
                      </a:r>
                      <a:endParaRPr sz="11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21600" marB="21600" marR="45725" marL="45725" anchor="ctr">
                    <a:lnL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u="none" strike="noStrike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952/sec</a:t>
                      </a:r>
                      <a:endParaRPr sz="11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21600" marB="21600" marR="45725" marL="45725" anchor="ctr">
                    <a:lnL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strike="noStrike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700/sec</a:t>
                      </a:r>
                      <a:endParaRPr b="1" sz="11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21600" marB="21600" marR="45725" marL="45725" anchor="ctr">
                    <a:lnL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u="none" strike="noStrike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메모리</a:t>
                      </a:r>
                      <a:endParaRPr sz="11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21600" marB="21600" marR="45725" marL="45725" anchor="ctr">
                    <a:lnL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u="none" strike="noStrike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5GB</a:t>
                      </a:r>
                      <a:endParaRPr sz="11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21600" marB="21600" marR="45725" marL="45725" anchor="ctr">
                    <a:lnL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u="none" strike="noStrike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NA</a:t>
                      </a:r>
                      <a:endParaRPr sz="11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21600" marB="21600" marR="45725" marL="45725" anchor="ctr">
                    <a:lnL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strike="noStrike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1GB</a:t>
                      </a:r>
                      <a:endParaRPr b="1" sz="11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21600" marB="21600" marR="45725" marL="45725" anchor="ctr">
                    <a:lnL cap="flat" cmpd="sng" w="9525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E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E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9" name="Google Shape;189;p24"/>
          <p:cNvSpPr/>
          <p:nvPr/>
        </p:nvSpPr>
        <p:spPr>
          <a:xfrm>
            <a:off x="3810444" y="1193885"/>
            <a:ext cx="2340000" cy="54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4320000" dist="57150">
              <a:srgbClr val="D9D9D9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latin typeface="Gothic A1"/>
                <a:ea typeface="Gothic A1"/>
                <a:cs typeface="Gothic A1"/>
                <a:sym typeface="Gothic A1"/>
              </a:rPr>
              <a:t>태킹 정확도 99.6%</a:t>
            </a:r>
            <a:endParaRPr b="1" sz="1500"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190" name="Google Shape;190;p24"/>
          <p:cNvSpPr/>
          <p:nvPr/>
        </p:nvSpPr>
        <p:spPr>
          <a:xfrm>
            <a:off x="6322106" y="1193885"/>
            <a:ext cx="2340000" cy="54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4320000" dist="57150">
              <a:srgbClr val="D9D9D9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latin typeface="Gothic A1"/>
                <a:ea typeface="Gothic A1"/>
                <a:cs typeface="Gothic A1"/>
                <a:sym typeface="Gothic A1"/>
              </a:rPr>
              <a:t>구어에 강한 적응력</a:t>
            </a:r>
            <a:endParaRPr b="1" sz="1500"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191" name="Google Shape;191;p24"/>
          <p:cNvSpPr/>
          <p:nvPr/>
        </p:nvSpPr>
        <p:spPr>
          <a:xfrm>
            <a:off x="6330919" y="1830884"/>
            <a:ext cx="2340000" cy="54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4320000" dist="57150">
              <a:srgbClr val="D9D9D9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latin typeface="Gothic A1"/>
                <a:ea typeface="Gothic A1"/>
                <a:cs typeface="Gothic A1"/>
                <a:sym typeface="Gothic A1"/>
              </a:rPr>
              <a:t>지속적인 말뭉치 보강</a:t>
            </a:r>
            <a:endParaRPr b="1" sz="1500"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192" name="Google Shape;192;p24"/>
          <p:cNvSpPr/>
          <p:nvPr/>
        </p:nvSpPr>
        <p:spPr>
          <a:xfrm>
            <a:off x="3810444" y="1830884"/>
            <a:ext cx="2340000" cy="54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4320000" dist="57150">
              <a:srgbClr val="D9D9D9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latin typeface="Gothic A1"/>
                <a:ea typeface="Gothic A1"/>
                <a:cs typeface="Gothic A1"/>
                <a:sym typeface="Gothic A1"/>
              </a:rPr>
              <a:t>띄어쓰기 자동 보정</a:t>
            </a:r>
            <a:endParaRPr b="1" sz="1500">
              <a:latin typeface="Gothic A1"/>
              <a:ea typeface="Gothic A1"/>
              <a:cs typeface="Gothic A1"/>
              <a:sym typeface="Gothic A1"/>
            </a:endParaRPr>
          </a:p>
        </p:txBody>
      </p:sp>
      <p:pic>
        <p:nvPicPr>
          <p:cNvPr id="193" name="Google Shape;19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087" y="1218013"/>
            <a:ext cx="3173675" cy="2836582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4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5"/>
          <p:cNvSpPr txBox="1"/>
          <p:nvPr>
            <p:ph idx="4294967295" type="title"/>
          </p:nvPr>
        </p:nvSpPr>
        <p:spPr>
          <a:xfrm>
            <a:off x="1542221" y="4579125"/>
            <a:ext cx="61080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트랜스포머 + 한국어규칙 + 잘 정제된 학습 데이터</a:t>
            </a:r>
            <a:endParaRPr/>
          </a:p>
        </p:txBody>
      </p:sp>
      <p:sp>
        <p:nvSpPr>
          <p:cNvPr id="200" name="Google Shape;200;p25"/>
          <p:cNvSpPr txBox="1"/>
          <p:nvPr>
            <p:ph idx="2" type="body"/>
          </p:nvPr>
        </p:nvSpPr>
        <p:spPr>
          <a:xfrm>
            <a:off x="2404925" y="1196925"/>
            <a:ext cx="6301200" cy="742500"/>
          </a:xfrm>
          <a:prstGeom prst="rect">
            <a:avLst/>
          </a:prstGeom>
          <a:solidFill>
            <a:srgbClr val="F3F3F3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SzPts val="1400"/>
              <a:buChar char="◉"/>
            </a:pPr>
            <a:r>
              <a:rPr lang="ko"/>
              <a:t>한국어 활용 구조를 이해하는 107개의 분절 규칙 적용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◉"/>
            </a:pPr>
            <a:r>
              <a:rPr lang="ko"/>
              <a:t>문장의 조합 원리, 교착어의 활용, 음운 변화 규칙 이해</a:t>
            </a:r>
            <a:endParaRPr/>
          </a:p>
        </p:txBody>
      </p:sp>
      <p:sp>
        <p:nvSpPr>
          <p:cNvPr id="201" name="Google Shape;201;p25"/>
          <p:cNvSpPr txBox="1"/>
          <p:nvPr>
            <p:ph idx="3" type="subTitle"/>
          </p:nvPr>
        </p:nvSpPr>
        <p:spPr>
          <a:xfrm>
            <a:off x="512675" y="3432325"/>
            <a:ext cx="1725900" cy="9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ko"/>
              <a:t>최신기술 도입</a:t>
            </a:r>
            <a:endParaRPr sz="1200"/>
          </a:p>
        </p:txBody>
      </p:sp>
      <p:sp>
        <p:nvSpPr>
          <p:cNvPr id="202" name="Google Shape;202;p25"/>
          <p:cNvSpPr txBox="1"/>
          <p:nvPr>
            <p:ph idx="4" type="body"/>
          </p:nvPr>
        </p:nvSpPr>
        <p:spPr>
          <a:xfrm>
            <a:off x="2404925" y="3432325"/>
            <a:ext cx="6301200" cy="994500"/>
          </a:xfrm>
          <a:prstGeom prst="rect">
            <a:avLst/>
          </a:prstGeom>
          <a:solidFill>
            <a:srgbClr val="F3F3F3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SzPts val="1400"/>
              <a:buChar char="◉"/>
            </a:pPr>
            <a:r>
              <a:rPr lang="ko"/>
              <a:t>트랜스포머 기반 모델을 </a:t>
            </a:r>
            <a:r>
              <a:rPr b="1" lang="ko"/>
              <a:t>다양한 시도 끝에</a:t>
            </a:r>
            <a:r>
              <a:rPr lang="ko"/>
              <a:t> 최적의 파라미터 확보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◉"/>
            </a:pPr>
            <a:r>
              <a:rPr lang="ko"/>
              <a:t>국어학계 최고 석학 서울대 박진호 등 8명의  국내 최고 한국어 연구진 공동 참여하여 띄어쓰기, 모호성 데이터 보강을 통해서 안정성 확보</a:t>
            </a:r>
            <a:endParaRPr/>
          </a:p>
        </p:txBody>
      </p:sp>
      <p:grpSp>
        <p:nvGrpSpPr>
          <p:cNvPr id="203" name="Google Shape;203;p25"/>
          <p:cNvGrpSpPr/>
          <p:nvPr/>
        </p:nvGrpSpPr>
        <p:grpSpPr>
          <a:xfrm>
            <a:off x="1493779" y="4689600"/>
            <a:ext cx="214625" cy="214625"/>
            <a:chOff x="2594050" y="1631825"/>
            <a:chExt cx="439625" cy="439625"/>
          </a:xfrm>
        </p:grpSpPr>
        <p:sp>
          <p:nvSpPr>
            <p:cNvPr id="204" name="Google Shape;204;p25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5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5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5"/>
            <p:cNvSpPr/>
            <p:nvPr/>
          </p:nvSpPr>
          <p:spPr>
            <a:xfrm>
              <a:off x="2814912" y="1754062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8" name="Google Shape;208;p2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209" name="Google Shape;209;p25"/>
          <p:cNvSpPr txBox="1"/>
          <p:nvPr>
            <p:ph idx="1" type="subTitle"/>
          </p:nvPr>
        </p:nvSpPr>
        <p:spPr>
          <a:xfrm>
            <a:off x="512675" y="1196925"/>
            <a:ext cx="1725900" cy="74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ko"/>
              <a:t>한국어 활용구조 이해</a:t>
            </a:r>
            <a:endParaRPr/>
          </a:p>
        </p:txBody>
      </p:sp>
      <p:sp>
        <p:nvSpPr>
          <p:cNvPr id="210" name="Google Shape;210;p25"/>
          <p:cNvSpPr txBox="1"/>
          <p:nvPr>
            <p:ph type="title"/>
          </p:nvPr>
        </p:nvSpPr>
        <p:spPr>
          <a:xfrm>
            <a:off x="924050" y="286500"/>
            <a:ext cx="74667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바른: 최고 성능의 한국어 형태소 분석기</a:t>
            </a:r>
            <a:endParaRPr/>
          </a:p>
        </p:txBody>
      </p:sp>
      <p:sp>
        <p:nvSpPr>
          <p:cNvPr id="211" name="Google Shape;211;p25"/>
          <p:cNvSpPr txBox="1"/>
          <p:nvPr>
            <p:ph idx="2" type="body"/>
          </p:nvPr>
        </p:nvSpPr>
        <p:spPr>
          <a:xfrm>
            <a:off x="2404925" y="2101625"/>
            <a:ext cx="6301200" cy="1202400"/>
          </a:xfrm>
          <a:prstGeom prst="rect">
            <a:avLst/>
          </a:prstGeom>
          <a:solidFill>
            <a:srgbClr val="F3F3F3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SzPts val="1400"/>
              <a:buChar char="◉"/>
            </a:pPr>
            <a:r>
              <a:rPr lang="ko"/>
              <a:t>3년간의 지속적인 학습 데이터 개선 노하우 및 데이터 증강 노하우 적용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◉"/>
            </a:pPr>
            <a:r>
              <a:rPr lang="ko"/>
              <a:t>개별 문장별 태깅의 정확도를 지속적으로 개선하기 위해서 3년 동안 약 20명의 연구인력을 지속적으로 투입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◉"/>
            </a:pPr>
            <a:r>
              <a:rPr lang="ko"/>
              <a:t>데이터 오류를 찾아내기 위한 분절, 형태 통계 데이터 구축</a:t>
            </a:r>
            <a:endParaRPr/>
          </a:p>
        </p:txBody>
      </p:sp>
      <p:sp>
        <p:nvSpPr>
          <p:cNvPr id="212" name="Google Shape;212;p25"/>
          <p:cNvSpPr txBox="1"/>
          <p:nvPr>
            <p:ph idx="1" type="subTitle"/>
          </p:nvPr>
        </p:nvSpPr>
        <p:spPr>
          <a:xfrm>
            <a:off x="512675" y="2101625"/>
            <a:ext cx="1725900" cy="9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ko"/>
              <a:t>다양한 통계 분석 및 데이터 품질 개선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 txBox="1"/>
          <p:nvPr>
            <p:ph type="title"/>
          </p:nvPr>
        </p:nvSpPr>
        <p:spPr>
          <a:xfrm>
            <a:off x="924050" y="286500"/>
            <a:ext cx="74667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형태소 분석의 구조 및 절차</a:t>
            </a:r>
            <a:endParaRPr/>
          </a:p>
        </p:txBody>
      </p:sp>
      <p:sp>
        <p:nvSpPr>
          <p:cNvPr id="218" name="Google Shape;218;p26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pic>
        <p:nvPicPr>
          <p:cNvPr id="219" name="Google Shape;21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8800" y="906700"/>
            <a:ext cx="5191378" cy="411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7"/>
          <p:cNvSpPr/>
          <p:nvPr/>
        </p:nvSpPr>
        <p:spPr>
          <a:xfrm>
            <a:off x="263550" y="2009200"/>
            <a:ext cx="8616900" cy="776100"/>
          </a:xfrm>
          <a:prstGeom prst="chevron">
            <a:avLst>
              <a:gd fmla="val 50000" name="adj"/>
            </a:avLst>
          </a:prstGeom>
          <a:solidFill>
            <a:srgbClr val="E5F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7"/>
          <p:cNvSpPr txBox="1"/>
          <p:nvPr>
            <p:ph idx="12" type="sldNum"/>
          </p:nvPr>
        </p:nvSpPr>
        <p:spPr>
          <a:xfrm>
            <a:off x="4297650" y="4780700"/>
            <a:ext cx="548700" cy="36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226" name="Google Shape;226;p27"/>
          <p:cNvSpPr txBox="1"/>
          <p:nvPr>
            <p:ph idx="1" type="body"/>
          </p:nvPr>
        </p:nvSpPr>
        <p:spPr>
          <a:xfrm>
            <a:off x="790500" y="3997975"/>
            <a:ext cx="7563000" cy="51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ko"/>
              <a:t>바른은 “분절모델", “태깅모델", “형태정보를 포함한 임베딩"을 통해서 성능을 높였습니다.</a:t>
            </a:r>
            <a:endParaRPr/>
          </a:p>
        </p:txBody>
      </p:sp>
      <p:sp>
        <p:nvSpPr>
          <p:cNvPr id="227" name="Google Shape;227;p27"/>
          <p:cNvSpPr/>
          <p:nvPr/>
        </p:nvSpPr>
        <p:spPr>
          <a:xfrm>
            <a:off x="784775" y="1196925"/>
            <a:ext cx="2286000" cy="2286000"/>
          </a:xfrm>
          <a:prstGeom prst="ellipse">
            <a:avLst/>
          </a:prstGeom>
          <a:gradFill>
            <a:gsLst>
              <a:gs pos="0">
                <a:srgbClr val="F7F6F6"/>
              </a:gs>
              <a:gs pos="100000">
                <a:srgbClr val="B5B5B4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42875" rotWithShape="0" algn="bl" dir="2160000" dist="76200">
              <a:srgbClr val="B4A7D6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latin typeface="IBM Plex Sans KR"/>
                <a:ea typeface="IBM Plex Sans KR"/>
                <a:cs typeface="IBM Plex Sans KR"/>
                <a:sym typeface="IBM Plex Sans KR"/>
              </a:rPr>
              <a:t>107개</a:t>
            </a:r>
            <a:endParaRPr sz="2000"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latin typeface="IBM Plex Sans KR"/>
                <a:ea typeface="IBM Plex Sans KR"/>
                <a:cs typeface="IBM Plex Sans KR"/>
                <a:sym typeface="IBM Plex Sans KR"/>
              </a:rPr>
              <a:t>음절 단위</a:t>
            </a:r>
            <a:endParaRPr sz="2000"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latin typeface="IBM Plex Sans KR"/>
                <a:ea typeface="IBM Plex Sans KR"/>
                <a:cs typeface="IBM Plex Sans KR"/>
                <a:sym typeface="IBM Plex Sans KR"/>
              </a:rPr>
              <a:t>분절 규칙</a:t>
            </a:r>
            <a:endParaRPr sz="20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28" name="Google Shape;228;p27"/>
          <p:cNvSpPr/>
          <p:nvPr/>
        </p:nvSpPr>
        <p:spPr>
          <a:xfrm>
            <a:off x="3401875" y="1196925"/>
            <a:ext cx="2286000" cy="2286000"/>
          </a:xfrm>
          <a:prstGeom prst="ellipse">
            <a:avLst/>
          </a:prstGeom>
          <a:gradFill>
            <a:gsLst>
              <a:gs pos="0">
                <a:srgbClr val="F7F6F6"/>
              </a:gs>
              <a:gs pos="100000">
                <a:srgbClr val="B5B5B4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42875" rotWithShape="0" algn="bl" dir="2160000" dist="76200">
              <a:srgbClr val="B4A7D6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latin typeface="IBM Plex Sans KR"/>
                <a:ea typeface="IBM Plex Sans KR"/>
                <a:cs typeface="IBM Plex Sans KR"/>
                <a:sym typeface="IBM Plex Sans KR"/>
              </a:rPr>
              <a:t>형태정보를</a:t>
            </a:r>
            <a:endParaRPr sz="2000"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latin typeface="IBM Plex Sans KR"/>
                <a:ea typeface="IBM Plex Sans KR"/>
                <a:cs typeface="IBM Plex Sans KR"/>
                <a:sym typeface="IBM Plex Sans KR"/>
              </a:rPr>
              <a:t>포함한</a:t>
            </a:r>
            <a:endParaRPr sz="2000"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latin typeface="IBM Plex Sans KR"/>
                <a:ea typeface="IBM Plex Sans KR"/>
                <a:cs typeface="IBM Plex Sans KR"/>
                <a:sym typeface="IBM Plex Sans KR"/>
              </a:rPr>
              <a:t>워드임베딩</a:t>
            </a:r>
            <a:endParaRPr sz="20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29" name="Google Shape;229;p27"/>
          <p:cNvSpPr/>
          <p:nvPr/>
        </p:nvSpPr>
        <p:spPr>
          <a:xfrm>
            <a:off x="6018975" y="1196925"/>
            <a:ext cx="2286000" cy="2286000"/>
          </a:xfrm>
          <a:prstGeom prst="ellipse">
            <a:avLst/>
          </a:prstGeom>
          <a:gradFill>
            <a:gsLst>
              <a:gs pos="0">
                <a:srgbClr val="F7F6F6"/>
              </a:gs>
              <a:gs pos="100000">
                <a:srgbClr val="B5B5B4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42875" rotWithShape="0" algn="bl" dir="2160000" dist="76200">
              <a:srgbClr val="B4A7D6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latin typeface="IBM Plex Sans KR"/>
                <a:ea typeface="IBM Plex Sans KR"/>
                <a:cs typeface="IBM Plex Sans KR"/>
                <a:sym typeface="IBM Plex Sans KR"/>
              </a:rPr>
              <a:t>트랜스포머</a:t>
            </a:r>
            <a:endParaRPr sz="2000"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latin typeface="IBM Plex Sans KR"/>
                <a:ea typeface="IBM Plex Sans KR"/>
                <a:cs typeface="IBM Plex Sans KR"/>
                <a:sym typeface="IBM Plex Sans KR"/>
              </a:rPr>
              <a:t>기반</a:t>
            </a:r>
            <a:endParaRPr sz="2000"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latin typeface="IBM Plex Sans KR"/>
                <a:ea typeface="IBM Plex Sans KR"/>
                <a:cs typeface="IBM Plex Sans KR"/>
                <a:sym typeface="IBM Plex Sans KR"/>
              </a:rPr>
              <a:t>태깅모델</a:t>
            </a:r>
            <a:endParaRPr sz="20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8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235" name="Google Shape;235;p28"/>
          <p:cNvSpPr txBox="1"/>
          <p:nvPr>
            <p:ph type="title"/>
          </p:nvPr>
        </p:nvSpPr>
        <p:spPr>
          <a:xfrm>
            <a:off x="924050" y="286500"/>
            <a:ext cx="74667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분절 모델 (트랜스포머 인코더)</a:t>
            </a:r>
            <a:endParaRPr/>
          </a:p>
        </p:txBody>
      </p:sp>
      <p:graphicFrame>
        <p:nvGraphicFramePr>
          <p:cNvPr id="236" name="Google Shape;236;p28"/>
          <p:cNvGraphicFramePr/>
          <p:nvPr/>
        </p:nvGraphicFramePr>
        <p:xfrm>
          <a:off x="423400" y="11938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{E0FCCD9F-2931-4359-8EE8-A17C1EFFD06F}</a:tableStyleId>
              </a:tblPr>
              <a:tblGrid>
                <a:gridCol w="573975"/>
                <a:gridCol w="455275"/>
                <a:gridCol w="455275"/>
                <a:gridCol w="455275"/>
                <a:gridCol w="455275"/>
                <a:gridCol w="455275"/>
                <a:gridCol w="455275"/>
                <a:gridCol w="455275"/>
                <a:gridCol w="455275"/>
                <a:gridCol w="455275"/>
                <a:gridCol w="455275"/>
                <a:gridCol w="455275"/>
                <a:gridCol w="455275"/>
                <a:gridCol w="455275"/>
                <a:gridCol w="455275"/>
                <a:gridCol w="455275"/>
                <a:gridCol w="455275"/>
                <a:gridCol w="455275"/>
              </a:tblGrid>
              <a:tr h="251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입력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제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역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할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을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또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주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시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는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거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죠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.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4A85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4A85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4A85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FEFE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분절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저+의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+역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할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을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또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+주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+시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+는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거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+이+죠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.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레이블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62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1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0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6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111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10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3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4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4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111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0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87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14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문장성분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N+J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+N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N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+J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_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A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+V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+E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+E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_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N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+V+E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S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9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결과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gridSpan="1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accent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저</a:t>
                      </a:r>
                      <a:r>
                        <a:rPr baseline="30000" lang="ko">
                          <a:solidFill>
                            <a:srgbClr val="34A85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#N</a:t>
                      </a:r>
                      <a:r>
                        <a:rPr b="1" lang="ko" sz="1600">
                          <a:solidFill>
                            <a:srgbClr val="0000FF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+</a:t>
                      </a:r>
                      <a:r>
                        <a:rPr lang="ko">
                          <a:solidFill>
                            <a:schemeClr val="accent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의</a:t>
                      </a:r>
                      <a:r>
                        <a:rPr baseline="30000" lang="ko">
                          <a:solidFill>
                            <a:srgbClr val="34A85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#J</a:t>
                      </a:r>
                      <a:r>
                        <a:rPr lang="ko">
                          <a:solidFill>
                            <a:schemeClr val="accent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+역할</a:t>
                      </a:r>
                      <a:r>
                        <a:rPr baseline="30000" lang="ko">
                          <a:solidFill>
                            <a:srgbClr val="34A85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#N</a:t>
                      </a:r>
                      <a:r>
                        <a:rPr lang="ko">
                          <a:solidFill>
                            <a:schemeClr val="accent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+을</a:t>
                      </a:r>
                      <a:r>
                        <a:rPr baseline="30000" lang="ko">
                          <a:solidFill>
                            <a:srgbClr val="34A85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#J</a:t>
                      </a:r>
                      <a:r>
                        <a:rPr lang="ko">
                          <a:solidFill>
                            <a:schemeClr val="accent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 또</a:t>
                      </a:r>
                      <a:r>
                        <a:rPr baseline="30000" lang="ko">
                          <a:solidFill>
                            <a:srgbClr val="34A85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#A</a:t>
                      </a:r>
                      <a:r>
                        <a:rPr b="1" lang="ko" sz="1600">
                          <a:solidFill>
                            <a:srgbClr val="0000FF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+</a:t>
                      </a:r>
                      <a:r>
                        <a:rPr lang="ko">
                          <a:solidFill>
                            <a:schemeClr val="accent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주</a:t>
                      </a:r>
                      <a:r>
                        <a:rPr baseline="30000" lang="ko">
                          <a:solidFill>
                            <a:srgbClr val="34A85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#V</a:t>
                      </a:r>
                      <a:r>
                        <a:rPr lang="ko">
                          <a:solidFill>
                            <a:schemeClr val="accent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+시</a:t>
                      </a:r>
                      <a:r>
                        <a:rPr baseline="30000" lang="ko">
                          <a:solidFill>
                            <a:srgbClr val="34A85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#E</a:t>
                      </a:r>
                      <a:r>
                        <a:rPr lang="ko">
                          <a:solidFill>
                            <a:schemeClr val="accent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+는</a:t>
                      </a:r>
                      <a:r>
                        <a:rPr baseline="30000" lang="ko">
                          <a:solidFill>
                            <a:srgbClr val="34A85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#E</a:t>
                      </a:r>
                      <a:r>
                        <a:rPr lang="ko">
                          <a:solidFill>
                            <a:schemeClr val="accent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 거</a:t>
                      </a:r>
                      <a:r>
                        <a:rPr baseline="30000" lang="ko">
                          <a:solidFill>
                            <a:srgbClr val="34A85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#N</a:t>
                      </a:r>
                      <a:r>
                        <a:rPr lang="ko">
                          <a:solidFill>
                            <a:schemeClr val="accent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+이</a:t>
                      </a:r>
                      <a:r>
                        <a:rPr baseline="30000" lang="ko">
                          <a:solidFill>
                            <a:srgbClr val="34A85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#V</a:t>
                      </a:r>
                      <a:r>
                        <a:rPr lang="ko">
                          <a:solidFill>
                            <a:schemeClr val="accent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+죠</a:t>
                      </a:r>
                      <a:r>
                        <a:rPr baseline="30000" lang="ko">
                          <a:solidFill>
                            <a:srgbClr val="34A85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#E</a:t>
                      </a:r>
                      <a:r>
                        <a:rPr lang="ko">
                          <a:solidFill>
                            <a:schemeClr val="accent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+.</a:t>
                      </a:r>
                      <a:r>
                        <a:rPr baseline="30000" lang="ko">
                          <a:solidFill>
                            <a:srgbClr val="34A85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#S</a:t>
                      </a:r>
                      <a:endParaRPr baseline="30000">
                        <a:solidFill>
                          <a:srgbClr val="34A853"/>
                        </a:solidFill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입력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뭐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그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거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와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관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련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된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게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나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올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테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고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.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분절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뭐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그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거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+와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관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련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+되+ㄴ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거+이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나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오+ㄹ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+터+이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+고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.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레이블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12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111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0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0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6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111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0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0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47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111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60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111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2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47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61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4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14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문장성분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I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_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N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N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+J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_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N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N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+V+E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_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N+J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_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V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V+E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+N+V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+E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S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결과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 gridSpan="17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accent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뭐</a:t>
                      </a:r>
                      <a:r>
                        <a:rPr baseline="30000" lang="ko">
                          <a:solidFill>
                            <a:srgbClr val="34A85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#I</a:t>
                      </a:r>
                      <a:r>
                        <a:rPr lang="ko">
                          <a:solidFill>
                            <a:schemeClr val="accent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 그거</a:t>
                      </a:r>
                      <a:r>
                        <a:rPr baseline="30000" lang="ko">
                          <a:solidFill>
                            <a:srgbClr val="34A85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#N</a:t>
                      </a:r>
                      <a:r>
                        <a:rPr lang="ko">
                          <a:solidFill>
                            <a:schemeClr val="accent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+와</a:t>
                      </a:r>
                      <a:r>
                        <a:rPr baseline="30000" lang="ko">
                          <a:solidFill>
                            <a:srgbClr val="34A85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#J</a:t>
                      </a:r>
                      <a:r>
                        <a:rPr lang="ko">
                          <a:solidFill>
                            <a:schemeClr val="accent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 관련</a:t>
                      </a:r>
                      <a:r>
                        <a:rPr baseline="30000" lang="ko">
                          <a:solidFill>
                            <a:srgbClr val="34A85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#N</a:t>
                      </a:r>
                      <a:r>
                        <a:rPr lang="ko">
                          <a:solidFill>
                            <a:schemeClr val="accent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+되</a:t>
                      </a:r>
                      <a:r>
                        <a:rPr baseline="30000" lang="ko">
                          <a:solidFill>
                            <a:srgbClr val="34A85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#V</a:t>
                      </a:r>
                      <a:r>
                        <a:rPr lang="ko">
                          <a:solidFill>
                            <a:schemeClr val="accent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+ㄴ</a:t>
                      </a:r>
                      <a:r>
                        <a:rPr baseline="30000" lang="ko">
                          <a:solidFill>
                            <a:srgbClr val="34A85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#E</a:t>
                      </a:r>
                      <a:r>
                        <a:rPr lang="ko">
                          <a:solidFill>
                            <a:schemeClr val="accent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 거</a:t>
                      </a:r>
                      <a:r>
                        <a:rPr baseline="30000" lang="ko">
                          <a:solidFill>
                            <a:srgbClr val="34A85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#N</a:t>
                      </a:r>
                      <a:r>
                        <a:rPr lang="ko">
                          <a:solidFill>
                            <a:schemeClr val="accent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+이</a:t>
                      </a:r>
                      <a:r>
                        <a:rPr baseline="30000" lang="ko">
                          <a:solidFill>
                            <a:srgbClr val="34A85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#J</a:t>
                      </a:r>
                      <a:r>
                        <a:rPr lang="ko">
                          <a:solidFill>
                            <a:schemeClr val="accent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 나오</a:t>
                      </a:r>
                      <a:r>
                        <a:rPr baseline="30000" lang="ko">
                          <a:solidFill>
                            <a:srgbClr val="34A85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#V</a:t>
                      </a:r>
                      <a:r>
                        <a:rPr lang="ko">
                          <a:solidFill>
                            <a:schemeClr val="accent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+ㄹ</a:t>
                      </a:r>
                      <a:r>
                        <a:rPr baseline="30000" lang="ko">
                          <a:solidFill>
                            <a:srgbClr val="34A85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#E</a:t>
                      </a:r>
                      <a:r>
                        <a:rPr lang="ko">
                          <a:solidFill>
                            <a:schemeClr val="accent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+터</a:t>
                      </a:r>
                      <a:r>
                        <a:rPr baseline="30000" lang="ko">
                          <a:solidFill>
                            <a:srgbClr val="34A85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#N</a:t>
                      </a:r>
                      <a:r>
                        <a:rPr lang="ko">
                          <a:solidFill>
                            <a:schemeClr val="accent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+이</a:t>
                      </a:r>
                      <a:r>
                        <a:rPr baseline="30000" lang="ko">
                          <a:solidFill>
                            <a:srgbClr val="34A85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#V</a:t>
                      </a:r>
                      <a:r>
                        <a:rPr lang="ko">
                          <a:solidFill>
                            <a:schemeClr val="accent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+고</a:t>
                      </a:r>
                      <a:r>
                        <a:rPr baseline="30000" lang="ko">
                          <a:solidFill>
                            <a:srgbClr val="34A85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#E</a:t>
                      </a:r>
                      <a:r>
                        <a:rPr lang="ko">
                          <a:solidFill>
                            <a:schemeClr val="accent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+.</a:t>
                      </a:r>
                      <a:r>
                        <a:rPr baseline="30000" lang="ko">
                          <a:solidFill>
                            <a:srgbClr val="34A853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#S</a:t>
                      </a:r>
                      <a:endParaRPr baseline="30000">
                        <a:solidFill>
                          <a:srgbClr val="34A853"/>
                        </a:solidFill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4A8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242" name="Google Shape;242;p29"/>
          <p:cNvSpPr txBox="1"/>
          <p:nvPr>
            <p:ph type="title"/>
          </p:nvPr>
        </p:nvSpPr>
        <p:spPr>
          <a:xfrm>
            <a:off x="924050" y="286500"/>
            <a:ext cx="74667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분절 모델 레이블</a:t>
            </a:r>
            <a:endParaRPr/>
          </a:p>
        </p:txBody>
      </p:sp>
      <p:graphicFrame>
        <p:nvGraphicFramePr>
          <p:cNvPr id="243" name="Google Shape;243;p29"/>
          <p:cNvGraphicFramePr/>
          <p:nvPr/>
        </p:nvGraphicFramePr>
        <p:xfrm>
          <a:off x="423300" y="10870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{F609F05E-37EA-40B7-BE87-E0668D00872D}</a:tableStyleId>
              </a:tblPr>
              <a:tblGrid>
                <a:gridCol w="680750"/>
                <a:gridCol w="1255750"/>
                <a:gridCol w="1198125"/>
                <a:gridCol w="731500"/>
                <a:gridCol w="886275"/>
                <a:gridCol w="1189525"/>
                <a:gridCol w="1355900"/>
                <a:gridCol w="1198150"/>
              </a:tblGrid>
              <a:tr h="283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기본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54000" marB="54000" marR="54000" marL="540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활용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54000" marB="54000" marR="54000" marL="54000" anchor="ctr"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탈락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54000" marB="54000" marR="54000" marL="54000" anchor="ctr"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축약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54000" marB="54000" marR="54000" marL="5400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200">
                          <a:solidFill>
                            <a:srgbClr val="000000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생략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54000" marB="54000" marR="54000" marL="54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200">
                          <a:solidFill>
                            <a:srgbClr val="000000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기타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54000" marB="54000" marR="54000" marL="54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2546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체언_그대로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체언_분절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용언_그대로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용언_분절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어미_분절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어미_그대로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조사_분절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조사_그대로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관형_그대로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관형_분절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부사_그대로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부사_분절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감탄_그대로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감탄_분절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기호_분절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기호_그대로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ᄇ불규칙_어간_아어_앞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ᄇ불규칙_어간_으_앞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ᄇ불규칙_어미_아어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ᄇ불규칙_어미_ᄂᄅᄆᄇ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ᄇ불규칙_어미_으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ᄇ불규칙_특수_ᄂᄅ_우탈락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ᄇ불규칙_특수_아어_축약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ᄇ불규칙_특수_고은_고아라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ᄉ불규칙_어간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ᄉ불규칙_어_축약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ᄒ불규칙_어간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ᄒ불규칙_어미_ᄂᄅᄆ_축약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ᄒ불규칙_어미_아어_축약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ᄃ불규칙_어간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러불규칙_어미_어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우불규칙_어미_어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르불규칙_어간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르불규칙_어미_어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여불규칙_ᅢ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여불규칙_해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여불규칙_아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여불규칙_어미_어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ᅢ불규칙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ᄅ탈락_어간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ᄅ탈락_어미_ᄂ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ᄅ탈락_어미_ᄅ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ᄅ탈락_어미_ᄇ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ᄅ축약_어미_ᄆ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으탈락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ᄒ탈락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하탈락_지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어간_ᄂᄅᄇ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선어말어미_ᄂᄅᄆᄇ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어미_보조사_ᄂᄅ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조사_보조사_ᄂᄅ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명사류_보조사_ᄂᄅ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어미_보조사_ᄂᄅ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조사_보조사_ᄂᄅ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기타_보조사_ᄂᄅ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어간_ᄆ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중성중복_아어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중성중복_았었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이중모음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ᅢᅦ_어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의존명사_이_조사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의존명사_이_지정사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대명사_의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대명사_에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있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방언_었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되_돼_오류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세셔_선어말_시어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쇼슈_선어말_시오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죠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ᄒ_어근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ᄒ_어미_ᄀᄌᄃ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잖_지않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인용_하_ᄅᄂ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인용_대래재_도서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인용_대래재_하잖_앞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인용_이_대래재_하잖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인용_하시_어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인용_하시_었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잖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인용_하_얄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이_낸들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체언_이에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의존명사_이_ᄂᄅᄇ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부정_니에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하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하_어미축약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이_모음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이_자음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이_한글아님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이_인용_축약_이라하_ᄅ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이_인용_축약_이라하_아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이_축약_시어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이_시기_ᄂᄅᄇ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이_잖_이지않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이_인용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모음체언_이_ᄂᄅᄇ</a:t>
                      </a:r>
                      <a:r>
                        <a:rPr lang="ko" sz="800">
                          <a:solidFill>
                            <a:schemeClr val="dk1"/>
                          </a:solidFill>
                        </a:rPr>
                        <a:t>_1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모음체언_이_ᄂᄅᄇ</a:t>
                      </a:r>
                      <a:r>
                        <a:rPr lang="ko" sz="800">
                          <a:solidFill>
                            <a:schemeClr val="dk1"/>
                          </a:solidFill>
                        </a:rPr>
                        <a:t>_0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모음조사_이_ᄂᄅᄇ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명사말음_이_인일입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54000" marB="54000" marR="54000" marL="54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지정사_이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지정사_어미_오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지정사_어미_었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부정지정사_어미_야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지정사_어미_요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마_말아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이_모음순행동화_요여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54000" marB="54000" marR="54000" marL="54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16</a:t>
                      </a:r>
                      <a:endParaRPr sz="8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54000" marB="54000" marR="54000" marL="540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23</a:t>
                      </a:r>
                      <a:endParaRPr sz="8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54000" marB="54000" marR="54000" marL="54000" anchor="ctr"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8</a:t>
                      </a:r>
                      <a:endParaRPr sz="8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54000" marB="54000" marR="54000" marL="54000" anchor="ctr"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38</a:t>
                      </a:r>
                      <a:endParaRPr sz="8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54000" marB="54000" marR="54000" marL="5400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15</a:t>
                      </a:r>
                      <a:endParaRPr sz="8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54000" marB="54000" marR="54000" marL="54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7</a:t>
                      </a:r>
                      <a:endParaRPr sz="8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54000" marB="54000" marR="54000" marL="54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50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합계 107 개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54000" marB="54000" marR="54000" marL="540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0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249" name="Google Shape;249;p30"/>
          <p:cNvSpPr txBox="1"/>
          <p:nvPr>
            <p:ph type="title"/>
          </p:nvPr>
        </p:nvSpPr>
        <p:spPr>
          <a:xfrm>
            <a:off x="924050" y="286500"/>
            <a:ext cx="74667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형태정보를 활용한 임베딩</a:t>
            </a:r>
            <a:endParaRPr/>
          </a:p>
        </p:txBody>
      </p:sp>
      <p:graphicFrame>
        <p:nvGraphicFramePr>
          <p:cNvPr id="250" name="Google Shape;250;p30"/>
          <p:cNvGraphicFramePr/>
          <p:nvPr/>
        </p:nvGraphicFramePr>
        <p:xfrm>
          <a:off x="423600" y="1193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{7899E37F-F271-4D2A-9FBD-6BC374133D71}</a:tableStyleId>
              </a:tblPr>
              <a:tblGrid>
                <a:gridCol w="915875"/>
                <a:gridCol w="2114150"/>
                <a:gridCol w="2405400"/>
              </a:tblGrid>
              <a:tr h="221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형태정보</a:t>
                      </a:r>
                      <a:endParaRPr b="1"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45700" marB="45700" marR="63500" marL="63500" anchor="ctr">
                    <a:lnL cap="flat" cmpd="sng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원 품사</a:t>
                      </a:r>
                      <a:endParaRPr b="1"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45700" marB="45700" marR="63500" marL="63500" anchor="ctr">
                    <a:lnL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태깅 예시</a:t>
                      </a:r>
                      <a:endParaRPr b="1"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45700" marB="45700" marR="63500" marL="63500" anchor="ctr">
                    <a:lnL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4"/>
                    </a:solidFill>
                  </a:tcPr>
                </a:tc>
              </a:tr>
              <a:tr h="170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체언(N)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45700" marB="45700" marR="63500" marL="63500" anchor="ctr">
                    <a:lnL cap="flat" cmpd="sng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명사, 대명사 등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45700" marB="45700" marR="63500" marL="63500" anchor="ctr">
                    <a:lnL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우리#N, 그#N, 하나#N, 맨#N+발#N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45700" marB="45700" marR="63500" marL="63500" anchor="ctr">
                    <a:lnL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용언(V)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45700" marB="45700" marR="63500" marL="63500" anchor="ctr">
                    <a:lnL cap="flat" cmpd="sng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동사, 형용사, 이다 등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45700" marB="45700" marR="63500" marL="63500" anchor="ctr">
                    <a:lnL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짓#V, 만족#N+</a:t>
                      </a:r>
                      <a:r>
                        <a:rPr lang="ko" sz="1000" u="sng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하#V</a:t>
                      </a: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,힘들#V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45700" marB="45700" marR="63500" marL="63500" anchor="ctr">
                    <a:lnL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9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어미(E)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45700" marB="45700" marR="63500" marL="63500" anchor="ctr">
                    <a:lnL cap="flat" cmpd="sng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연결어미, 종결어미, 선어말어미 등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45700" marB="45700" marR="63500" marL="63500" anchor="ctr">
                    <a:lnL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었#E, 았#E, ㄴ#E, 란#E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45700" marB="45700" marR="63500" marL="63500" anchor="ctr">
                    <a:lnL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조사(J)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45700" marB="45700" marR="63500" marL="63500" anchor="ctr">
                    <a:lnL cap="flat" cmpd="sng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조사, 보조사 등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45700" marB="45700" marR="63500" marL="63500" anchor="ctr">
                    <a:lnL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과#J, 랑#J, 나#J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45700" marB="45700" marR="63500" marL="63500" anchor="ctr">
                    <a:lnL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관형사(M)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45700" marB="45700" marR="63500" marL="63500" anchor="ctr">
                    <a:lnL cap="flat" cmpd="sng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성상, 지시, 수 관형사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45700" marB="45700" marR="63500" marL="63500" anchor="ctr">
                    <a:lnL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이#M, 다른#M, 약#M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45700" marB="45700" marR="63500" marL="63500" anchor="ctr">
                    <a:lnL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부사(A)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45700" marB="45700" marR="63500" marL="63500" anchor="ctr">
                    <a:lnL cap="flat" cmpd="sng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부사, 접속부사 등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45700" marB="45700" marR="63500" marL="63500" anchor="ctr">
                    <a:lnL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과연#A, 지금#A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45700" marB="45700" marR="63500" marL="63500" anchor="ctr">
                    <a:lnL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감탄사(I)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45700" marB="45700" marR="63500" marL="63500" anchor="ctr">
                    <a:lnL cap="flat" cmpd="sng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감탄사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45700" marB="45700" marR="63500" marL="63500" anchor="ctr">
                    <a:lnL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에이#I, 그래#I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45700" marB="45700" marR="63500" marL="63500" anchor="ctr">
                    <a:lnL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기호(S)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45700" marB="45700" marR="63500" marL="63500" anchor="ctr">
                    <a:lnL cap="flat" cmpd="sng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각종 기호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45700" marB="45700" marR="63500" marL="63500" anchor="ctr">
                    <a:lnL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.#S, ?#S, ~#S</a:t>
                      </a:r>
                      <a:endParaRPr sz="10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45700" marB="45700" marR="63500" marL="63500" anchor="ctr">
                    <a:lnL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1" name="Google Shape;251;p30"/>
          <p:cNvSpPr txBox="1"/>
          <p:nvPr/>
        </p:nvSpPr>
        <p:spPr>
          <a:xfrm>
            <a:off x="423600" y="3733350"/>
            <a:ext cx="8273700" cy="1046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9900FF"/>
                </a:solidFill>
                <a:latin typeface="Gothic A1"/>
                <a:ea typeface="Gothic A1"/>
                <a:cs typeface="Gothic A1"/>
                <a:sym typeface="Gothic A1"/>
              </a:rPr>
              <a:t>동일한 표면형 (가#J, 가-#V, 가#N)을 각각 다른 토큰으로 처리</a:t>
            </a:r>
            <a:endParaRPr b="1">
              <a:solidFill>
                <a:srgbClr val="9900FF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1400"/>
              <a:buFont typeface="Gothic A1"/>
              <a:buChar char="➔"/>
            </a:pPr>
            <a:r>
              <a:rPr lang="ko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가#J: 조사, 가-#V, 가다, 가#N (명사형접미사, 명사 등)</a:t>
            </a:r>
            <a:endParaRPr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1400"/>
              <a:buFont typeface="Gothic A1"/>
              <a:buChar char="➔"/>
            </a:pPr>
            <a:r>
              <a:rPr b="1" lang="ko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1215</a:t>
            </a:r>
            <a:r>
              <a:rPr b="1" lang="ko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개 표면형이 같은 단어 발견 ⇒ 모호성을 개선하는 효과</a:t>
            </a:r>
            <a:endParaRPr>
              <a:latin typeface="Gothic A1"/>
              <a:ea typeface="Gothic A1"/>
              <a:cs typeface="Gothic A1"/>
              <a:sym typeface="Gothic A1"/>
            </a:endParaRPr>
          </a:p>
        </p:txBody>
      </p:sp>
      <p:graphicFrame>
        <p:nvGraphicFramePr>
          <p:cNvPr id="252" name="Google Shape;252;p30"/>
          <p:cNvGraphicFramePr/>
          <p:nvPr/>
        </p:nvGraphicFramePr>
        <p:xfrm>
          <a:off x="6198625" y="1193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{F609F05E-37EA-40B7-BE87-E0668D00872D}</a:tableStyleId>
              </a:tblPr>
              <a:tblGrid>
                <a:gridCol w="421025"/>
                <a:gridCol w="550150"/>
                <a:gridCol w="1527375"/>
              </a:tblGrid>
              <a:tr h="32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중복</a:t>
                      </a:r>
                      <a:endParaRPr sz="9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54000" marB="54000" marR="54000" marL="54000" anchor="ctr"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C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개수</a:t>
                      </a:r>
                      <a:endParaRPr sz="9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54000" marB="54000" marR="54000" marL="54000" anchor="ctr"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C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예시</a:t>
                      </a:r>
                      <a:endParaRPr sz="9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54000" marB="54000" marR="54000" marL="54000" anchor="ctr"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CE5"/>
                    </a:solidFill>
                  </a:tcPr>
                </a:tc>
              </a:tr>
              <a:tr h="772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2</a:t>
                      </a:r>
                      <a:endParaRPr sz="9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54000" marB="54000" marR="54000" marL="54000" anchor="ctr"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EFC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1048</a:t>
                      </a:r>
                      <a:endParaRPr b="1" sz="9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54000" marB="54000" marR="54000" marL="54000" anchor="ctr"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구기(구기다/구기),</a:t>
                      </a:r>
                      <a:endParaRPr b="1" sz="9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개(개다/개),</a:t>
                      </a:r>
                      <a:endParaRPr b="1" sz="9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그립(그립다/그립),</a:t>
                      </a:r>
                      <a:endParaRPr b="1" sz="9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기대(기대다/기대)</a:t>
                      </a:r>
                      <a:endParaRPr b="1" sz="9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54000" marB="54000" marR="54000" marL="54000" anchor="ctr"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</a:tr>
              <a:tr h="32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3</a:t>
                      </a:r>
                      <a:endParaRPr sz="9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54000" marB="54000" marR="54000" marL="54000" anchor="ctr">
                    <a:solidFill>
                      <a:srgbClr val="EEFC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117</a:t>
                      </a:r>
                      <a:endParaRPr sz="9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54000" marB="54000" marR="54000" marL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'ㄴ', 'ㄹ', '가로', '거', '걸'</a:t>
                      </a:r>
                      <a:endParaRPr sz="9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54000" marB="54000" marR="54000" marL="54000" anchor="ctr">
                    <a:solidFill>
                      <a:srgbClr val="FFFFFF"/>
                    </a:solidFill>
                  </a:tcPr>
                </a:tc>
              </a:tr>
              <a:tr h="32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4</a:t>
                      </a:r>
                      <a:endParaRPr sz="9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54000" marB="54000" marR="54000" marL="54000" anchor="ctr">
                    <a:solidFill>
                      <a:srgbClr val="EEFC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35</a:t>
                      </a:r>
                      <a:endParaRPr sz="9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54000" marB="54000" marR="54000" marL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'가', '게', '그', '까', '나'</a:t>
                      </a:r>
                      <a:endParaRPr sz="9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54000" marB="54000" marR="54000" marL="54000" anchor="ctr">
                    <a:solidFill>
                      <a:srgbClr val="FFFFFF"/>
                    </a:solidFill>
                  </a:tcPr>
                </a:tc>
              </a:tr>
              <a:tr h="32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5</a:t>
                      </a:r>
                      <a:endParaRPr sz="9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54000" marB="54000" marR="54000" marL="54000" anchor="ctr">
                    <a:solidFill>
                      <a:srgbClr val="EEFC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13</a:t>
                      </a:r>
                      <a:endParaRPr sz="9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54000" marB="54000" marR="54000" marL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'내', '들', '마', '매', '서'</a:t>
                      </a:r>
                      <a:endParaRPr sz="9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54000" marB="54000" marR="54000" marL="54000" anchor="ctr">
                    <a:solidFill>
                      <a:srgbClr val="FFFFFF"/>
                    </a:solidFill>
                  </a:tcPr>
                </a:tc>
              </a:tr>
              <a:tr h="32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6</a:t>
                      </a:r>
                      <a:endParaRPr sz="9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54000" marB="54000" marR="54000" marL="54000" anchor="ctr">
                    <a:solidFill>
                      <a:srgbClr val="EEFC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3</a:t>
                      </a:r>
                      <a:endParaRPr sz="9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54000" marB="54000" marR="54000" marL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'고', '모', '이'</a:t>
                      </a:r>
                      <a:endParaRPr sz="9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54000" marB="54000" marR="54000" marL="54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3" name="Google Shape;253;p30"/>
          <p:cNvSpPr txBox="1"/>
          <p:nvPr/>
        </p:nvSpPr>
        <p:spPr>
          <a:xfrm>
            <a:off x="8135000" y="4635050"/>
            <a:ext cx="10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thic A1"/>
              <a:ea typeface="Gothic A1"/>
              <a:cs typeface="Gothic A1"/>
              <a:sym typeface="Gothic A1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259" name="Google Shape;259;p31"/>
          <p:cNvSpPr txBox="1"/>
          <p:nvPr>
            <p:ph type="title"/>
          </p:nvPr>
        </p:nvSpPr>
        <p:spPr>
          <a:xfrm>
            <a:off x="924050" y="286500"/>
            <a:ext cx="74667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토큰 분리 기능만 수행</a:t>
            </a:r>
            <a:endParaRPr/>
          </a:p>
        </p:txBody>
      </p:sp>
      <p:sp>
        <p:nvSpPr>
          <p:cNvPr id="260" name="Google Shape;260;p31"/>
          <p:cNvSpPr txBox="1"/>
          <p:nvPr/>
        </p:nvSpPr>
        <p:spPr>
          <a:xfrm>
            <a:off x="7027275" y="2220100"/>
            <a:ext cx="1701600" cy="1569900"/>
          </a:xfrm>
          <a:prstGeom prst="rect">
            <a:avLst/>
          </a:prstGeom>
          <a:noFill/>
          <a:ln cap="flat" cmpd="sng" w="19050">
            <a:solidFill>
              <a:srgbClr val="9900F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47품사체계가 아닌 8성분 체계.</a:t>
            </a:r>
            <a:endParaRPr sz="15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BERT, GPT 류의 토크분리기를 대체 가능.</a:t>
            </a:r>
            <a:endParaRPr sz="15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graphicFrame>
        <p:nvGraphicFramePr>
          <p:cNvPr id="261" name="Google Shape;261;p31"/>
          <p:cNvGraphicFramePr/>
          <p:nvPr/>
        </p:nvGraphicFramePr>
        <p:xfrm>
          <a:off x="2512613" y="1193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{E0FCCD9F-2931-4359-8EE8-A17C1EFFD06F}</a:tableStyleId>
              </a:tblPr>
              <a:tblGrid>
                <a:gridCol w="548875"/>
                <a:gridCol w="1349625"/>
                <a:gridCol w="1328375"/>
                <a:gridCol w="1062700"/>
              </a:tblGrid>
              <a:tr h="241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번호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어절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형태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힌트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241700">
                <a:tc rowSpan="1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1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형태소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형태소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N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700">
                <a:tc vMerge="1"/>
                <a:tc row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분석인듯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분석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N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70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이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V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70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ㄴ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E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70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듯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N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700">
                <a:tc vMerge="1"/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아닌듯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아니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V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70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ㄴ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E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70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듯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N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700">
                <a:tc vMerge="1"/>
                <a:tc rowSpan="6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단어만분리합니다.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단어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N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70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만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J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70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분리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N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70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하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V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70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ㅂ니다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E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70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.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S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2" name="Google Shape;262;p31"/>
          <p:cNvSpPr/>
          <p:nvPr/>
        </p:nvSpPr>
        <p:spPr>
          <a:xfrm>
            <a:off x="2144700" y="2464725"/>
            <a:ext cx="548700" cy="558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7D8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1"/>
          <p:cNvSpPr txBox="1"/>
          <p:nvPr/>
        </p:nvSpPr>
        <p:spPr>
          <a:xfrm>
            <a:off x="423600" y="2220100"/>
            <a:ext cx="1721100" cy="1046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형태소 분석인듯 아닌듯 단어만 분리합니다. </a:t>
            </a:r>
            <a:endParaRPr>
              <a:latin typeface="Gothic A1"/>
              <a:ea typeface="Gothic A1"/>
              <a:cs typeface="Gothic A1"/>
              <a:sym typeface="Gothic A1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2"/>
          <p:cNvSpPr txBox="1"/>
          <p:nvPr>
            <p:ph type="title"/>
          </p:nvPr>
        </p:nvSpPr>
        <p:spPr>
          <a:xfrm>
            <a:off x="924050" y="286500"/>
            <a:ext cx="74667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뉴스 기사 1억 어절 학습 데이터 구축</a:t>
            </a:r>
            <a:endParaRPr/>
          </a:p>
        </p:txBody>
      </p:sp>
      <p:sp>
        <p:nvSpPr>
          <p:cNvPr id="269" name="Google Shape;269;p32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270" name="Google Shape;270;p32"/>
          <p:cNvSpPr txBox="1"/>
          <p:nvPr/>
        </p:nvSpPr>
        <p:spPr>
          <a:xfrm>
            <a:off x="4158050" y="32401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태깅 정확도 향상</a:t>
            </a:r>
            <a:endParaRPr sz="24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271" name="Google Shape;271;p32"/>
          <p:cNvSpPr txBox="1"/>
          <p:nvPr/>
        </p:nvSpPr>
        <p:spPr>
          <a:xfrm>
            <a:off x="4158050" y="3671200"/>
            <a:ext cx="43695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7CBE5F"/>
              </a:buClr>
              <a:buSzPts val="1400"/>
              <a:buFont typeface="Gothic A1"/>
              <a:buChar char="●"/>
            </a:pPr>
            <a:r>
              <a:rPr lang="ko" sz="1300">
                <a:solidFill>
                  <a:schemeClr val="dk1"/>
                </a:solidFill>
              </a:rPr>
              <a:t>태깅 정확도: 99.6% ⟶ 99.84%</a:t>
            </a:r>
            <a:endParaRPr sz="13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CBE5F"/>
              </a:buClr>
              <a:buSzPts val="1400"/>
              <a:buFont typeface="Gothic A1"/>
              <a:buChar char="●"/>
            </a:pPr>
            <a:r>
              <a:rPr lang="ko" sz="1300">
                <a:solidFill>
                  <a:schemeClr val="dk1"/>
                </a:solidFill>
              </a:rPr>
              <a:t>학습 글자 종류수 증가: 2,552 ⟶ 3,467 음절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272" name="Google Shape;27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675" y="1267275"/>
            <a:ext cx="3398651" cy="3343877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2"/>
          <p:cNvSpPr txBox="1"/>
          <p:nvPr/>
        </p:nvSpPr>
        <p:spPr>
          <a:xfrm>
            <a:off x="4158050" y="119387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대용량 데이터 MDS 기반 추출</a:t>
            </a:r>
            <a:endParaRPr sz="24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274" name="Google Shape;274;p32"/>
          <p:cNvSpPr txBox="1"/>
          <p:nvPr/>
        </p:nvSpPr>
        <p:spPr>
          <a:xfrm>
            <a:off x="4158050" y="1624975"/>
            <a:ext cx="46965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7CBE5F"/>
              </a:buClr>
              <a:buSzPts val="1400"/>
              <a:buFont typeface="Gothic A1"/>
              <a:buChar char="●"/>
            </a:pPr>
            <a:r>
              <a:rPr lang="ko" sz="13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1999 ~ 2021년도</a:t>
            </a:r>
            <a:endParaRPr sz="13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CBE5F"/>
              </a:buClr>
              <a:buSzPts val="1400"/>
              <a:buFont typeface="Gothic A1"/>
              <a:buChar char="●"/>
            </a:pPr>
            <a:r>
              <a:rPr lang="ko" sz="13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사회, 경제, 문화, 정치, 지역, IT, 국제, 스포츠 등 8개 분류</a:t>
            </a:r>
            <a:endParaRPr sz="13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CBE5F"/>
              </a:buClr>
              <a:buSzPts val="1400"/>
              <a:buFont typeface="Gothic A1"/>
              <a:buChar char="●"/>
            </a:pPr>
            <a:r>
              <a:rPr lang="ko" sz="13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54개 매체로 구성된 뉴스 기사</a:t>
            </a:r>
            <a:endParaRPr sz="13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CBE5F"/>
              </a:buClr>
              <a:buSzPts val="1400"/>
              <a:buFont typeface="Gothic A1"/>
              <a:buChar char="●"/>
            </a:pPr>
            <a:r>
              <a:rPr lang="ko" sz="13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총 95억 어절 데이터 중 1억 어절 추출</a:t>
            </a:r>
            <a:endParaRPr sz="13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CBE5F"/>
              </a:buClr>
              <a:buSzPts val="1400"/>
              <a:buFont typeface="Gothic A1"/>
              <a:buChar char="●"/>
            </a:pPr>
            <a:r>
              <a:rPr lang="ko" sz="13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최대 다양성 표집(MDS) 통계 기법 적용</a:t>
            </a:r>
            <a:endParaRPr sz="13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3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280" name="Google Shape;280;p33"/>
          <p:cNvSpPr txBox="1"/>
          <p:nvPr>
            <p:ph type="title"/>
          </p:nvPr>
        </p:nvSpPr>
        <p:spPr>
          <a:xfrm>
            <a:off x="924050" y="286500"/>
            <a:ext cx="74667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동사 형용사 사전 추가</a:t>
            </a:r>
            <a:endParaRPr/>
          </a:p>
        </p:txBody>
      </p:sp>
      <p:sp>
        <p:nvSpPr>
          <p:cNvPr id="281" name="Google Shape;281;p33"/>
          <p:cNvSpPr/>
          <p:nvPr/>
        </p:nvSpPr>
        <p:spPr>
          <a:xfrm>
            <a:off x="4722367" y="1193875"/>
            <a:ext cx="1828800" cy="1828800"/>
          </a:xfrm>
          <a:prstGeom prst="ellipse">
            <a:avLst/>
          </a:prstGeom>
          <a:solidFill>
            <a:srgbClr val="F3F3F3"/>
          </a:solidFill>
          <a:ln>
            <a:noFill/>
          </a:ln>
          <a:effectLst>
            <a:outerShdw blurRad="285750" rotWithShape="0" algn="bl" dir="2460000" dist="104775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latin typeface="IBM Plex Sans KR"/>
                <a:ea typeface="IBM Plex Sans KR"/>
                <a:cs typeface="IBM Plex Sans KR"/>
                <a:sym typeface="IBM Plex Sans KR"/>
              </a:rPr>
              <a:t>동사</a:t>
            </a:r>
            <a:endParaRPr sz="2000"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latin typeface="IBM Plex Sans KR"/>
                <a:ea typeface="IBM Plex Sans KR"/>
                <a:cs typeface="IBM Plex Sans KR"/>
                <a:sym typeface="IBM Plex Sans KR"/>
              </a:rPr>
              <a:t>사전</a:t>
            </a:r>
            <a:endParaRPr sz="2000"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latin typeface="IBM Plex Sans KR"/>
                <a:ea typeface="IBM Plex Sans KR"/>
                <a:cs typeface="IBM Plex Sans KR"/>
                <a:sym typeface="IBM Plex Sans KR"/>
              </a:rPr>
              <a:t>58,136</a:t>
            </a:r>
            <a:endParaRPr sz="20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82" name="Google Shape;282;p33"/>
          <p:cNvSpPr/>
          <p:nvPr/>
        </p:nvSpPr>
        <p:spPr>
          <a:xfrm>
            <a:off x="6793525" y="1193875"/>
            <a:ext cx="1828800" cy="1828800"/>
          </a:xfrm>
          <a:prstGeom prst="ellipse">
            <a:avLst/>
          </a:prstGeom>
          <a:solidFill>
            <a:srgbClr val="F3F3F3"/>
          </a:solidFill>
          <a:ln>
            <a:noFill/>
          </a:ln>
          <a:effectLst>
            <a:outerShdw blurRad="285750" rotWithShape="0" algn="bl" dir="2460000" dist="104775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latin typeface="IBM Plex Sans KR"/>
                <a:ea typeface="IBM Plex Sans KR"/>
                <a:cs typeface="IBM Plex Sans KR"/>
                <a:sym typeface="IBM Plex Sans KR"/>
              </a:rPr>
              <a:t>형용사 사전</a:t>
            </a:r>
            <a:endParaRPr sz="2000"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latin typeface="IBM Plex Sans KR"/>
                <a:ea typeface="IBM Plex Sans KR"/>
                <a:cs typeface="IBM Plex Sans KR"/>
                <a:sym typeface="IBM Plex Sans KR"/>
              </a:rPr>
              <a:t>17,855</a:t>
            </a:r>
            <a:endParaRPr sz="20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83" name="Google Shape;283;p33"/>
          <p:cNvSpPr/>
          <p:nvPr/>
        </p:nvSpPr>
        <p:spPr>
          <a:xfrm>
            <a:off x="580050" y="1193875"/>
            <a:ext cx="1828800" cy="1828800"/>
          </a:xfrm>
          <a:prstGeom prst="ellipse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2000">
                <a:solidFill>
                  <a:schemeClr val="dk1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복합명사사전 257,027</a:t>
            </a:r>
            <a:endParaRPr sz="20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84" name="Google Shape;284;p33"/>
          <p:cNvSpPr/>
          <p:nvPr/>
        </p:nvSpPr>
        <p:spPr>
          <a:xfrm>
            <a:off x="2651208" y="1193875"/>
            <a:ext cx="1828800" cy="1828800"/>
          </a:xfrm>
          <a:prstGeom prst="ellipse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2000">
                <a:solidFill>
                  <a:schemeClr val="dk1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복합명사분리사전</a:t>
            </a:r>
            <a:endParaRPr sz="2000">
              <a:solidFill>
                <a:schemeClr val="dk1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1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365,756</a:t>
            </a:r>
            <a:endParaRPr sz="20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285" name="Google Shape;285;p33"/>
          <p:cNvSpPr txBox="1"/>
          <p:nvPr/>
        </p:nvSpPr>
        <p:spPr>
          <a:xfrm>
            <a:off x="423600" y="3650725"/>
            <a:ext cx="8301000" cy="1046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434343"/>
                </a:solidFill>
                <a:latin typeface="Gothic A1"/>
                <a:ea typeface="Gothic A1"/>
                <a:cs typeface="Gothic A1"/>
                <a:sym typeface="Gothic A1"/>
              </a:rPr>
              <a:t>기존의 형태 분석기는 “-하다”, “-되다”가 붙은 경우에는 거의 대부분 명사+접미사로만 분석하는 경향이 높지만, 국립국어원의 지침에 따라 우리말샘에 등재된 모든 합성 동사 및 합성 형용사들을 제대로 출력가능하게 되었습니다.</a:t>
            </a:r>
            <a:endParaRPr>
              <a:solidFill>
                <a:srgbClr val="434343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4"/>
          <p:cNvSpPr txBox="1"/>
          <p:nvPr>
            <p:ph idx="12" type="sldNum"/>
          </p:nvPr>
        </p:nvSpPr>
        <p:spPr>
          <a:xfrm>
            <a:off x="4297650" y="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291" name="Google Shape;291;p34"/>
          <p:cNvSpPr txBox="1"/>
          <p:nvPr>
            <p:ph idx="1" type="body"/>
          </p:nvPr>
        </p:nvSpPr>
        <p:spPr>
          <a:xfrm>
            <a:off x="2105050" y="471775"/>
            <a:ext cx="4933800" cy="258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ko"/>
              <a:t>그래서</a:t>
            </a:r>
            <a:endParaRPr/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ko"/>
              <a:t>제대로 학습한</a:t>
            </a:r>
            <a:endParaRPr/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ko"/>
              <a:t>바른은</a:t>
            </a:r>
            <a:endParaRPr/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ko"/>
              <a:t>바르게 분석해 냅니다.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 txBox="1"/>
          <p:nvPr>
            <p:ph idx="1" type="body"/>
          </p:nvPr>
        </p:nvSpPr>
        <p:spPr>
          <a:xfrm>
            <a:off x="423600" y="1193875"/>
            <a:ext cx="3492900" cy="17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ko"/>
              <a:t>모호성 데이터 구축 및 학습 데이터 보강</a:t>
            </a:r>
            <a:endParaRPr b="1"/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ko"/>
              <a:t>평가 데이터 35,396 문장 구축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ko"/>
              <a:t>8,285개의 표면형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ko"/>
              <a:t>부족한 표면형 데이터 보강</a:t>
            </a:r>
            <a:endParaRPr/>
          </a:p>
        </p:txBody>
      </p:sp>
      <p:sp>
        <p:nvSpPr>
          <p:cNvPr id="297" name="Google Shape;297;p3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298" name="Google Shape;298;p35"/>
          <p:cNvSpPr txBox="1"/>
          <p:nvPr>
            <p:ph type="title"/>
          </p:nvPr>
        </p:nvSpPr>
        <p:spPr>
          <a:xfrm>
            <a:off x="924050" y="286500"/>
            <a:ext cx="74667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모호성 해소 정확도 </a:t>
            </a:r>
            <a:endParaRPr/>
          </a:p>
        </p:txBody>
      </p:sp>
      <p:pic>
        <p:nvPicPr>
          <p:cNvPr id="299" name="Google Shape;299;p35" title="차트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8500" y="1193875"/>
            <a:ext cx="5144650" cy="317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6"/>
          <p:cNvSpPr txBox="1"/>
          <p:nvPr>
            <p:ph idx="1" type="body"/>
          </p:nvPr>
        </p:nvSpPr>
        <p:spPr>
          <a:xfrm>
            <a:off x="423601" y="1193875"/>
            <a:ext cx="4882800" cy="118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ko"/>
              <a:t>“ </a:t>
            </a:r>
            <a:r>
              <a:rPr b="1" lang="ko">
                <a:solidFill>
                  <a:srgbClr val="F36F21"/>
                </a:solidFill>
              </a:rPr>
              <a:t>트는</a:t>
            </a:r>
            <a:r>
              <a:rPr b="1" lang="ko"/>
              <a:t> ”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ko"/>
              <a:t>1. </a:t>
            </a:r>
            <a:r>
              <a:rPr b="1" lang="ko">
                <a:latin typeface="Arial"/>
                <a:ea typeface="Arial"/>
                <a:cs typeface="Arial"/>
                <a:sym typeface="Arial"/>
              </a:rPr>
              <a:t>내가 좋아하는 곡을 </a:t>
            </a:r>
            <a:r>
              <a:rPr b="1" lang="ko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트는</a:t>
            </a:r>
            <a:r>
              <a:rPr b="1" lang="ko">
                <a:latin typeface="Arial"/>
                <a:ea typeface="Arial"/>
                <a:cs typeface="Arial"/>
                <a:sym typeface="Arial"/>
              </a:rPr>
              <a:t> 엄마가 좋았다.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ko"/>
              <a:t>2. 동이 </a:t>
            </a:r>
            <a:r>
              <a:rPr b="1" lang="ko">
                <a:solidFill>
                  <a:srgbClr val="0000FF"/>
                </a:solidFill>
              </a:rPr>
              <a:t>트는</a:t>
            </a:r>
            <a:r>
              <a:rPr b="1" lang="ko"/>
              <a:t> 아침 시각에</a:t>
            </a:r>
            <a:endParaRPr/>
          </a:p>
        </p:txBody>
      </p:sp>
      <p:sp>
        <p:nvSpPr>
          <p:cNvPr id="305" name="Google Shape;305;p36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306" name="Google Shape;306;p36"/>
          <p:cNvSpPr txBox="1"/>
          <p:nvPr>
            <p:ph type="title"/>
          </p:nvPr>
        </p:nvSpPr>
        <p:spPr>
          <a:xfrm>
            <a:off x="924050" y="286500"/>
            <a:ext cx="74667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모호성 해소 정확도</a:t>
            </a:r>
            <a:endParaRPr/>
          </a:p>
        </p:txBody>
      </p:sp>
      <p:graphicFrame>
        <p:nvGraphicFramePr>
          <p:cNvPr id="307" name="Google Shape;307;p36"/>
          <p:cNvGraphicFramePr/>
          <p:nvPr/>
        </p:nvGraphicFramePr>
        <p:xfrm>
          <a:off x="423538" y="2460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{F609F05E-37EA-40B7-BE87-E0668D00872D}</a:tableStyleId>
              </a:tblPr>
              <a:tblGrid>
                <a:gridCol w="1069200"/>
                <a:gridCol w="1805600"/>
                <a:gridCol w="1805600"/>
                <a:gridCol w="1805600"/>
                <a:gridCol w="180560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단어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바른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ETRI(엑소브레인)</a:t>
                      </a:r>
                      <a:endParaRPr baseline="30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Mecab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카카오(Khaiii)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672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트는(틀다)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곡/NNG+을/JKO+</a:t>
                      </a:r>
                      <a:endParaRPr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0000FF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틀/VV+는/ETM</a:t>
                      </a:r>
                      <a:endParaRPr>
                        <a:solidFill>
                          <a:srgbClr val="0000FF"/>
                        </a:solidFill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000000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곡/NNG+을/JKO+</a:t>
                      </a:r>
                      <a:endParaRPr>
                        <a:solidFill>
                          <a:srgbClr val="000000"/>
                        </a:solidFill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rgbClr val="FF0000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트/VV+는/ETM</a:t>
                      </a:r>
                      <a:endParaRPr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000000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곡/NNG+을/JKO+</a:t>
                      </a:r>
                      <a:endParaRPr>
                        <a:solidFill>
                          <a:srgbClr val="000000"/>
                        </a:solidFill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rgbClr val="FF0000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트/VV+는/ETM</a:t>
                      </a:r>
                      <a:endParaRPr>
                        <a:solidFill>
                          <a:srgbClr val="000000"/>
                        </a:solidFill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000000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곡/NNG+을/JKO+</a:t>
                      </a:r>
                      <a:endParaRPr>
                        <a:solidFill>
                          <a:srgbClr val="000000"/>
                        </a:solidFill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rgbClr val="FF0000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트/VV+는/ETM</a:t>
                      </a:r>
                      <a:endParaRPr>
                        <a:solidFill>
                          <a:srgbClr val="000000"/>
                        </a:solidFill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2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트는(트다)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동/NNG+이/JKS+</a:t>
                      </a:r>
                      <a:endParaRPr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0000FF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트/VV+는/ETM</a:t>
                      </a:r>
                      <a:endParaRPr>
                        <a:solidFill>
                          <a:srgbClr val="0000FF"/>
                        </a:solidFill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동/NNG+이/JKS+</a:t>
                      </a:r>
                      <a:endParaRPr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FF0000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틀/VV+는/ETM</a:t>
                      </a:r>
                      <a:endParaRPr>
                        <a:solidFill>
                          <a:srgbClr val="FF0000"/>
                        </a:solidFill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000000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동/NNG+이/JKS+</a:t>
                      </a:r>
                      <a:endParaRPr>
                        <a:solidFill>
                          <a:srgbClr val="000000"/>
                        </a:solidFill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rgbClr val="0000FF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트/VV+는/ETM</a:t>
                      </a:r>
                      <a:endParaRPr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동/NNG+이/JKS+</a:t>
                      </a:r>
                      <a:endParaRPr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FF0000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틀/VV+는/ETM</a:t>
                      </a:r>
                      <a:endParaRPr>
                        <a:solidFill>
                          <a:srgbClr val="FF0000"/>
                        </a:solidFill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8" name="Google Shape;308;p36"/>
          <p:cNvSpPr txBox="1"/>
          <p:nvPr/>
        </p:nvSpPr>
        <p:spPr>
          <a:xfrm>
            <a:off x="5501288" y="1336825"/>
            <a:ext cx="3000000" cy="10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005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ko" sz="1150">
                <a:solidFill>
                  <a:srgbClr val="F36F21"/>
                </a:solidFill>
                <a:uFill>
                  <a:noFill/>
                </a:uFill>
                <a:latin typeface="Gothic A1"/>
                <a:ea typeface="Gothic A1"/>
                <a:cs typeface="Gothic A1"/>
                <a:sym typeface="Gothic A1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틀다</a:t>
            </a:r>
            <a:r>
              <a:rPr lang="ko" sz="1150">
                <a:solidFill>
                  <a:srgbClr val="666666"/>
                </a:solidFill>
                <a:uFill>
                  <a:noFill/>
                </a:uFill>
                <a:latin typeface="Gothic A1"/>
                <a:ea typeface="Gothic A1"/>
                <a:cs typeface="Gothic A1"/>
                <a:sym typeface="Gothic A1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ko" sz="1000">
                <a:solidFill>
                  <a:srgbClr val="CF8B62"/>
                </a:solidFill>
                <a:uFill>
                  <a:noFill/>
                </a:uFill>
                <a:latin typeface="Gothic A1"/>
                <a:ea typeface="Gothic A1"/>
                <a:cs typeface="Gothic A1"/>
                <a:sym typeface="Gothic A1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「003」</a:t>
            </a:r>
            <a:r>
              <a:rPr lang="ko" sz="1150">
                <a:solidFill>
                  <a:srgbClr val="666666"/>
                </a:solidFill>
                <a:uFill>
                  <a:noFill/>
                </a:uFill>
                <a:latin typeface="Gothic A1"/>
                <a:ea typeface="Gothic A1"/>
                <a:cs typeface="Gothic A1"/>
                <a:sym typeface="Gothic A1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ko" sz="1150">
                <a:solidFill>
                  <a:srgbClr val="A49255"/>
                </a:solidFill>
                <a:uFill>
                  <a:noFill/>
                </a:uFill>
                <a:latin typeface="Gothic A1"/>
                <a:ea typeface="Gothic A1"/>
                <a:cs typeface="Gothic A1"/>
                <a:sym typeface="Gothic A1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「동사」</a:t>
            </a:r>
            <a:r>
              <a:rPr lang="ko" sz="1150">
                <a:solidFill>
                  <a:srgbClr val="666666"/>
                </a:solidFill>
                <a:uFill>
                  <a:noFill/>
                </a:uFill>
                <a:latin typeface="Gothic A1"/>
                <a:ea typeface="Gothic A1"/>
                <a:cs typeface="Gothic A1"/>
                <a:sym typeface="Gothic A1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【…을】 음향 기기 따위를 작동하게 하다.</a:t>
            </a:r>
            <a:endParaRPr b="1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ko" sz="1150">
                <a:solidFill>
                  <a:srgbClr val="F36F21"/>
                </a:solidFill>
                <a:uFill>
                  <a:noFill/>
                </a:uFill>
                <a:latin typeface="Gothic A1"/>
                <a:ea typeface="Gothic A1"/>
                <a:cs typeface="Gothic A1"/>
                <a:sym typeface="Gothic A1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트다</a:t>
            </a:r>
            <a:r>
              <a:rPr lang="ko" sz="1150">
                <a:solidFill>
                  <a:srgbClr val="666666"/>
                </a:solidFill>
                <a:uFill>
                  <a:noFill/>
                </a:uFill>
                <a:latin typeface="Gothic A1"/>
                <a:ea typeface="Gothic A1"/>
                <a:cs typeface="Gothic A1"/>
                <a:sym typeface="Gothic A1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ko" sz="1000">
                <a:solidFill>
                  <a:srgbClr val="CF8B62"/>
                </a:solidFill>
                <a:uFill>
                  <a:noFill/>
                </a:uFill>
                <a:latin typeface="Gothic A1"/>
                <a:ea typeface="Gothic A1"/>
                <a:cs typeface="Gothic A1"/>
                <a:sym typeface="Gothic A1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「003」</a:t>
            </a:r>
            <a:r>
              <a:rPr lang="ko" sz="1150">
                <a:solidFill>
                  <a:srgbClr val="666666"/>
                </a:solidFill>
                <a:uFill>
                  <a:noFill/>
                </a:uFill>
                <a:latin typeface="Gothic A1"/>
                <a:ea typeface="Gothic A1"/>
                <a:cs typeface="Gothic A1"/>
                <a:sym typeface="Gothic A1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ko" sz="1150">
                <a:solidFill>
                  <a:srgbClr val="A49255"/>
                </a:solidFill>
                <a:uFill>
                  <a:noFill/>
                </a:uFill>
                <a:latin typeface="Gothic A1"/>
                <a:ea typeface="Gothic A1"/>
                <a:cs typeface="Gothic A1"/>
                <a:sym typeface="Gothic A1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「동사」</a:t>
            </a:r>
            <a:r>
              <a:rPr lang="ko" sz="1150">
                <a:solidFill>
                  <a:srgbClr val="666666"/>
                </a:solidFill>
                <a:uFill>
                  <a:noFill/>
                </a:uFill>
                <a:latin typeface="Gothic A1"/>
                <a:ea typeface="Gothic A1"/>
                <a:cs typeface="Gothic A1"/>
                <a:sym typeface="Gothic A1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날이 새면서 동쪽 하늘이 훤해지다.</a:t>
            </a:r>
            <a:endParaRPr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309" name="Google Shape;309;p36"/>
          <p:cNvSpPr txBox="1"/>
          <p:nvPr/>
        </p:nvSpPr>
        <p:spPr>
          <a:xfrm>
            <a:off x="683263" y="4277600"/>
            <a:ext cx="77775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9900FF"/>
                </a:solidFill>
                <a:latin typeface="Gothic A1"/>
                <a:ea typeface="Gothic A1"/>
                <a:cs typeface="Gothic A1"/>
                <a:sym typeface="Gothic A1"/>
              </a:rPr>
              <a:t>어절의 모양은 같지만 분석이 달라지는 경우</a:t>
            </a:r>
            <a:r>
              <a:rPr lang="ko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가 한국어는 많습니다. 사람도 간혹 틀립니다.</a:t>
            </a:r>
            <a:endParaRPr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한국어 형태소 분석기는 이런 문제도 잘 해결해야 합니다.</a:t>
            </a:r>
            <a:endParaRPr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37" title="차트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1000" y="1255500"/>
            <a:ext cx="4800599" cy="30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7"/>
          <p:cNvSpPr txBox="1"/>
          <p:nvPr>
            <p:ph idx="1" type="body"/>
          </p:nvPr>
        </p:nvSpPr>
        <p:spPr>
          <a:xfrm>
            <a:off x="423600" y="2813275"/>
            <a:ext cx="3564600" cy="16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ko"/>
              <a:t>평가 데이터</a:t>
            </a:r>
            <a:endParaRPr b="1"/>
          </a:p>
          <a:p>
            <a:pPr indent="-292100" lvl="0" marL="457200" rtl="0" algn="l">
              <a:spcBef>
                <a:spcPts val="60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‘형태분석 말뭉치(국립국어원 모두의 말뭉치)'에서 서술격 조사 </a:t>
            </a:r>
            <a:r>
              <a:rPr lang="ko" sz="1000">
                <a:solidFill>
                  <a:srgbClr val="0000FF"/>
                </a:solidFill>
              </a:rPr>
              <a:t>‘이'가 포함되고, 생략된 문장</a:t>
            </a:r>
            <a:r>
              <a:rPr lang="ko" sz="1000"/>
              <a:t> 12,129개 추출</a:t>
            </a:r>
            <a:endParaRPr sz="1000"/>
          </a:p>
        </p:txBody>
      </p:sp>
      <p:sp>
        <p:nvSpPr>
          <p:cNvPr id="316" name="Google Shape;316;p37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317" name="Google Shape;317;p37"/>
          <p:cNvSpPr txBox="1"/>
          <p:nvPr>
            <p:ph type="title"/>
          </p:nvPr>
        </p:nvSpPr>
        <p:spPr>
          <a:xfrm>
            <a:off x="924050" y="286500"/>
            <a:ext cx="74667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VCP 복원 정확도</a:t>
            </a:r>
            <a:endParaRPr/>
          </a:p>
        </p:txBody>
      </p:sp>
      <p:sp>
        <p:nvSpPr>
          <p:cNvPr id="318" name="Google Shape;318;p37"/>
          <p:cNvSpPr txBox="1"/>
          <p:nvPr>
            <p:ph idx="1" type="body"/>
          </p:nvPr>
        </p:nvSpPr>
        <p:spPr>
          <a:xfrm>
            <a:off x="423600" y="1193875"/>
            <a:ext cx="4172400" cy="15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ko"/>
              <a:t>서술격 조사 이(VCP)</a:t>
            </a:r>
            <a:endParaRPr b="1"/>
          </a:p>
          <a:p>
            <a:pPr indent="-292100" lvl="0" marL="457200" rtl="0" algn="l">
              <a:spcBef>
                <a:spcPts val="60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컴퓨터 프로그램 평갑니다.(평가/NNG+</a:t>
            </a:r>
            <a:r>
              <a:rPr lang="ko" sz="1000">
                <a:solidFill>
                  <a:srgbClr val="0000FF"/>
                </a:solidFill>
              </a:rPr>
              <a:t>이/VCP</a:t>
            </a:r>
            <a:r>
              <a:rPr lang="ko" sz="1000"/>
              <a:t>+ㅂ니다/EF)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숨은 원동력은 수비다(수비/NNG+</a:t>
            </a:r>
            <a:r>
              <a:rPr lang="ko" sz="1000">
                <a:solidFill>
                  <a:srgbClr val="0000FF"/>
                </a:solidFill>
              </a:rPr>
              <a:t>이/VCP</a:t>
            </a:r>
            <a:r>
              <a:rPr lang="ko" sz="1000"/>
              <a:t>+다/EF)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이미 세계를 넘은 그였다(그/NP+</a:t>
            </a:r>
            <a:r>
              <a:rPr lang="ko" sz="1000">
                <a:solidFill>
                  <a:srgbClr val="0000FF"/>
                </a:solidFill>
              </a:rPr>
              <a:t>이/VCP</a:t>
            </a:r>
            <a:r>
              <a:rPr lang="ko" sz="1000"/>
              <a:t>+었/EP+다/EF)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전달될 거라고(거/NNB+</a:t>
            </a:r>
            <a:r>
              <a:rPr lang="ko" sz="1000">
                <a:solidFill>
                  <a:srgbClr val="0000FF"/>
                </a:solidFill>
              </a:rPr>
              <a:t>이/VCP</a:t>
            </a:r>
            <a:r>
              <a:rPr lang="ko" sz="1000"/>
              <a:t>+라고/EC) 굳게 믿는다.</a:t>
            </a:r>
            <a:endParaRPr sz="1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38" title="차트"/>
          <p:cNvPicPr preferRelativeResize="0"/>
          <p:nvPr/>
        </p:nvPicPr>
        <p:blipFill rotWithShape="1">
          <a:blip r:embed="rId3">
            <a:alphaModFix/>
          </a:blip>
          <a:srcRect b="0" l="6846" r="0" t="0"/>
          <a:stretch/>
        </p:blipFill>
        <p:spPr>
          <a:xfrm>
            <a:off x="4297675" y="1358650"/>
            <a:ext cx="4846325" cy="3294201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38"/>
          <p:cNvSpPr txBox="1"/>
          <p:nvPr>
            <p:ph idx="1" type="body"/>
          </p:nvPr>
        </p:nvSpPr>
        <p:spPr>
          <a:xfrm>
            <a:off x="423600" y="2278875"/>
            <a:ext cx="3787800" cy="22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ko"/>
              <a:t>평가 데이터</a:t>
            </a:r>
            <a:endParaRPr b="1"/>
          </a:p>
          <a:p>
            <a:pPr indent="-292100" lvl="0" marL="457200" rtl="0" algn="l">
              <a:spcBef>
                <a:spcPts val="60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‘형태분석 말뭉치(국립국어원 모두의 말뭉치)' </a:t>
            </a:r>
            <a:r>
              <a:rPr b="1" lang="ko" sz="1000"/>
              <a:t>15만 문장</a:t>
            </a:r>
            <a:r>
              <a:rPr lang="ko" sz="1000"/>
              <a:t> 대상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sentence=[제주·서울] "세계환경수도 조성위해 10개년 실천계획 만들겠다" 김태환 지사 밝혀,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'[', '제주', '·', '서울', ']', '"', '세계', '환경', '수도', '조성', '위하', '아', '10', '개년', '실천', '계획', '만들', '겠', '다', '"', '김태환', '지사', '밝히', '어'),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positions=('SS', 'NNP', 'SP', 'NNP', 'SS', 'SS', 'NNG', 'NNG', 'NNG', 'NNG', 'VV', 'EC', 'SN', 'NNB', 'NNG', 'NNG', 'VV', 'EP', 'EF', 'SS', 'NNP', 'NNG', 'VV', 'EF')</a:t>
            </a:r>
            <a:endParaRPr sz="1000"/>
          </a:p>
        </p:txBody>
      </p:sp>
      <p:sp>
        <p:nvSpPr>
          <p:cNvPr id="325" name="Google Shape;325;p38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326" name="Google Shape;326;p38"/>
          <p:cNvSpPr txBox="1"/>
          <p:nvPr>
            <p:ph type="title"/>
          </p:nvPr>
        </p:nvSpPr>
        <p:spPr>
          <a:xfrm>
            <a:off x="924050" y="286500"/>
            <a:ext cx="74667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문장 전체 태깅 정확도</a:t>
            </a:r>
            <a:endParaRPr/>
          </a:p>
        </p:txBody>
      </p:sp>
      <p:sp>
        <p:nvSpPr>
          <p:cNvPr id="327" name="Google Shape;327;p38"/>
          <p:cNvSpPr txBox="1"/>
          <p:nvPr>
            <p:ph idx="1" type="body"/>
          </p:nvPr>
        </p:nvSpPr>
        <p:spPr>
          <a:xfrm>
            <a:off x="423600" y="1193875"/>
            <a:ext cx="3701700" cy="9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ko"/>
              <a:t>문장 전체 47 품사 태깅 정확도</a:t>
            </a:r>
            <a:endParaRPr b="1"/>
          </a:p>
          <a:p>
            <a:pPr indent="-292100" lvl="0" marL="457200" rtl="0" algn="l">
              <a:spcBef>
                <a:spcPts val="60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문장의 형태소 분석 결과가 하나라도 일치하지 않으면 틀린 것으로 간주</a:t>
            </a:r>
            <a:endParaRPr sz="1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9"/>
          <p:cNvSpPr txBox="1"/>
          <p:nvPr>
            <p:ph idx="12" type="sldNum"/>
          </p:nvPr>
        </p:nvSpPr>
        <p:spPr>
          <a:xfrm>
            <a:off x="4297650" y="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333" name="Google Shape;333;p39"/>
          <p:cNvSpPr txBox="1"/>
          <p:nvPr>
            <p:ph idx="1" type="body"/>
          </p:nvPr>
        </p:nvSpPr>
        <p:spPr>
          <a:xfrm>
            <a:off x="2105050" y="471775"/>
            <a:ext cx="4933800" cy="258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ko"/>
              <a:t>누구나</a:t>
            </a:r>
            <a:endParaRPr/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ko"/>
              <a:t>바른을</a:t>
            </a:r>
            <a:endParaRPr/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ko"/>
              <a:t>쉽게</a:t>
            </a:r>
            <a:endParaRPr/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ko"/>
              <a:t>사용할 수 있습니다.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0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339" name="Google Shape;339;p40"/>
          <p:cNvSpPr txBox="1"/>
          <p:nvPr>
            <p:ph type="title"/>
          </p:nvPr>
        </p:nvSpPr>
        <p:spPr>
          <a:xfrm>
            <a:off x="924050" y="286500"/>
            <a:ext cx="74667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깃허브에 소스 공개</a:t>
            </a:r>
            <a:endParaRPr/>
          </a:p>
        </p:txBody>
      </p:sp>
      <p:pic>
        <p:nvPicPr>
          <p:cNvPr id="340" name="Google Shape;34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4212" y="1200275"/>
            <a:ext cx="5035576" cy="3477649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40"/>
          <p:cNvSpPr txBox="1"/>
          <p:nvPr/>
        </p:nvSpPr>
        <p:spPr>
          <a:xfrm>
            <a:off x="7139275" y="1193875"/>
            <a:ext cx="1561500" cy="2154900"/>
          </a:xfrm>
          <a:prstGeom prst="rect">
            <a:avLst/>
          </a:prstGeom>
          <a:noFill/>
          <a:ln cap="flat" cmpd="sng" w="19050">
            <a:solidFill>
              <a:srgbClr val="9900F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특히,</a:t>
            </a:r>
            <a:endParaRPr sz="16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한국어 모호성 데이터</a:t>
            </a:r>
            <a:r>
              <a:rPr lang="ko" sz="16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는 한국어 성능 평가에 표준이 되는 중요한 데이터 자원입니다.</a:t>
            </a:r>
            <a:endParaRPr sz="600"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342" name="Google Shape;342;p40"/>
          <p:cNvSpPr txBox="1"/>
          <p:nvPr/>
        </p:nvSpPr>
        <p:spPr>
          <a:xfrm>
            <a:off x="423600" y="1200275"/>
            <a:ext cx="1561500" cy="2154900"/>
          </a:xfrm>
          <a:prstGeom prst="rect">
            <a:avLst/>
          </a:prstGeom>
          <a:noFill/>
          <a:ln cap="flat" cmpd="sng" w="19050">
            <a:solidFill>
              <a:srgbClr val="9900F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10가지의 공개된 코드를 통해서</a:t>
            </a:r>
            <a:endParaRPr sz="16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많은 사람들이 다양하게 활용할 수 있습니다.</a:t>
            </a:r>
            <a:endParaRPr sz="16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7" name="Google Shape;347;p41"/>
          <p:cNvGraphicFramePr/>
          <p:nvPr/>
        </p:nvGraphicFramePr>
        <p:xfrm>
          <a:off x="580260" y="1193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{F609F05E-37EA-40B7-BE87-E0668D00872D}</a:tableStyleId>
              </a:tblPr>
              <a:tblGrid>
                <a:gridCol w="1602250"/>
                <a:gridCol w="6365025"/>
              </a:tblGrid>
              <a:tr h="11392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다양한 개발 언어</a:t>
                      </a:r>
                      <a:endParaRPr b="1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16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검색 엔진 지원</a:t>
                      </a:r>
                      <a:endParaRPr b="1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C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CE5"/>
                    </a:solidFill>
                  </a:tcPr>
                </a:tc>
              </a:tr>
              <a:tr h="12234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다양한 API 규격</a:t>
                      </a:r>
                      <a:endParaRPr b="1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8" name="Google Shape;348;p41"/>
          <p:cNvSpPr txBox="1"/>
          <p:nvPr>
            <p:ph type="title"/>
          </p:nvPr>
        </p:nvSpPr>
        <p:spPr>
          <a:xfrm>
            <a:off x="924050" y="286500"/>
            <a:ext cx="74667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다양한 언어 및 개발 환경 지원</a:t>
            </a:r>
            <a:endParaRPr/>
          </a:p>
        </p:txBody>
      </p:sp>
      <p:sp>
        <p:nvSpPr>
          <p:cNvPr id="349" name="Google Shape;349;p4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pic>
        <p:nvPicPr>
          <p:cNvPr id="350" name="Google Shape;35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4210" y="1418363"/>
            <a:ext cx="914400" cy="905854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41"/>
          <p:cNvSpPr txBox="1"/>
          <p:nvPr/>
        </p:nvSpPr>
        <p:spPr>
          <a:xfrm>
            <a:off x="3418610" y="1433625"/>
            <a:ext cx="714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파이썬</a:t>
            </a:r>
            <a:endParaRPr sz="13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352" name="Google Shape;352;p41"/>
          <p:cNvSpPr txBox="1"/>
          <p:nvPr/>
        </p:nvSpPr>
        <p:spPr>
          <a:xfrm>
            <a:off x="4879660" y="1389875"/>
            <a:ext cx="714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자바</a:t>
            </a:r>
            <a:endParaRPr sz="13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pic>
        <p:nvPicPr>
          <p:cNvPr id="353" name="Google Shape;353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4335" y="131382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41"/>
          <p:cNvSpPr txBox="1"/>
          <p:nvPr/>
        </p:nvSpPr>
        <p:spPr>
          <a:xfrm>
            <a:off x="6237860" y="1313825"/>
            <a:ext cx="1234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자바스크립트</a:t>
            </a:r>
            <a:endParaRPr sz="13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pic>
        <p:nvPicPr>
          <p:cNvPr id="355" name="Google Shape;355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83610" y="1412100"/>
            <a:ext cx="914400" cy="717846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41"/>
          <p:cNvSpPr txBox="1"/>
          <p:nvPr/>
        </p:nvSpPr>
        <p:spPr>
          <a:xfrm>
            <a:off x="8140440" y="1389875"/>
            <a:ext cx="423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R</a:t>
            </a:r>
            <a:endParaRPr sz="13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357" name="Google Shape;357;p41"/>
          <p:cNvSpPr txBox="1"/>
          <p:nvPr/>
        </p:nvSpPr>
        <p:spPr>
          <a:xfrm>
            <a:off x="5097035" y="2671388"/>
            <a:ext cx="1172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엘라스틱서치</a:t>
            </a:r>
            <a:endParaRPr sz="13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pic>
        <p:nvPicPr>
          <p:cNvPr id="358" name="Google Shape;358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72148" y="2495545"/>
            <a:ext cx="2407225" cy="736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41"/>
          <p:cNvPicPr preferRelativeResize="0"/>
          <p:nvPr/>
        </p:nvPicPr>
        <p:blipFill rotWithShape="1">
          <a:blip r:embed="rId7">
            <a:alphaModFix/>
          </a:blip>
          <a:srcRect b="24914" l="0" r="0" t="27665"/>
          <a:stretch/>
        </p:blipFill>
        <p:spPr>
          <a:xfrm>
            <a:off x="2572160" y="3499475"/>
            <a:ext cx="1680525" cy="79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4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24885" y="3499475"/>
            <a:ext cx="1916735" cy="73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41"/>
          <p:cNvPicPr preferRelativeResize="0"/>
          <p:nvPr/>
        </p:nvPicPr>
        <p:blipFill rotWithShape="1">
          <a:blip r:embed="rId9">
            <a:alphaModFix/>
          </a:blip>
          <a:srcRect b="0" l="18195" r="15614" t="0"/>
          <a:stretch/>
        </p:blipFill>
        <p:spPr>
          <a:xfrm>
            <a:off x="4070867" y="1440975"/>
            <a:ext cx="914400" cy="860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2"/>
          <p:cNvSpPr txBox="1"/>
          <p:nvPr>
            <p:ph type="title"/>
          </p:nvPr>
        </p:nvSpPr>
        <p:spPr>
          <a:xfrm>
            <a:off x="924050" y="286500"/>
            <a:ext cx="74667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다양한 OS 지원</a:t>
            </a:r>
            <a:endParaRPr/>
          </a:p>
        </p:txBody>
      </p:sp>
      <p:sp>
        <p:nvSpPr>
          <p:cNvPr id="367" name="Google Shape;367;p42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pic>
        <p:nvPicPr>
          <p:cNvPr id="368" name="Google Shape;36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4438" y="1193875"/>
            <a:ext cx="6059925" cy="387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3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374" name="Google Shape;374;p43"/>
          <p:cNvSpPr txBox="1"/>
          <p:nvPr>
            <p:ph type="title"/>
          </p:nvPr>
        </p:nvSpPr>
        <p:spPr>
          <a:xfrm>
            <a:off x="924050" y="286500"/>
            <a:ext cx="74667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bareun.ai를 통해서 다운로드</a:t>
            </a:r>
            <a:endParaRPr/>
          </a:p>
        </p:txBody>
      </p:sp>
      <p:pic>
        <p:nvPicPr>
          <p:cNvPr id="375" name="Google Shape;375;p43"/>
          <p:cNvPicPr preferRelativeResize="0"/>
          <p:nvPr/>
        </p:nvPicPr>
        <p:blipFill rotWithShape="1">
          <a:blip r:embed="rId3">
            <a:alphaModFix/>
          </a:blip>
          <a:srcRect b="5553" l="0" r="0" t="0"/>
          <a:stretch/>
        </p:blipFill>
        <p:spPr>
          <a:xfrm>
            <a:off x="1080549" y="1193875"/>
            <a:ext cx="6982902" cy="3854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4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381" name="Google Shape;381;p44"/>
          <p:cNvSpPr txBox="1"/>
          <p:nvPr>
            <p:ph type="title"/>
          </p:nvPr>
        </p:nvSpPr>
        <p:spPr>
          <a:xfrm>
            <a:off x="924050" y="286500"/>
            <a:ext cx="74667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쉽게 설치하여 사용</a:t>
            </a:r>
            <a:endParaRPr/>
          </a:p>
        </p:txBody>
      </p:sp>
      <p:pic>
        <p:nvPicPr>
          <p:cNvPr id="382" name="Google Shape;38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2975" y="1134100"/>
            <a:ext cx="2440975" cy="3920725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44"/>
          <p:cNvSpPr txBox="1"/>
          <p:nvPr>
            <p:ph idx="4294967295" type="body"/>
          </p:nvPr>
        </p:nvSpPr>
        <p:spPr>
          <a:xfrm>
            <a:off x="423600" y="1210300"/>
            <a:ext cx="4400100" cy="1579200"/>
          </a:xfrm>
          <a:prstGeom prst="rect">
            <a:avLst/>
          </a:prstGeom>
          <a:solidFill>
            <a:srgbClr val="F3F3F3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ko" sz="1400"/>
              <a:t>심혈을 기울인 꼼꼼한 문서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ko" sz="1400"/>
              <a:t>풍부한 예제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ko" sz="1400"/>
              <a:t>상황에 꼭 필요한 설명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ko" sz="1400"/>
              <a:t>모든 OS 및 환경 지원</a:t>
            </a:r>
            <a:endParaRPr sz="1400"/>
          </a:p>
        </p:txBody>
      </p:sp>
      <p:sp>
        <p:nvSpPr>
          <p:cNvPr id="384" name="Google Shape;384;p44"/>
          <p:cNvSpPr txBox="1"/>
          <p:nvPr/>
        </p:nvSpPr>
        <p:spPr>
          <a:xfrm>
            <a:off x="423625" y="3152200"/>
            <a:ext cx="4400100" cy="1169700"/>
          </a:xfrm>
          <a:prstGeom prst="rect">
            <a:avLst/>
          </a:prstGeom>
          <a:noFill/>
          <a:ln cap="flat" cmpd="sng" w="19050">
            <a:solidFill>
              <a:srgbClr val="9900F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바른은</a:t>
            </a:r>
            <a:endParaRPr sz="16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서버로 실행되고</a:t>
            </a:r>
            <a:endParaRPr sz="16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하나의 설치본을 동시에 여러 명이 사용할 수 있습니다.</a:t>
            </a:r>
            <a:endParaRPr sz="16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385" name="Google Shape;385;p44"/>
          <p:cNvSpPr txBox="1"/>
          <p:nvPr/>
        </p:nvSpPr>
        <p:spPr>
          <a:xfrm>
            <a:off x="347400" y="4466225"/>
            <a:ext cx="416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설치 도움</a:t>
            </a:r>
            <a:r>
              <a:rPr lang="ko"/>
              <a:t>말: </a:t>
            </a:r>
            <a:r>
              <a:rPr lang="ko" u="sng">
                <a:solidFill>
                  <a:schemeClr val="hlink"/>
                </a:solidFill>
                <a:hlinkClick r:id="rId4"/>
              </a:rPr>
              <a:t>https://docs.bareun.ai/install/overview/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5"/>
          <p:cNvSpPr txBox="1"/>
          <p:nvPr>
            <p:ph idx="12" type="sldNum"/>
          </p:nvPr>
        </p:nvSpPr>
        <p:spPr>
          <a:xfrm>
            <a:off x="4297650" y="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391" name="Google Shape;391;p45"/>
          <p:cNvSpPr txBox="1"/>
          <p:nvPr>
            <p:ph idx="1" type="body"/>
          </p:nvPr>
        </p:nvSpPr>
        <p:spPr>
          <a:xfrm>
            <a:off x="2105050" y="471775"/>
            <a:ext cx="4933800" cy="258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ko"/>
              <a:t>바른은</a:t>
            </a:r>
            <a:endParaRPr/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ko"/>
              <a:t>개발 언어를 사용해서</a:t>
            </a:r>
            <a:endParaRPr/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ko"/>
              <a:t>텍스트분석, 검색, 가공에 사용할 뿐 아니라</a:t>
            </a:r>
            <a:endParaRPr/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ko"/>
              <a:t>다른 자연어 처리의 기초를 제공합니다.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6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397" name="Google Shape;397;p46"/>
          <p:cNvSpPr txBox="1"/>
          <p:nvPr>
            <p:ph type="title"/>
          </p:nvPr>
        </p:nvSpPr>
        <p:spPr>
          <a:xfrm>
            <a:off x="924050" y="286500"/>
            <a:ext cx="74667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Python, colab을 이용해서 형태소로 기사 분석 (#1)</a:t>
            </a:r>
            <a:endParaRPr/>
          </a:p>
        </p:txBody>
      </p:sp>
      <p:pic>
        <p:nvPicPr>
          <p:cNvPr id="398" name="Google Shape;39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450" y="1186501"/>
            <a:ext cx="7466701" cy="3700528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46"/>
          <p:cNvSpPr txBox="1"/>
          <p:nvPr/>
        </p:nvSpPr>
        <p:spPr>
          <a:xfrm>
            <a:off x="419400" y="3531275"/>
            <a:ext cx="2151900" cy="993300"/>
          </a:xfrm>
          <a:prstGeom prst="rect">
            <a:avLst/>
          </a:prstGeom>
          <a:noFill/>
          <a:ln cap="flat" cmpd="sng" w="19050">
            <a:solidFill>
              <a:srgbClr val="9900F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126000" lIns="126000" spcFirstLastPara="1" rIns="91425" wrap="square" tIns="126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신문기사 5000건을 비교하여 핵심단어 추출 기능을 비교</a:t>
            </a:r>
            <a:endParaRPr sz="600">
              <a:latin typeface="Gothic A1"/>
              <a:ea typeface="Gothic A1"/>
              <a:cs typeface="Gothic A1"/>
              <a:sym typeface="Gothic A1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7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405" name="Google Shape;405;p47"/>
          <p:cNvSpPr txBox="1"/>
          <p:nvPr>
            <p:ph type="title"/>
          </p:nvPr>
        </p:nvSpPr>
        <p:spPr>
          <a:xfrm>
            <a:off x="924050" y="286500"/>
            <a:ext cx="74667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Python, colab을 이용해서 형태소로 기사 분석 (#2)</a:t>
            </a:r>
            <a:endParaRPr/>
          </a:p>
        </p:txBody>
      </p:sp>
      <p:pic>
        <p:nvPicPr>
          <p:cNvPr id="406" name="Google Shape;40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300" y="1195401"/>
            <a:ext cx="1859575" cy="320990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47"/>
          <p:cNvSpPr txBox="1"/>
          <p:nvPr/>
        </p:nvSpPr>
        <p:spPr>
          <a:xfrm>
            <a:off x="2314625" y="2872075"/>
            <a:ext cx="5589300" cy="1582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['이다', '있다', '하다', '되다', '않다', '없다', '대하다', '위하다', '오다', '보다']</a:t>
            </a:r>
            <a:endParaRPr sz="9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['받다', '주다', '지다', '지나다', '밝히다', '따르다', '같다', '가다', '보이다', '아니다']</a:t>
            </a:r>
            <a:endParaRPr sz="9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['열리다', '크다', '내다', '갖다', '통하다', '많다', '나오다', '들다', '열다', '만들다']</a:t>
            </a:r>
            <a:endParaRPr sz="9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['서다', '좋다', '오르다', '쓰다', '벌이다', '맞다', '살다', '알다', '가지다', '나다']</a:t>
            </a:r>
            <a:endParaRPr sz="9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['놓다', '나서다', '못하다', '높다', '찾다', '듣다', '두다', '잇다', '나가다', '만나다']</a:t>
            </a:r>
            <a:endParaRPr sz="9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['벌어지다', '모르다', '들어가다', '잡다', '전하다', '새롭다', '그렇다', '보내다', '싶다', '알리다']</a:t>
            </a:r>
            <a:endParaRPr sz="9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['짓다', '알려지다', '관하다', '나타나다', '팔다', '어렵다', '타다', '의하다', '맡다', '내리다']</a:t>
            </a:r>
            <a:endParaRPr sz="9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['떨어지다', '달다', '모으다', '버리다', '말다', '먹다', '얻다', '앞두다', '사다', '올리다']</a:t>
            </a:r>
            <a:endParaRPr sz="9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['넘다', '빠지다']</a:t>
            </a:r>
            <a:endParaRPr sz="9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50800" marR="127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82</a:t>
            </a:r>
            <a:endParaRPr sz="9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408" name="Google Shape;408;p47"/>
          <p:cNvSpPr txBox="1"/>
          <p:nvPr/>
        </p:nvSpPr>
        <p:spPr>
          <a:xfrm>
            <a:off x="2312975" y="1193875"/>
            <a:ext cx="5589300" cy="1582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['이다', '있다', '하다', '되다', '않다', '대하다', '없다', '위하다', '오다', '보다']</a:t>
            </a:r>
            <a:endParaRPr sz="9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['받다', '주다', '지나다', '밝히다', '따르다', '</a:t>
            </a:r>
            <a:r>
              <a:rPr b="1" lang="ko" sz="900">
                <a:solidFill>
                  <a:srgbClr val="FF0000"/>
                </a:solidFill>
                <a:latin typeface="Gothic A1"/>
                <a:ea typeface="Gothic A1"/>
                <a:cs typeface="Gothic A1"/>
                <a:sym typeface="Gothic A1"/>
              </a:rPr>
              <a:t>말하다</a:t>
            </a:r>
            <a:r>
              <a:rPr lang="ko" sz="9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', '같다', '보이다', '열리다', '아니다']</a:t>
            </a:r>
            <a:endParaRPr sz="9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['지다', '가다', '갖다', '크다', '내다', '통하다', '많다', '나오다', '만들다', '못하다']</a:t>
            </a:r>
            <a:endParaRPr sz="9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['들다', '열다', '좋다', '오르다', '벌이다', '쓰다', '맞다', '가지다', '알다', '나서다']</a:t>
            </a:r>
            <a:endParaRPr sz="9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['높다', '살다', '나다', '알려지다', '놓다', '듣다', '찾다', '두다', '잇다', '만나다']</a:t>
            </a:r>
            <a:endParaRPr sz="9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['나가다', '벌어지다', '짓다', '모르다', '들어가다', '새롭다', '전하다', '잡다', '싶다',</a:t>
            </a:r>
            <a:r>
              <a:rPr b="1" lang="ko" sz="900">
                <a:solidFill>
                  <a:srgbClr val="FF0000"/>
                </a:solidFill>
                <a:latin typeface="Gothic A1"/>
                <a:ea typeface="Gothic A1"/>
                <a:cs typeface="Gothic A1"/>
                <a:sym typeface="Gothic A1"/>
              </a:rPr>
              <a:t> '발표하다'</a:t>
            </a:r>
            <a:r>
              <a:rPr lang="ko" sz="9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]</a:t>
            </a:r>
            <a:endParaRPr sz="9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['보내다', '그렇다', '관하다', '나타나다', '어렵다', '의하다', '맡다', '타다', '모으다', '떨어지다']</a:t>
            </a:r>
            <a:endParaRPr sz="9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['말다', '내리다', '달다', '얻다', '앞두다', '먹다', '올리다', </a:t>
            </a:r>
            <a:r>
              <a:rPr b="1" lang="ko" sz="900">
                <a:solidFill>
                  <a:srgbClr val="FF0000"/>
                </a:solidFill>
                <a:latin typeface="Gothic A1"/>
                <a:ea typeface="Gothic A1"/>
                <a:cs typeface="Gothic A1"/>
                <a:sym typeface="Gothic A1"/>
              </a:rPr>
              <a:t>'차지하다'</a:t>
            </a:r>
            <a:r>
              <a:rPr lang="ko" sz="9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, '버리다', '넘다']</a:t>
            </a:r>
            <a:endParaRPr sz="9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[</a:t>
            </a:r>
            <a:r>
              <a:rPr b="1" lang="ko" sz="900">
                <a:solidFill>
                  <a:srgbClr val="FF0000"/>
                </a:solidFill>
                <a:latin typeface="Gothic A1"/>
                <a:ea typeface="Gothic A1"/>
                <a:cs typeface="Gothic A1"/>
                <a:sym typeface="Gothic A1"/>
              </a:rPr>
              <a:t>'이르다'</a:t>
            </a:r>
            <a:r>
              <a:rPr lang="ko" sz="9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, </a:t>
            </a:r>
            <a:r>
              <a:rPr b="1" lang="ko" sz="900">
                <a:solidFill>
                  <a:srgbClr val="FF0000"/>
                </a:solidFill>
                <a:latin typeface="Gothic A1"/>
                <a:ea typeface="Gothic A1"/>
                <a:cs typeface="Gothic A1"/>
                <a:sym typeface="Gothic A1"/>
              </a:rPr>
              <a:t>'참석하다'</a:t>
            </a:r>
            <a:r>
              <a:rPr lang="ko" sz="9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, </a:t>
            </a:r>
            <a:r>
              <a:rPr b="1" lang="ko" sz="900">
                <a:solidFill>
                  <a:srgbClr val="FF0000"/>
                </a:solidFill>
                <a:latin typeface="Gothic A1"/>
                <a:ea typeface="Gothic A1"/>
                <a:cs typeface="Gothic A1"/>
                <a:sym typeface="Gothic A1"/>
              </a:rPr>
              <a:t>'생각하다'</a:t>
            </a:r>
            <a:r>
              <a:rPr lang="ko" sz="9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, </a:t>
            </a:r>
            <a:r>
              <a:rPr b="1" lang="ko" sz="900">
                <a:solidFill>
                  <a:srgbClr val="FF0000"/>
                </a:solidFill>
                <a:latin typeface="Gothic A1"/>
                <a:ea typeface="Gothic A1"/>
                <a:cs typeface="Gothic A1"/>
                <a:sym typeface="Gothic A1"/>
              </a:rPr>
              <a:t>'끝나다'</a:t>
            </a:r>
            <a:r>
              <a:rPr lang="ko" sz="9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, </a:t>
            </a:r>
            <a:r>
              <a:rPr b="1" lang="ko" sz="900">
                <a:solidFill>
                  <a:srgbClr val="FF0000"/>
                </a:solidFill>
                <a:latin typeface="Gothic A1"/>
                <a:ea typeface="Gothic A1"/>
                <a:cs typeface="Gothic A1"/>
                <a:sym typeface="Gothic A1"/>
              </a:rPr>
              <a:t>'세우다'</a:t>
            </a:r>
            <a:r>
              <a:rPr lang="ko" sz="9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, </a:t>
            </a:r>
            <a:r>
              <a:rPr b="1" lang="ko" sz="900">
                <a:solidFill>
                  <a:srgbClr val="FF0000"/>
                </a:solidFill>
                <a:latin typeface="Gothic A1"/>
                <a:ea typeface="Gothic A1"/>
                <a:cs typeface="Gothic A1"/>
                <a:sym typeface="Gothic A1"/>
              </a:rPr>
              <a:t>'거치다'</a:t>
            </a:r>
            <a:r>
              <a:rPr lang="ko" sz="9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, </a:t>
            </a:r>
            <a:r>
              <a:rPr b="1" lang="ko" sz="900">
                <a:solidFill>
                  <a:srgbClr val="FF0000"/>
                </a:solidFill>
                <a:latin typeface="Gothic A1"/>
                <a:ea typeface="Gothic A1"/>
                <a:cs typeface="Gothic A1"/>
                <a:sym typeface="Gothic A1"/>
              </a:rPr>
              <a:t>'이용하다'</a:t>
            </a:r>
            <a:r>
              <a:rPr lang="ko" sz="9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, '빠지다', '서다', '떠나다']</a:t>
            </a:r>
            <a:endParaRPr sz="9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50800" marR="127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91</a:t>
            </a:r>
            <a:endParaRPr sz="9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409" name="Google Shape;409;p47"/>
          <p:cNvSpPr txBox="1"/>
          <p:nvPr/>
        </p:nvSpPr>
        <p:spPr>
          <a:xfrm>
            <a:off x="7625800" y="1701900"/>
            <a:ext cx="1059000" cy="2044500"/>
          </a:xfrm>
          <a:prstGeom prst="rect">
            <a:avLst/>
          </a:prstGeom>
          <a:solidFill>
            <a:srgbClr val="EEFCE5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{'거치다',</a:t>
            </a:r>
            <a:endParaRPr sz="10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 '끝나다',</a:t>
            </a:r>
            <a:endParaRPr sz="10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 '떠나다',</a:t>
            </a:r>
            <a:endParaRPr sz="10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 '말하다',</a:t>
            </a:r>
            <a:endParaRPr sz="10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 '발표하다',</a:t>
            </a:r>
            <a:endParaRPr sz="10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 '생각하다',</a:t>
            </a:r>
            <a:endParaRPr sz="10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 '세우다',</a:t>
            </a:r>
            <a:endParaRPr sz="10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 '옮기다',</a:t>
            </a:r>
            <a:endParaRPr sz="10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 '이르다',</a:t>
            </a:r>
            <a:endParaRPr sz="10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 '이용하다',</a:t>
            </a:r>
            <a:endParaRPr sz="10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 '차지하다',</a:t>
            </a:r>
            <a:endParaRPr sz="10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50800" marR="127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'참석하다'}</a:t>
            </a:r>
            <a:endParaRPr sz="10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410" name="Google Shape;410;p47"/>
          <p:cNvSpPr txBox="1"/>
          <p:nvPr/>
        </p:nvSpPr>
        <p:spPr>
          <a:xfrm>
            <a:off x="683250" y="4454875"/>
            <a:ext cx="7777500" cy="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바른을 이용해서 분석 결과, </a:t>
            </a:r>
            <a:r>
              <a:rPr lang="ko">
                <a:solidFill>
                  <a:srgbClr val="9900FF"/>
                </a:solidFill>
                <a:latin typeface="Gothic A1"/>
                <a:ea typeface="Gothic A1"/>
                <a:cs typeface="Gothic A1"/>
                <a:sym typeface="Gothic A1"/>
              </a:rPr>
              <a:t>중요 단어 500개에서 동사의 비중이 높습니다.</a:t>
            </a:r>
            <a:endParaRPr>
              <a:solidFill>
                <a:srgbClr val="9900FF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F36F21"/>
                </a:solidFill>
                <a:latin typeface="Gothic A1"/>
                <a:ea typeface="Gothic A1"/>
                <a:cs typeface="Gothic A1"/>
                <a:sym typeface="Gothic A1"/>
              </a:rPr>
              <a:t>TFIDF: 문서내 단어의 중요도를 뽑는 방법. 위 결과는 키위와 비교한 것임.</a:t>
            </a:r>
            <a:endParaRPr sz="1200">
              <a:solidFill>
                <a:srgbClr val="F36F21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8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416" name="Google Shape;416;p48"/>
          <p:cNvSpPr txBox="1"/>
          <p:nvPr>
            <p:ph type="title"/>
          </p:nvPr>
        </p:nvSpPr>
        <p:spPr>
          <a:xfrm>
            <a:off x="924050" y="286500"/>
            <a:ext cx="74667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Mecab과 성능 비교</a:t>
            </a:r>
            <a:endParaRPr/>
          </a:p>
        </p:txBody>
      </p:sp>
      <p:graphicFrame>
        <p:nvGraphicFramePr>
          <p:cNvPr id="417" name="Google Shape;417;p48"/>
          <p:cNvGraphicFramePr/>
          <p:nvPr/>
        </p:nvGraphicFramePr>
        <p:xfrm>
          <a:off x="423600" y="1193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{E0FCCD9F-2931-4359-8EE8-A17C1EFFD06F}</a:tableStyleId>
              </a:tblPr>
              <a:tblGrid>
                <a:gridCol w="669100"/>
                <a:gridCol w="1036850"/>
                <a:gridCol w="1433100"/>
                <a:gridCol w="1552725"/>
              </a:tblGrid>
              <a:tr h="261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FFFFFF"/>
                          </a:solidFill>
                        </a:rPr>
                        <a:t>표면형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FFFFFF"/>
                          </a:solidFill>
                        </a:rPr>
                        <a:t>정답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FFFFFF"/>
                          </a:solidFill>
                        </a:rPr>
                        <a:t>bareun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FFFFFF"/>
                          </a:solidFill>
                        </a:rPr>
                        <a:t>mecab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61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가는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가늘/VV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가늘/VV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가/VV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261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키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키/NNG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키/NNG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키/NNP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1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종이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종/NNG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종/NNG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종이/NNG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261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귀가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귀가/NNG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귀가/NNG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귀/NNG+가/JKS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1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성의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성의/NNG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성의/NNG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성/NNG+의/JKG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261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강의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강/NNG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강/NNG+의/JKG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강의/NNG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1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창의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창의/NNG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창의/NNG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창/NNG+의/JKG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261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창의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창의/NNG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창의/NNG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창/NNG+의/JKG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18" name="Google Shape;41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0714" y="1194900"/>
            <a:ext cx="3813311" cy="2332913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48"/>
          <p:cNvSpPr txBox="1"/>
          <p:nvPr/>
        </p:nvSpPr>
        <p:spPr>
          <a:xfrm>
            <a:off x="432350" y="3619600"/>
            <a:ext cx="8034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Gothic A1 Light"/>
                <a:ea typeface="Gothic A1 Light"/>
                <a:cs typeface="Gothic A1 Light"/>
                <a:sym typeface="Gothic A1 Light"/>
              </a:rPr>
              <a:t>"조길상의 음성은 김광석보다 조금 탁하고 </a:t>
            </a:r>
            <a:r>
              <a:rPr lang="ko" sz="1000">
                <a:solidFill>
                  <a:srgbClr val="FF0000"/>
                </a:solidFill>
                <a:latin typeface="Gothic A1 Light"/>
                <a:ea typeface="Gothic A1 Light"/>
                <a:cs typeface="Gothic A1 Light"/>
                <a:sym typeface="Gothic A1 Light"/>
              </a:rPr>
              <a:t>가는</a:t>
            </a:r>
            <a:r>
              <a:rPr lang="ko" sz="1000">
                <a:latin typeface="Gothic A1 Light"/>
                <a:ea typeface="Gothic A1 Light"/>
                <a:cs typeface="Gothic A1 Light"/>
                <a:sym typeface="Gothic A1 Light"/>
              </a:rPr>
              <a:t> 편이다.",</a:t>
            </a:r>
            <a:endParaRPr sz="1000">
              <a:latin typeface="Gothic A1 Light"/>
              <a:ea typeface="Gothic A1 Light"/>
              <a:cs typeface="Gothic A1 Light"/>
              <a:sym typeface="Gothic A1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Gothic A1 Light"/>
                <a:ea typeface="Gothic A1 Light"/>
                <a:cs typeface="Gothic A1 Light"/>
                <a:sym typeface="Gothic A1 Light"/>
              </a:rPr>
              <a:t>"그건 제가 그냥 갖고 있는 개인 </a:t>
            </a:r>
            <a:r>
              <a:rPr lang="ko" sz="1000">
                <a:solidFill>
                  <a:srgbClr val="FF0000"/>
                </a:solidFill>
                <a:latin typeface="Gothic A1 Light"/>
                <a:ea typeface="Gothic A1 Light"/>
                <a:cs typeface="Gothic A1 Light"/>
                <a:sym typeface="Gothic A1 Light"/>
              </a:rPr>
              <a:t>킵</a:t>
            </a:r>
            <a:r>
              <a:rPr lang="ko" sz="1000">
                <a:latin typeface="Gothic A1 Light"/>
                <a:ea typeface="Gothic A1 Light"/>
                <a:cs typeface="Gothic A1 Light"/>
                <a:sym typeface="Gothic A1 Light"/>
              </a:rPr>
              <a:t>니다.",</a:t>
            </a:r>
            <a:endParaRPr sz="1000">
              <a:latin typeface="Gothic A1 Light"/>
              <a:ea typeface="Gothic A1 Light"/>
              <a:cs typeface="Gothic A1 Light"/>
              <a:sym typeface="Gothic A1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Gothic A1 Light"/>
                <a:ea typeface="Gothic A1 Light"/>
                <a:cs typeface="Gothic A1 Light"/>
                <a:sym typeface="Gothic A1 Light"/>
              </a:rPr>
              <a:t>"이런 속도라면 20년 뒤에는 50만에서 200만 </a:t>
            </a:r>
            <a:r>
              <a:rPr lang="ko" sz="1000">
                <a:solidFill>
                  <a:srgbClr val="FF0000"/>
                </a:solidFill>
                <a:latin typeface="Gothic A1 Light"/>
                <a:ea typeface="Gothic A1 Light"/>
                <a:cs typeface="Gothic A1 Light"/>
                <a:sym typeface="Gothic A1 Light"/>
              </a:rPr>
              <a:t>종이</a:t>
            </a:r>
            <a:r>
              <a:rPr lang="ko" sz="1000">
                <a:latin typeface="Gothic A1 Light"/>
                <a:ea typeface="Gothic A1 Light"/>
                <a:cs typeface="Gothic A1 Light"/>
                <a:sym typeface="Gothic A1 Light"/>
              </a:rPr>
              <a:t> 멸종될 것으로 학자들은 예측하고 있다.",</a:t>
            </a:r>
            <a:endParaRPr sz="1000">
              <a:latin typeface="Gothic A1 Light"/>
              <a:ea typeface="Gothic A1 Light"/>
              <a:cs typeface="Gothic A1 Light"/>
              <a:sym typeface="Gothic A1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Gothic A1 Light"/>
                <a:ea typeface="Gothic A1 Light"/>
                <a:cs typeface="Gothic A1 Light"/>
                <a:sym typeface="Gothic A1 Light"/>
              </a:rPr>
              <a:t>"어제 </a:t>
            </a:r>
            <a:r>
              <a:rPr lang="ko" sz="1000">
                <a:solidFill>
                  <a:srgbClr val="FF0000"/>
                </a:solidFill>
                <a:latin typeface="Gothic A1 Light"/>
                <a:ea typeface="Gothic A1 Light"/>
                <a:cs typeface="Gothic A1 Light"/>
                <a:sym typeface="Gothic A1 Light"/>
              </a:rPr>
              <a:t>귀가</a:t>
            </a:r>
            <a:r>
              <a:rPr lang="ko" sz="1000">
                <a:latin typeface="Gothic A1 Light"/>
                <a:ea typeface="Gothic A1 Light"/>
                <a:cs typeface="Gothic A1 Light"/>
                <a:sym typeface="Gothic A1 Light"/>
              </a:rPr>
              <a:t> 시간부터 오늘 아침까지는 남편으로, 아들로, 아빠로 지냈지만",</a:t>
            </a:r>
            <a:endParaRPr sz="1000">
              <a:latin typeface="Gothic A1 Light"/>
              <a:ea typeface="Gothic A1 Light"/>
              <a:cs typeface="Gothic A1 Light"/>
              <a:sym typeface="Gothic A1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Gothic A1 Light"/>
                <a:ea typeface="Gothic A1 Light"/>
                <a:cs typeface="Gothic A1 Light"/>
                <a:sym typeface="Gothic A1 Light"/>
              </a:rPr>
              <a:t>"회사가 진심이라면 먼저 </a:t>
            </a:r>
            <a:r>
              <a:rPr lang="ko" sz="1000">
                <a:solidFill>
                  <a:srgbClr val="FF0000"/>
                </a:solidFill>
                <a:latin typeface="Gothic A1 Light"/>
                <a:ea typeface="Gothic A1 Light"/>
                <a:cs typeface="Gothic A1 Light"/>
                <a:sym typeface="Gothic A1 Light"/>
              </a:rPr>
              <a:t>성의 </a:t>
            </a:r>
            <a:r>
              <a:rPr lang="ko" sz="1000">
                <a:latin typeface="Gothic A1 Light"/>
                <a:ea typeface="Gothic A1 Light"/>
                <a:cs typeface="Gothic A1 Light"/>
                <a:sym typeface="Gothic A1 Light"/>
              </a:rPr>
              <a:t>있는 안을 내놔야 한다”고 말했다.",</a:t>
            </a:r>
            <a:endParaRPr sz="1000">
              <a:latin typeface="Gothic A1 Light"/>
              <a:ea typeface="Gothic A1 Light"/>
              <a:cs typeface="Gothic A1 Light"/>
              <a:sym typeface="Gothic A1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Gothic A1 Light"/>
                <a:ea typeface="Gothic A1 Light"/>
                <a:cs typeface="Gothic A1 Light"/>
                <a:sym typeface="Gothic A1 Light"/>
              </a:rPr>
              <a:t>"한반도를 둘러싼 주변 네 </a:t>
            </a:r>
            <a:r>
              <a:rPr lang="ko" sz="1000">
                <a:solidFill>
                  <a:srgbClr val="FF0000"/>
                </a:solidFill>
                <a:latin typeface="Gothic A1 Light"/>
                <a:ea typeface="Gothic A1 Light"/>
                <a:cs typeface="Gothic A1 Light"/>
                <a:sym typeface="Gothic A1 Light"/>
              </a:rPr>
              <a:t>강의</a:t>
            </a:r>
            <a:r>
              <a:rPr lang="ko" sz="1000">
                <a:latin typeface="Gothic A1 Light"/>
                <a:ea typeface="Gothic A1 Light"/>
                <a:cs typeface="Gothic A1 Light"/>
                <a:sym typeface="Gothic A1 Light"/>
              </a:rPr>
              <a:t> 변화는 격세지감이 있다.",</a:t>
            </a:r>
            <a:endParaRPr sz="1000">
              <a:latin typeface="Gothic A1 Light"/>
              <a:ea typeface="Gothic A1 Light"/>
              <a:cs typeface="Gothic A1 Light"/>
              <a:sym typeface="Gothic A1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Gothic A1 Light"/>
                <a:ea typeface="Gothic A1 Light"/>
                <a:cs typeface="Gothic A1 Light"/>
                <a:sym typeface="Gothic A1 Light"/>
              </a:rPr>
              <a:t>"</a:t>
            </a:r>
            <a:r>
              <a:rPr lang="ko" sz="1000">
                <a:solidFill>
                  <a:srgbClr val="FF0000"/>
                </a:solidFill>
                <a:latin typeface="Gothic A1 Light"/>
                <a:ea typeface="Gothic A1 Light"/>
                <a:cs typeface="Gothic A1 Light"/>
                <a:sym typeface="Gothic A1 Light"/>
              </a:rPr>
              <a:t>창의</a:t>
            </a:r>
            <a:r>
              <a:rPr lang="ko" sz="1000">
                <a:latin typeface="Gothic A1 Light"/>
                <a:ea typeface="Gothic A1 Light"/>
                <a:cs typeface="Gothic A1 Light"/>
                <a:sym typeface="Gothic A1 Light"/>
              </a:rPr>
              <a:t> 융합 콘텐츠 개발을 위해",</a:t>
            </a:r>
            <a:endParaRPr sz="1000">
              <a:latin typeface="Gothic A1 Light"/>
              <a:ea typeface="Gothic A1 Light"/>
              <a:cs typeface="Gothic A1 Light"/>
              <a:sym typeface="Gothic A1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Gothic A1 Light"/>
                <a:ea typeface="Gothic A1 Light"/>
                <a:cs typeface="Gothic A1 Light"/>
                <a:sym typeface="Gothic A1 Light"/>
              </a:rPr>
              <a:t>"두 번째는 모두를 위한 </a:t>
            </a:r>
            <a:r>
              <a:rPr lang="ko" sz="1000">
                <a:solidFill>
                  <a:srgbClr val="FF0000"/>
                </a:solidFill>
                <a:latin typeface="Gothic A1 Light"/>
                <a:ea typeface="Gothic A1 Light"/>
                <a:cs typeface="Gothic A1 Light"/>
                <a:sym typeface="Gothic A1 Light"/>
              </a:rPr>
              <a:t>창의</a:t>
            </a:r>
            <a:r>
              <a:rPr lang="ko" sz="1000">
                <a:latin typeface="Gothic A1 Light"/>
                <a:ea typeface="Gothic A1 Light"/>
                <a:cs typeface="Gothic A1 Light"/>
                <a:sym typeface="Gothic A1 Light"/>
              </a:rPr>
              <a:t> 인성 교육을 확산시키겠다 하는거고요"</a:t>
            </a:r>
            <a:endParaRPr sz="1000">
              <a:latin typeface="Gothic A1 Light"/>
              <a:ea typeface="Gothic A1 Light"/>
              <a:cs typeface="Gothic A1 Light"/>
              <a:sym typeface="Gothic A1 Ligh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9"/>
          <p:cNvSpPr txBox="1"/>
          <p:nvPr>
            <p:ph type="title"/>
          </p:nvPr>
        </p:nvSpPr>
        <p:spPr>
          <a:xfrm>
            <a:off x="924050" y="286500"/>
            <a:ext cx="74667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예제1) 다른 형태소분석기 시연 화면 (모호성 단</a:t>
            </a:r>
            <a:r>
              <a:rPr lang="ko"/>
              <a:t>어)</a:t>
            </a:r>
            <a:endParaRPr/>
          </a:p>
        </p:txBody>
      </p:sp>
      <p:sp>
        <p:nvSpPr>
          <p:cNvPr id="425" name="Google Shape;425;p49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426" name="Google Shape;426;p49"/>
          <p:cNvSpPr txBox="1"/>
          <p:nvPr/>
        </p:nvSpPr>
        <p:spPr>
          <a:xfrm>
            <a:off x="433625" y="31677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Kiwi</a:t>
            </a:r>
            <a:endParaRPr sz="1200"/>
          </a:p>
        </p:txBody>
      </p:sp>
      <p:sp>
        <p:nvSpPr>
          <p:cNvPr id="427" name="Google Shape;427;p49"/>
          <p:cNvSpPr txBox="1"/>
          <p:nvPr/>
        </p:nvSpPr>
        <p:spPr>
          <a:xfrm>
            <a:off x="448625" y="1193863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kakao</a:t>
            </a:r>
            <a:endParaRPr sz="1200"/>
          </a:p>
        </p:txBody>
      </p:sp>
      <p:sp>
        <p:nvSpPr>
          <p:cNvPr id="428" name="Google Shape;428;p49"/>
          <p:cNvSpPr txBox="1"/>
          <p:nvPr/>
        </p:nvSpPr>
        <p:spPr>
          <a:xfrm>
            <a:off x="4841450" y="1193863"/>
            <a:ext cx="101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Mecab</a:t>
            </a:r>
            <a:endParaRPr sz="1200"/>
          </a:p>
        </p:txBody>
      </p:sp>
      <p:pic>
        <p:nvPicPr>
          <p:cNvPr id="429" name="Google Shape;42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625" y="1654000"/>
            <a:ext cx="2877300" cy="145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625" y="3571925"/>
            <a:ext cx="2877300" cy="148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41450" y="1577800"/>
            <a:ext cx="3000000" cy="153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0"/>
          <p:cNvSpPr/>
          <p:nvPr/>
        </p:nvSpPr>
        <p:spPr>
          <a:xfrm>
            <a:off x="856225" y="1383300"/>
            <a:ext cx="7994621" cy="492868"/>
          </a:xfrm>
          <a:custGeom>
            <a:rect b="b" l="l" r="r" t="t"/>
            <a:pathLst>
              <a:path extrusionOk="0" h="16908" w="88095">
                <a:moveTo>
                  <a:pt x="0" y="0"/>
                </a:moveTo>
                <a:lnTo>
                  <a:pt x="0" y="16907"/>
                </a:lnTo>
                <a:lnTo>
                  <a:pt x="79879" y="16907"/>
                </a:lnTo>
                <a:cubicBezTo>
                  <a:pt x="80570" y="16788"/>
                  <a:pt x="81236" y="16455"/>
                  <a:pt x="81772" y="15919"/>
                </a:cubicBezTo>
                <a:lnTo>
                  <a:pt x="86678" y="11014"/>
                </a:lnTo>
                <a:cubicBezTo>
                  <a:pt x="88094" y="9597"/>
                  <a:pt x="88094" y="7311"/>
                  <a:pt x="86678" y="5906"/>
                </a:cubicBezTo>
                <a:lnTo>
                  <a:pt x="81772" y="1000"/>
                </a:lnTo>
                <a:cubicBezTo>
                  <a:pt x="81248" y="465"/>
                  <a:pt x="80582" y="131"/>
                  <a:pt x="79903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8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434343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조길상의 음성은 김광석보다 조금 탁하고 </a:t>
            </a:r>
            <a:r>
              <a:rPr lang="ko">
                <a:solidFill>
                  <a:srgbClr val="FF0000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가는</a:t>
            </a:r>
            <a:r>
              <a:rPr lang="ko">
                <a:solidFill>
                  <a:srgbClr val="434343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 편이다.</a:t>
            </a:r>
            <a:endParaRPr>
              <a:solidFill>
                <a:srgbClr val="434343"/>
              </a:solidFill>
              <a:latin typeface="Gothic A1 Medium"/>
              <a:ea typeface="Gothic A1 Medium"/>
              <a:cs typeface="Gothic A1 Medium"/>
              <a:sym typeface="Gothic A1 Medium"/>
            </a:endParaRPr>
          </a:p>
        </p:txBody>
      </p:sp>
      <p:sp>
        <p:nvSpPr>
          <p:cNvPr id="437" name="Google Shape;437;p50"/>
          <p:cNvSpPr txBox="1"/>
          <p:nvPr>
            <p:ph type="title"/>
          </p:nvPr>
        </p:nvSpPr>
        <p:spPr>
          <a:xfrm>
            <a:off x="924050" y="286500"/>
            <a:ext cx="74667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예제1) 형태소분석 결과 비교 (모호성 단</a:t>
            </a:r>
            <a:r>
              <a:rPr lang="ko"/>
              <a:t>어)</a:t>
            </a:r>
            <a:endParaRPr/>
          </a:p>
        </p:txBody>
      </p:sp>
      <p:sp>
        <p:nvSpPr>
          <p:cNvPr id="438" name="Google Shape;438;p50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439" name="Google Shape;439;p50"/>
          <p:cNvSpPr/>
          <p:nvPr/>
        </p:nvSpPr>
        <p:spPr>
          <a:xfrm>
            <a:off x="8634065" y="1559606"/>
            <a:ext cx="140590" cy="140590"/>
          </a:xfrm>
          <a:custGeom>
            <a:rect b="b" l="l" r="r" t="t"/>
            <a:pathLst>
              <a:path extrusionOk="0" h="4823" w="4823">
                <a:moveTo>
                  <a:pt x="2405" y="1"/>
                </a:moveTo>
                <a:cubicBezTo>
                  <a:pt x="1072" y="1"/>
                  <a:pt x="0" y="1072"/>
                  <a:pt x="0" y="2406"/>
                </a:cubicBezTo>
                <a:cubicBezTo>
                  <a:pt x="0" y="3739"/>
                  <a:pt x="1072" y="4823"/>
                  <a:pt x="2405" y="4823"/>
                </a:cubicBezTo>
                <a:cubicBezTo>
                  <a:pt x="3739" y="4823"/>
                  <a:pt x="4822" y="3739"/>
                  <a:pt x="4822" y="2406"/>
                </a:cubicBezTo>
                <a:cubicBezTo>
                  <a:pt x="4822" y="1072"/>
                  <a:pt x="3739" y="1"/>
                  <a:pt x="2405" y="1"/>
                </a:cubicBezTo>
                <a:close/>
              </a:path>
            </a:pathLst>
          </a:cu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0" name="Google Shape;440;p50"/>
          <p:cNvGrpSpPr/>
          <p:nvPr/>
        </p:nvGrpSpPr>
        <p:grpSpPr>
          <a:xfrm>
            <a:off x="436189" y="1315625"/>
            <a:ext cx="654622" cy="628561"/>
            <a:chOff x="359989" y="1315625"/>
            <a:chExt cx="654622" cy="628561"/>
          </a:xfrm>
        </p:grpSpPr>
        <p:sp>
          <p:nvSpPr>
            <p:cNvPr id="441" name="Google Shape;441;p50"/>
            <p:cNvSpPr/>
            <p:nvPr/>
          </p:nvSpPr>
          <p:spPr>
            <a:xfrm>
              <a:off x="359989" y="1315625"/>
              <a:ext cx="654622" cy="628561"/>
            </a:xfrm>
            <a:custGeom>
              <a:rect b="b" l="l" r="r" t="t"/>
              <a:pathLst>
                <a:path extrusionOk="0" h="21563" w="22457">
                  <a:moveTo>
                    <a:pt x="11222" y="1"/>
                  </a:moveTo>
                  <a:cubicBezTo>
                    <a:pt x="10053" y="1"/>
                    <a:pt x="8883" y="447"/>
                    <a:pt x="7990" y="1340"/>
                  </a:cubicBezTo>
                  <a:lnTo>
                    <a:pt x="1787" y="7555"/>
                  </a:lnTo>
                  <a:cubicBezTo>
                    <a:pt x="1" y="9341"/>
                    <a:pt x="1" y="12234"/>
                    <a:pt x="1787" y="14008"/>
                  </a:cubicBezTo>
                  <a:lnTo>
                    <a:pt x="7990" y="20223"/>
                  </a:lnTo>
                  <a:cubicBezTo>
                    <a:pt x="8883" y="21116"/>
                    <a:pt x="10053" y="21563"/>
                    <a:pt x="11222" y="21563"/>
                  </a:cubicBezTo>
                  <a:cubicBezTo>
                    <a:pt x="12392" y="21563"/>
                    <a:pt x="13562" y="21116"/>
                    <a:pt x="14455" y="20223"/>
                  </a:cubicBezTo>
                  <a:lnTo>
                    <a:pt x="20670" y="14008"/>
                  </a:lnTo>
                  <a:cubicBezTo>
                    <a:pt x="22456" y="12234"/>
                    <a:pt x="22456" y="9341"/>
                    <a:pt x="20670" y="7555"/>
                  </a:cubicBezTo>
                  <a:lnTo>
                    <a:pt x="14455" y="1340"/>
                  </a:lnTo>
                  <a:cubicBezTo>
                    <a:pt x="13562" y="447"/>
                    <a:pt x="12392" y="1"/>
                    <a:pt x="11222" y="1"/>
                  </a:cubicBezTo>
                  <a:close/>
                </a:path>
              </a:pathLst>
            </a:custGeom>
            <a:solidFill>
              <a:srgbClr val="2E75B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50"/>
            <p:cNvSpPr/>
            <p:nvPr/>
          </p:nvSpPr>
          <p:spPr>
            <a:xfrm>
              <a:off x="551626" y="1452359"/>
              <a:ext cx="271340" cy="353864"/>
            </a:xfrm>
            <a:custGeom>
              <a:rect b="b" l="l" r="r" t="t"/>
              <a:pathLst>
                <a:path extrusionOk="0" h="14052" w="10776">
                  <a:moveTo>
                    <a:pt x="5388" y="0"/>
                  </a:moveTo>
                  <a:cubicBezTo>
                    <a:pt x="3939" y="0"/>
                    <a:pt x="2741" y="1071"/>
                    <a:pt x="2552" y="2489"/>
                  </a:cubicBezTo>
                  <a:lnTo>
                    <a:pt x="4569" y="2489"/>
                  </a:lnTo>
                  <a:cubicBezTo>
                    <a:pt x="4789" y="2489"/>
                    <a:pt x="5010" y="2678"/>
                    <a:pt x="5010" y="2867"/>
                  </a:cubicBezTo>
                  <a:cubicBezTo>
                    <a:pt x="5010" y="3056"/>
                    <a:pt x="4789" y="3277"/>
                    <a:pt x="4569" y="3277"/>
                  </a:cubicBezTo>
                  <a:lnTo>
                    <a:pt x="2489" y="3277"/>
                  </a:lnTo>
                  <a:lnTo>
                    <a:pt x="2489" y="4096"/>
                  </a:lnTo>
                  <a:lnTo>
                    <a:pt x="4569" y="4096"/>
                  </a:lnTo>
                  <a:cubicBezTo>
                    <a:pt x="4789" y="4096"/>
                    <a:pt x="5010" y="4285"/>
                    <a:pt x="5010" y="4537"/>
                  </a:cubicBezTo>
                  <a:cubicBezTo>
                    <a:pt x="5010" y="4757"/>
                    <a:pt x="4789" y="4915"/>
                    <a:pt x="4569" y="4915"/>
                  </a:cubicBezTo>
                  <a:lnTo>
                    <a:pt x="2489" y="4915"/>
                  </a:lnTo>
                  <a:lnTo>
                    <a:pt x="2489" y="5734"/>
                  </a:lnTo>
                  <a:lnTo>
                    <a:pt x="4569" y="5734"/>
                  </a:lnTo>
                  <a:cubicBezTo>
                    <a:pt x="4789" y="5734"/>
                    <a:pt x="5010" y="5955"/>
                    <a:pt x="5010" y="6144"/>
                  </a:cubicBezTo>
                  <a:cubicBezTo>
                    <a:pt x="5010" y="6396"/>
                    <a:pt x="4789" y="6585"/>
                    <a:pt x="4569" y="6585"/>
                  </a:cubicBezTo>
                  <a:lnTo>
                    <a:pt x="2552" y="6585"/>
                  </a:lnTo>
                  <a:cubicBezTo>
                    <a:pt x="2741" y="7845"/>
                    <a:pt x="3750" y="8822"/>
                    <a:pt x="5010" y="9011"/>
                  </a:cubicBezTo>
                  <a:lnTo>
                    <a:pt x="5010" y="9861"/>
                  </a:lnTo>
                  <a:cubicBezTo>
                    <a:pt x="2804" y="9641"/>
                    <a:pt x="1072" y="7876"/>
                    <a:pt x="851" y="5671"/>
                  </a:cubicBezTo>
                  <a:lnTo>
                    <a:pt x="851" y="5671"/>
                  </a:lnTo>
                  <a:cubicBezTo>
                    <a:pt x="977" y="5703"/>
                    <a:pt x="1135" y="5734"/>
                    <a:pt x="1261" y="5734"/>
                  </a:cubicBezTo>
                  <a:cubicBezTo>
                    <a:pt x="1418" y="5734"/>
                    <a:pt x="1544" y="5703"/>
                    <a:pt x="1702" y="5671"/>
                  </a:cubicBezTo>
                  <a:lnTo>
                    <a:pt x="1702" y="3340"/>
                  </a:lnTo>
                  <a:cubicBezTo>
                    <a:pt x="1576" y="3308"/>
                    <a:pt x="1418" y="3277"/>
                    <a:pt x="1261" y="3277"/>
                  </a:cubicBezTo>
                  <a:cubicBezTo>
                    <a:pt x="599" y="3277"/>
                    <a:pt x="0" y="3812"/>
                    <a:pt x="0" y="4537"/>
                  </a:cubicBezTo>
                  <a:lnTo>
                    <a:pt x="0" y="5356"/>
                  </a:lnTo>
                  <a:cubicBezTo>
                    <a:pt x="0" y="8191"/>
                    <a:pt x="2206" y="10523"/>
                    <a:pt x="4947" y="10712"/>
                  </a:cubicBezTo>
                  <a:lnTo>
                    <a:pt x="4947" y="11657"/>
                  </a:lnTo>
                  <a:cubicBezTo>
                    <a:pt x="4002" y="11846"/>
                    <a:pt x="3308" y="12697"/>
                    <a:pt x="3308" y="13673"/>
                  </a:cubicBezTo>
                  <a:cubicBezTo>
                    <a:pt x="3308" y="13894"/>
                    <a:pt x="3497" y="14051"/>
                    <a:pt x="3750" y="14051"/>
                  </a:cubicBezTo>
                  <a:lnTo>
                    <a:pt x="7058" y="14051"/>
                  </a:lnTo>
                  <a:cubicBezTo>
                    <a:pt x="7278" y="14051"/>
                    <a:pt x="7436" y="13862"/>
                    <a:pt x="7436" y="13673"/>
                  </a:cubicBezTo>
                  <a:cubicBezTo>
                    <a:pt x="7436" y="12697"/>
                    <a:pt x="6743" y="11815"/>
                    <a:pt x="5797" y="11657"/>
                  </a:cubicBezTo>
                  <a:lnTo>
                    <a:pt x="5797" y="10712"/>
                  </a:lnTo>
                  <a:cubicBezTo>
                    <a:pt x="8570" y="10523"/>
                    <a:pt x="10775" y="8191"/>
                    <a:pt x="10775" y="5356"/>
                  </a:cubicBezTo>
                  <a:lnTo>
                    <a:pt x="10775" y="4537"/>
                  </a:lnTo>
                  <a:cubicBezTo>
                    <a:pt x="10775" y="3875"/>
                    <a:pt x="10240" y="3277"/>
                    <a:pt x="9515" y="3277"/>
                  </a:cubicBezTo>
                  <a:cubicBezTo>
                    <a:pt x="9357" y="3277"/>
                    <a:pt x="9263" y="3308"/>
                    <a:pt x="9137" y="3340"/>
                  </a:cubicBezTo>
                  <a:lnTo>
                    <a:pt x="9137" y="5671"/>
                  </a:lnTo>
                  <a:cubicBezTo>
                    <a:pt x="9263" y="5703"/>
                    <a:pt x="9420" y="5734"/>
                    <a:pt x="9515" y="5734"/>
                  </a:cubicBezTo>
                  <a:cubicBezTo>
                    <a:pt x="9672" y="5734"/>
                    <a:pt x="9798" y="5703"/>
                    <a:pt x="9925" y="5671"/>
                  </a:cubicBezTo>
                  <a:lnTo>
                    <a:pt x="9925" y="5671"/>
                  </a:lnTo>
                  <a:cubicBezTo>
                    <a:pt x="9767" y="7876"/>
                    <a:pt x="8003" y="9641"/>
                    <a:pt x="5797" y="9861"/>
                  </a:cubicBezTo>
                  <a:lnTo>
                    <a:pt x="5797" y="9011"/>
                  </a:lnTo>
                  <a:cubicBezTo>
                    <a:pt x="7058" y="8822"/>
                    <a:pt x="8034" y="7845"/>
                    <a:pt x="8223" y="6585"/>
                  </a:cubicBezTo>
                  <a:lnTo>
                    <a:pt x="6207" y="6585"/>
                  </a:lnTo>
                  <a:cubicBezTo>
                    <a:pt x="5986" y="6585"/>
                    <a:pt x="5829" y="6396"/>
                    <a:pt x="5829" y="6144"/>
                  </a:cubicBezTo>
                  <a:cubicBezTo>
                    <a:pt x="5829" y="5892"/>
                    <a:pt x="6018" y="5734"/>
                    <a:pt x="6207" y="5734"/>
                  </a:cubicBezTo>
                  <a:lnTo>
                    <a:pt x="8318" y="5734"/>
                  </a:lnTo>
                  <a:lnTo>
                    <a:pt x="8318" y="4915"/>
                  </a:lnTo>
                  <a:lnTo>
                    <a:pt x="6207" y="4915"/>
                  </a:lnTo>
                  <a:cubicBezTo>
                    <a:pt x="5986" y="4915"/>
                    <a:pt x="5829" y="4726"/>
                    <a:pt x="5829" y="4537"/>
                  </a:cubicBezTo>
                  <a:cubicBezTo>
                    <a:pt x="5829" y="4285"/>
                    <a:pt x="6018" y="4096"/>
                    <a:pt x="6207" y="4096"/>
                  </a:cubicBezTo>
                  <a:lnTo>
                    <a:pt x="8318" y="4096"/>
                  </a:lnTo>
                  <a:lnTo>
                    <a:pt x="8318" y="3277"/>
                  </a:lnTo>
                  <a:lnTo>
                    <a:pt x="6207" y="3277"/>
                  </a:lnTo>
                  <a:cubicBezTo>
                    <a:pt x="5986" y="3277"/>
                    <a:pt x="5829" y="3056"/>
                    <a:pt x="5829" y="2867"/>
                  </a:cubicBezTo>
                  <a:cubicBezTo>
                    <a:pt x="5829" y="2678"/>
                    <a:pt x="6018" y="2489"/>
                    <a:pt x="6207" y="2489"/>
                  </a:cubicBezTo>
                  <a:lnTo>
                    <a:pt x="8223" y="2489"/>
                  </a:lnTo>
                  <a:cubicBezTo>
                    <a:pt x="8034" y="1071"/>
                    <a:pt x="6806" y="0"/>
                    <a:pt x="53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3" name="Google Shape;443;p50"/>
          <p:cNvSpPr/>
          <p:nvPr/>
        </p:nvSpPr>
        <p:spPr>
          <a:xfrm>
            <a:off x="436189" y="4293850"/>
            <a:ext cx="654592" cy="628561"/>
          </a:xfrm>
          <a:custGeom>
            <a:rect b="b" l="l" r="r" t="t"/>
            <a:pathLst>
              <a:path extrusionOk="0" h="21563" w="22456">
                <a:moveTo>
                  <a:pt x="11224" y="1"/>
                </a:moveTo>
                <a:cubicBezTo>
                  <a:pt x="10056" y="1"/>
                  <a:pt x="8889" y="447"/>
                  <a:pt x="8002" y="1340"/>
                </a:cubicBezTo>
                <a:lnTo>
                  <a:pt x="1787" y="7555"/>
                </a:lnTo>
                <a:cubicBezTo>
                  <a:pt x="1" y="9341"/>
                  <a:pt x="1" y="12234"/>
                  <a:pt x="1787" y="14008"/>
                </a:cubicBezTo>
                <a:lnTo>
                  <a:pt x="8002" y="20223"/>
                </a:lnTo>
                <a:cubicBezTo>
                  <a:pt x="8889" y="21116"/>
                  <a:pt x="10056" y="21563"/>
                  <a:pt x="11224" y="21563"/>
                </a:cubicBezTo>
                <a:cubicBezTo>
                  <a:pt x="12392" y="21563"/>
                  <a:pt x="13562" y="21116"/>
                  <a:pt x="14455" y="20223"/>
                </a:cubicBezTo>
                <a:lnTo>
                  <a:pt x="20670" y="14008"/>
                </a:lnTo>
                <a:cubicBezTo>
                  <a:pt x="22456" y="12234"/>
                  <a:pt x="22456" y="9341"/>
                  <a:pt x="20670" y="7555"/>
                </a:cubicBezTo>
                <a:lnTo>
                  <a:pt x="14455" y="1340"/>
                </a:lnTo>
                <a:cubicBezTo>
                  <a:pt x="13562" y="447"/>
                  <a:pt x="12392" y="1"/>
                  <a:pt x="11224" y="1"/>
                </a:cubicBezTo>
                <a:close/>
              </a:path>
            </a:pathLst>
          </a:custGeom>
          <a:solidFill>
            <a:srgbClr val="CC0000"/>
          </a:solidFill>
          <a:ln>
            <a:noFill/>
          </a:ln>
        </p:spPr>
        <p:txBody>
          <a:bodyPr anchorCtr="0" anchor="ctr" bIns="91425" lIns="0" spcFirstLastPara="1" rIns="0" wrap="square" tIns="9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mecab</a:t>
            </a:r>
            <a:endParaRPr sz="1300">
              <a:solidFill>
                <a:srgbClr val="FFFFFF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444" name="Google Shape;444;p50"/>
          <p:cNvSpPr/>
          <p:nvPr/>
        </p:nvSpPr>
        <p:spPr>
          <a:xfrm>
            <a:off x="436189" y="2804737"/>
            <a:ext cx="654592" cy="628299"/>
          </a:xfrm>
          <a:custGeom>
            <a:rect b="b" l="l" r="r" t="t"/>
            <a:pathLst>
              <a:path extrusionOk="0" h="21554" w="22456">
                <a:moveTo>
                  <a:pt x="11224" y="1"/>
                </a:moveTo>
                <a:cubicBezTo>
                  <a:pt x="10056" y="1"/>
                  <a:pt x="8889" y="447"/>
                  <a:pt x="8002" y="1340"/>
                </a:cubicBezTo>
                <a:lnTo>
                  <a:pt x="1787" y="7543"/>
                </a:lnTo>
                <a:cubicBezTo>
                  <a:pt x="1" y="9329"/>
                  <a:pt x="1" y="12222"/>
                  <a:pt x="1787" y="14008"/>
                </a:cubicBezTo>
                <a:lnTo>
                  <a:pt x="8002" y="20223"/>
                </a:lnTo>
                <a:cubicBezTo>
                  <a:pt x="8889" y="21110"/>
                  <a:pt x="10056" y="21554"/>
                  <a:pt x="11224" y="21554"/>
                </a:cubicBezTo>
                <a:cubicBezTo>
                  <a:pt x="12392" y="21554"/>
                  <a:pt x="13562" y="21110"/>
                  <a:pt x="14455" y="20223"/>
                </a:cubicBezTo>
                <a:lnTo>
                  <a:pt x="20670" y="14008"/>
                </a:lnTo>
                <a:cubicBezTo>
                  <a:pt x="22456" y="12222"/>
                  <a:pt x="22456" y="9329"/>
                  <a:pt x="20670" y="7543"/>
                </a:cubicBezTo>
                <a:lnTo>
                  <a:pt x="14455" y="1340"/>
                </a:lnTo>
                <a:cubicBezTo>
                  <a:pt x="13562" y="447"/>
                  <a:pt x="12392" y="1"/>
                  <a:pt x="11224" y="1"/>
                </a:cubicBezTo>
                <a:close/>
              </a:path>
            </a:pathLst>
          </a:custGeom>
          <a:solidFill>
            <a:srgbClr val="FCBD24"/>
          </a:solidFill>
          <a:ln>
            <a:noFill/>
          </a:ln>
        </p:spPr>
        <p:txBody>
          <a:bodyPr anchorCtr="0" anchor="ctr" bIns="91425" lIns="0" spcFirstLastPara="1" rIns="0" wrap="square" tIns="9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Kakao</a:t>
            </a:r>
            <a:endParaRPr sz="1300">
              <a:solidFill>
                <a:srgbClr val="FFFFFF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445" name="Google Shape;445;p50"/>
          <p:cNvSpPr/>
          <p:nvPr/>
        </p:nvSpPr>
        <p:spPr>
          <a:xfrm>
            <a:off x="436189" y="2060312"/>
            <a:ext cx="654622" cy="628299"/>
          </a:xfrm>
          <a:custGeom>
            <a:rect b="b" l="l" r="r" t="t"/>
            <a:pathLst>
              <a:path extrusionOk="0" h="21554" w="22457">
                <a:moveTo>
                  <a:pt x="11235" y="0"/>
                </a:moveTo>
                <a:cubicBezTo>
                  <a:pt x="10065" y="0"/>
                  <a:pt x="8895" y="444"/>
                  <a:pt x="8002" y="1331"/>
                </a:cubicBezTo>
                <a:lnTo>
                  <a:pt x="1787" y="7546"/>
                </a:lnTo>
                <a:cubicBezTo>
                  <a:pt x="1" y="9332"/>
                  <a:pt x="1" y="12225"/>
                  <a:pt x="1787" y="14011"/>
                </a:cubicBezTo>
                <a:lnTo>
                  <a:pt x="8002" y="20214"/>
                </a:lnTo>
                <a:cubicBezTo>
                  <a:pt x="8895" y="21107"/>
                  <a:pt x="10065" y="21553"/>
                  <a:pt x="11235" y="21553"/>
                </a:cubicBezTo>
                <a:cubicBezTo>
                  <a:pt x="12404" y="21553"/>
                  <a:pt x="13574" y="21107"/>
                  <a:pt x="14467" y="20214"/>
                </a:cubicBezTo>
                <a:lnTo>
                  <a:pt x="20670" y="14011"/>
                </a:lnTo>
                <a:cubicBezTo>
                  <a:pt x="22456" y="12225"/>
                  <a:pt x="22456" y="9332"/>
                  <a:pt x="20670" y="7546"/>
                </a:cubicBezTo>
                <a:lnTo>
                  <a:pt x="14467" y="1331"/>
                </a:lnTo>
                <a:cubicBezTo>
                  <a:pt x="13574" y="444"/>
                  <a:pt x="12404" y="0"/>
                  <a:pt x="11235" y="0"/>
                </a:cubicBezTo>
                <a:close/>
              </a:path>
            </a:pathLst>
          </a:custGeom>
          <a:solidFill>
            <a:srgbClr val="4949E7"/>
          </a:solidFill>
          <a:ln>
            <a:noFill/>
          </a:ln>
        </p:spPr>
        <p:txBody>
          <a:bodyPr anchorCtr="0" anchor="ctr" bIns="91425" lIns="0" spcFirstLastPara="1" rIns="0" wrap="square" tIns="9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" sz="1300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bareun</a:t>
            </a:r>
            <a:endParaRPr sz="13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446" name="Google Shape;446;p50"/>
          <p:cNvSpPr/>
          <p:nvPr/>
        </p:nvSpPr>
        <p:spPr>
          <a:xfrm>
            <a:off x="436189" y="3549162"/>
            <a:ext cx="654622" cy="628561"/>
          </a:xfrm>
          <a:custGeom>
            <a:rect b="b" l="l" r="r" t="t"/>
            <a:pathLst>
              <a:path extrusionOk="0" h="21563" w="22457">
                <a:moveTo>
                  <a:pt x="11235" y="0"/>
                </a:moveTo>
                <a:cubicBezTo>
                  <a:pt x="10065" y="0"/>
                  <a:pt x="8895" y="447"/>
                  <a:pt x="8002" y="1340"/>
                </a:cubicBezTo>
                <a:lnTo>
                  <a:pt x="1787" y="7555"/>
                </a:lnTo>
                <a:cubicBezTo>
                  <a:pt x="1" y="9329"/>
                  <a:pt x="1" y="12222"/>
                  <a:pt x="1787" y="14008"/>
                </a:cubicBezTo>
                <a:lnTo>
                  <a:pt x="8002" y="20223"/>
                </a:lnTo>
                <a:cubicBezTo>
                  <a:pt x="8895" y="21116"/>
                  <a:pt x="10065" y="21562"/>
                  <a:pt x="11235" y="21562"/>
                </a:cubicBezTo>
                <a:cubicBezTo>
                  <a:pt x="12404" y="21562"/>
                  <a:pt x="13574" y="21116"/>
                  <a:pt x="14467" y="20223"/>
                </a:cubicBezTo>
                <a:lnTo>
                  <a:pt x="20670" y="14008"/>
                </a:lnTo>
                <a:cubicBezTo>
                  <a:pt x="22456" y="12222"/>
                  <a:pt x="22456" y="9329"/>
                  <a:pt x="20670" y="7555"/>
                </a:cubicBezTo>
                <a:lnTo>
                  <a:pt x="14467" y="1340"/>
                </a:lnTo>
                <a:cubicBezTo>
                  <a:pt x="13574" y="447"/>
                  <a:pt x="12404" y="0"/>
                  <a:pt x="11235" y="0"/>
                </a:cubicBezTo>
                <a:close/>
              </a:path>
            </a:pathLst>
          </a:custGeom>
          <a:solidFill>
            <a:srgbClr val="00C249"/>
          </a:solidFill>
          <a:ln>
            <a:noFill/>
          </a:ln>
        </p:spPr>
        <p:txBody>
          <a:bodyPr anchorCtr="0" anchor="ctr" bIns="91425" lIns="0" spcFirstLastPara="1" rIns="0" wrap="square" tIns="9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" sz="1300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Kiwi</a:t>
            </a:r>
            <a:endParaRPr sz="13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447" name="Google Shape;447;p50"/>
          <p:cNvSpPr txBox="1"/>
          <p:nvPr/>
        </p:nvSpPr>
        <p:spPr>
          <a:xfrm>
            <a:off x="906200" y="2174350"/>
            <a:ext cx="542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8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FF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가늘다</a:t>
            </a:r>
            <a:r>
              <a:rPr lang="ko">
                <a:solidFill>
                  <a:srgbClr val="0000FF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/형용사</a:t>
            </a:r>
            <a:r>
              <a:rPr lang="ko">
                <a:solidFill>
                  <a:srgbClr val="FF0000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 </a:t>
            </a:r>
            <a:r>
              <a:rPr lang="ko">
                <a:solidFill>
                  <a:srgbClr val="434343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+ ㄴ/관형사형 전성어미</a:t>
            </a:r>
            <a:endParaRPr>
              <a:solidFill>
                <a:srgbClr val="434343"/>
              </a:solidFill>
              <a:latin typeface="Gothic A1 Medium"/>
              <a:ea typeface="Gothic A1 Medium"/>
              <a:cs typeface="Gothic A1 Medium"/>
              <a:sym typeface="Gothic A1 Medium"/>
            </a:endParaRPr>
          </a:p>
        </p:txBody>
      </p:sp>
      <p:sp>
        <p:nvSpPr>
          <p:cNvPr id="448" name="Google Shape;448;p50"/>
          <p:cNvSpPr txBox="1"/>
          <p:nvPr/>
        </p:nvSpPr>
        <p:spPr>
          <a:xfrm>
            <a:off x="906200" y="2918904"/>
            <a:ext cx="542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8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0000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가다</a:t>
            </a:r>
            <a:r>
              <a:rPr lang="ko">
                <a:solidFill>
                  <a:srgbClr val="FF0000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/동사 </a:t>
            </a:r>
            <a:r>
              <a:rPr lang="ko">
                <a:solidFill>
                  <a:srgbClr val="434343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+ </a:t>
            </a:r>
            <a:r>
              <a:rPr lang="ko">
                <a:solidFill>
                  <a:srgbClr val="434343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ㄴ/관형사형 전성어미</a:t>
            </a:r>
            <a:endParaRPr>
              <a:solidFill>
                <a:srgbClr val="FF0000"/>
              </a:solidFill>
              <a:latin typeface="Gothic A1 Medium"/>
              <a:ea typeface="Gothic A1 Medium"/>
              <a:cs typeface="Gothic A1 Medium"/>
              <a:sym typeface="Gothic A1 Medium"/>
            </a:endParaRPr>
          </a:p>
        </p:txBody>
      </p:sp>
      <p:sp>
        <p:nvSpPr>
          <p:cNvPr id="449" name="Google Shape;449;p50"/>
          <p:cNvSpPr txBox="1"/>
          <p:nvPr/>
        </p:nvSpPr>
        <p:spPr>
          <a:xfrm>
            <a:off x="906200" y="3663458"/>
            <a:ext cx="542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8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4949E7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가늘다</a:t>
            </a:r>
            <a:r>
              <a:rPr lang="ko">
                <a:solidFill>
                  <a:srgbClr val="4949E7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/형용사</a:t>
            </a:r>
            <a:r>
              <a:rPr lang="ko">
                <a:solidFill>
                  <a:srgbClr val="FF0000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 </a:t>
            </a:r>
            <a:r>
              <a:rPr lang="ko">
                <a:solidFill>
                  <a:srgbClr val="434343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+ </a:t>
            </a:r>
            <a:r>
              <a:rPr lang="ko">
                <a:solidFill>
                  <a:srgbClr val="434343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ㄴ/관형사형 전성어미</a:t>
            </a:r>
            <a:endParaRPr>
              <a:solidFill>
                <a:srgbClr val="434343"/>
              </a:solidFill>
              <a:latin typeface="Gothic A1 Medium"/>
              <a:ea typeface="Gothic A1 Medium"/>
              <a:cs typeface="Gothic A1 Medium"/>
              <a:sym typeface="Gothic A1 Medium"/>
            </a:endParaRPr>
          </a:p>
        </p:txBody>
      </p:sp>
      <p:sp>
        <p:nvSpPr>
          <p:cNvPr id="450" name="Google Shape;450;p50"/>
          <p:cNvSpPr txBox="1"/>
          <p:nvPr/>
        </p:nvSpPr>
        <p:spPr>
          <a:xfrm>
            <a:off x="906200" y="4408013"/>
            <a:ext cx="542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8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0000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가다</a:t>
            </a:r>
            <a:r>
              <a:rPr lang="ko">
                <a:solidFill>
                  <a:srgbClr val="FF0000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/보조용언 </a:t>
            </a:r>
            <a:r>
              <a:rPr lang="ko">
                <a:solidFill>
                  <a:srgbClr val="434343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+ </a:t>
            </a:r>
            <a:r>
              <a:rPr lang="ko">
                <a:solidFill>
                  <a:srgbClr val="434343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ㄴ/관형사형 전성어미</a:t>
            </a:r>
            <a:endParaRPr>
              <a:solidFill>
                <a:srgbClr val="434343"/>
              </a:solidFill>
              <a:latin typeface="Gothic A1 Medium"/>
              <a:ea typeface="Gothic A1 Medium"/>
              <a:cs typeface="Gothic A1 Medium"/>
              <a:sym typeface="Gothic A1 Medium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1"/>
          <p:cNvSpPr txBox="1"/>
          <p:nvPr>
            <p:ph type="title"/>
          </p:nvPr>
        </p:nvSpPr>
        <p:spPr>
          <a:xfrm>
            <a:off x="924050" y="286500"/>
            <a:ext cx="74667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예제2) 다른 형태소분석기 시연 화면 (신조</a:t>
            </a:r>
            <a:r>
              <a:rPr lang="ko"/>
              <a:t>어)</a:t>
            </a:r>
            <a:endParaRPr/>
          </a:p>
        </p:txBody>
      </p:sp>
      <p:sp>
        <p:nvSpPr>
          <p:cNvPr id="456" name="Google Shape;456;p5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457" name="Google Shape;457;p51"/>
          <p:cNvSpPr txBox="1"/>
          <p:nvPr/>
        </p:nvSpPr>
        <p:spPr>
          <a:xfrm>
            <a:off x="423600" y="30153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Kiwi</a:t>
            </a:r>
            <a:endParaRPr sz="1200"/>
          </a:p>
        </p:txBody>
      </p:sp>
      <p:sp>
        <p:nvSpPr>
          <p:cNvPr id="458" name="Google Shape;458;p51"/>
          <p:cNvSpPr txBox="1"/>
          <p:nvPr/>
        </p:nvSpPr>
        <p:spPr>
          <a:xfrm>
            <a:off x="423600" y="1193863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kakao</a:t>
            </a:r>
            <a:endParaRPr sz="1200"/>
          </a:p>
        </p:txBody>
      </p:sp>
      <p:sp>
        <p:nvSpPr>
          <p:cNvPr id="459" name="Google Shape;459;p51"/>
          <p:cNvSpPr txBox="1"/>
          <p:nvPr/>
        </p:nvSpPr>
        <p:spPr>
          <a:xfrm>
            <a:off x="5088275" y="1193863"/>
            <a:ext cx="101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Mecab</a:t>
            </a:r>
            <a:endParaRPr sz="1200"/>
          </a:p>
        </p:txBody>
      </p:sp>
      <p:pic>
        <p:nvPicPr>
          <p:cNvPr id="460" name="Google Shape;460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8284" y="1611437"/>
            <a:ext cx="3507024" cy="148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600" y="3422175"/>
            <a:ext cx="3651049" cy="1542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3600" y="1668125"/>
            <a:ext cx="3651050" cy="137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2"/>
          <p:cNvSpPr/>
          <p:nvPr/>
        </p:nvSpPr>
        <p:spPr>
          <a:xfrm>
            <a:off x="856225" y="1383300"/>
            <a:ext cx="8003871" cy="492868"/>
          </a:xfrm>
          <a:custGeom>
            <a:rect b="b" l="l" r="r" t="t"/>
            <a:pathLst>
              <a:path extrusionOk="0" h="16908" w="88095">
                <a:moveTo>
                  <a:pt x="0" y="0"/>
                </a:moveTo>
                <a:lnTo>
                  <a:pt x="0" y="16907"/>
                </a:lnTo>
                <a:lnTo>
                  <a:pt x="79879" y="16907"/>
                </a:lnTo>
                <a:cubicBezTo>
                  <a:pt x="80570" y="16788"/>
                  <a:pt x="81236" y="16455"/>
                  <a:pt x="81772" y="15919"/>
                </a:cubicBezTo>
                <a:lnTo>
                  <a:pt x="86678" y="11014"/>
                </a:lnTo>
                <a:cubicBezTo>
                  <a:pt x="88094" y="9597"/>
                  <a:pt x="88094" y="7311"/>
                  <a:pt x="86678" y="5906"/>
                </a:cubicBezTo>
                <a:lnTo>
                  <a:pt x="81772" y="1000"/>
                </a:lnTo>
                <a:cubicBezTo>
                  <a:pt x="81248" y="465"/>
                  <a:pt x="80582" y="131"/>
                  <a:pt x="79903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8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0000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키</a:t>
            </a:r>
            <a:r>
              <a:rPr lang="ko">
                <a:solidFill>
                  <a:srgbClr val="FF0000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다랗고 커여운</a:t>
            </a:r>
            <a:r>
              <a:rPr lang="ko">
                <a:solidFill>
                  <a:srgbClr val="434343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 댕댕이들이 </a:t>
            </a:r>
            <a:r>
              <a:rPr lang="ko">
                <a:solidFill>
                  <a:srgbClr val="FF0000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킹받게</a:t>
            </a:r>
            <a:r>
              <a:rPr lang="ko">
                <a:solidFill>
                  <a:srgbClr val="434343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 모여있네요</a:t>
            </a:r>
            <a:endParaRPr>
              <a:solidFill>
                <a:srgbClr val="434343"/>
              </a:solidFill>
              <a:latin typeface="Gothic A1 Medium"/>
              <a:ea typeface="Gothic A1 Medium"/>
              <a:cs typeface="Gothic A1 Medium"/>
              <a:sym typeface="Gothic A1 Medium"/>
            </a:endParaRPr>
          </a:p>
        </p:txBody>
      </p:sp>
      <p:sp>
        <p:nvSpPr>
          <p:cNvPr id="468" name="Google Shape;468;p52"/>
          <p:cNvSpPr txBox="1"/>
          <p:nvPr>
            <p:ph type="title"/>
          </p:nvPr>
        </p:nvSpPr>
        <p:spPr>
          <a:xfrm>
            <a:off x="924050" y="286500"/>
            <a:ext cx="74667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예제2) 형태소분석 결과 비교 (신조</a:t>
            </a:r>
            <a:r>
              <a:rPr lang="ko"/>
              <a:t>어)</a:t>
            </a:r>
            <a:endParaRPr/>
          </a:p>
        </p:txBody>
      </p:sp>
      <p:sp>
        <p:nvSpPr>
          <p:cNvPr id="469" name="Google Shape;469;p52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470" name="Google Shape;470;p52"/>
          <p:cNvSpPr/>
          <p:nvPr/>
        </p:nvSpPr>
        <p:spPr>
          <a:xfrm>
            <a:off x="8710265" y="1559606"/>
            <a:ext cx="140590" cy="140590"/>
          </a:xfrm>
          <a:custGeom>
            <a:rect b="b" l="l" r="r" t="t"/>
            <a:pathLst>
              <a:path extrusionOk="0" h="4823" w="4823">
                <a:moveTo>
                  <a:pt x="2405" y="1"/>
                </a:moveTo>
                <a:cubicBezTo>
                  <a:pt x="1072" y="1"/>
                  <a:pt x="0" y="1072"/>
                  <a:pt x="0" y="2406"/>
                </a:cubicBezTo>
                <a:cubicBezTo>
                  <a:pt x="0" y="3739"/>
                  <a:pt x="1072" y="4823"/>
                  <a:pt x="2405" y="4823"/>
                </a:cubicBezTo>
                <a:cubicBezTo>
                  <a:pt x="3739" y="4823"/>
                  <a:pt x="4822" y="3739"/>
                  <a:pt x="4822" y="2406"/>
                </a:cubicBezTo>
                <a:cubicBezTo>
                  <a:pt x="4822" y="1072"/>
                  <a:pt x="3739" y="1"/>
                  <a:pt x="2405" y="1"/>
                </a:cubicBezTo>
                <a:close/>
              </a:path>
            </a:pathLst>
          </a:cu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1" name="Google Shape;471;p52"/>
          <p:cNvGrpSpPr/>
          <p:nvPr/>
        </p:nvGrpSpPr>
        <p:grpSpPr>
          <a:xfrm>
            <a:off x="436189" y="1315625"/>
            <a:ext cx="654622" cy="628561"/>
            <a:chOff x="359989" y="1315625"/>
            <a:chExt cx="654622" cy="628561"/>
          </a:xfrm>
        </p:grpSpPr>
        <p:sp>
          <p:nvSpPr>
            <p:cNvPr id="472" name="Google Shape;472;p52"/>
            <p:cNvSpPr/>
            <p:nvPr/>
          </p:nvSpPr>
          <p:spPr>
            <a:xfrm>
              <a:off x="359989" y="1315625"/>
              <a:ext cx="654622" cy="628561"/>
            </a:xfrm>
            <a:custGeom>
              <a:rect b="b" l="l" r="r" t="t"/>
              <a:pathLst>
                <a:path extrusionOk="0" h="21563" w="22457">
                  <a:moveTo>
                    <a:pt x="11222" y="1"/>
                  </a:moveTo>
                  <a:cubicBezTo>
                    <a:pt x="10053" y="1"/>
                    <a:pt x="8883" y="447"/>
                    <a:pt x="7990" y="1340"/>
                  </a:cubicBezTo>
                  <a:lnTo>
                    <a:pt x="1787" y="7555"/>
                  </a:lnTo>
                  <a:cubicBezTo>
                    <a:pt x="1" y="9341"/>
                    <a:pt x="1" y="12234"/>
                    <a:pt x="1787" y="14008"/>
                  </a:cubicBezTo>
                  <a:lnTo>
                    <a:pt x="7990" y="20223"/>
                  </a:lnTo>
                  <a:cubicBezTo>
                    <a:pt x="8883" y="21116"/>
                    <a:pt x="10053" y="21563"/>
                    <a:pt x="11222" y="21563"/>
                  </a:cubicBezTo>
                  <a:cubicBezTo>
                    <a:pt x="12392" y="21563"/>
                    <a:pt x="13562" y="21116"/>
                    <a:pt x="14455" y="20223"/>
                  </a:cubicBezTo>
                  <a:lnTo>
                    <a:pt x="20670" y="14008"/>
                  </a:lnTo>
                  <a:cubicBezTo>
                    <a:pt x="22456" y="12234"/>
                    <a:pt x="22456" y="9341"/>
                    <a:pt x="20670" y="7555"/>
                  </a:cubicBezTo>
                  <a:lnTo>
                    <a:pt x="14455" y="1340"/>
                  </a:lnTo>
                  <a:cubicBezTo>
                    <a:pt x="13562" y="447"/>
                    <a:pt x="12392" y="1"/>
                    <a:pt x="11222" y="1"/>
                  </a:cubicBezTo>
                  <a:close/>
                </a:path>
              </a:pathLst>
            </a:custGeom>
            <a:solidFill>
              <a:srgbClr val="2E75B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52"/>
            <p:cNvSpPr/>
            <p:nvPr/>
          </p:nvSpPr>
          <p:spPr>
            <a:xfrm>
              <a:off x="551626" y="1452359"/>
              <a:ext cx="271340" cy="353864"/>
            </a:xfrm>
            <a:custGeom>
              <a:rect b="b" l="l" r="r" t="t"/>
              <a:pathLst>
                <a:path extrusionOk="0" h="14052" w="10776">
                  <a:moveTo>
                    <a:pt x="5388" y="0"/>
                  </a:moveTo>
                  <a:cubicBezTo>
                    <a:pt x="3939" y="0"/>
                    <a:pt x="2741" y="1071"/>
                    <a:pt x="2552" y="2489"/>
                  </a:cubicBezTo>
                  <a:lnTo>
                    <a:pt x="4569" y="2489"/>
                  </a:lnTo>
                  <a:cubicBezTo>
                    <a:pt x="4789" y="2489"/>
                    <a:pt x="5010" y="2678"/>
                    <a:pt x="5010" y="2867"/>
                  </a:cubicBezTo>
                  <a:cubicBezTo>
                    <a:pt x="5010" y="3056"/>
                    <a:pt x="4789" y="3277"/>
                    <a:pt x="4569" y="3277"/>
                  </a:cubicBezTo>
                  <a:lnTo>
                    <a:pt x="2489" y="3277"/>
                  </a:lnTo>
                  <a:lnTo>
                    <a:pt x="2489" y="4096"/>
                  </a:lnTo>
                  <a:lnTo>
                    <a:pt x="4569" y="4096"/>
                  </a:lnTo>
                  <a:cubicBezTo>
                    <a:pt x="4789" y="4096"/>
                    <a:pt x="5010" y="4285"/>
                    <a:pt x="5010" y="4537"/>
                  </a:cubicBezTo>
                  <a:cubicBezTo>
                    <a:pt x="5010" y="4757"/>
                    <a:pt x="4789" y="4915"/>
                    <a:pt x="4569" y="4915"/>
                  </a:cubicBezTo>
                  <a:lnTo>
                    <a:pt x="2489" y="4915"/>
                  </a:lnTo>
                  <a:lnTo>
                    <a:pt x="2489" y="5734"/>
                  </a:lnTo>
                  <a:lnTo>
                    <a:pt x="4569" y="5734"/>
                  </a:lnTo>
                  <a:cubicBezTo>
                    <a:pt x="4789" y="5734"/>
                    <a:pt x="5010" y="5955"/>
                    <a:pt x="5010" y="6144"/>
                  </a:cubicBezTo>
                  <a:cubicBezTo>
                    <a:pt x="5010" y="6396"/>
                    <a:pt x="4789" y="6585"/>
                    <a:pt x="4569" y="6585"/>
                  </a:cubicBezTo>
                  <a:lnTo>
                    <a:pt x="2552" y="6585"/>
                  </a:lnTo>
                  <a:cubicBezTo>
                    <a:pt x="2741" y="7845"/>
                    <a:pt x="3750" y="8822"/>
                    <a:pt x="5010" y="9011"/>
                  </a:cubicBezTo>
                  <a:lnTo>
                    <a:pt x="5010" y="9861"/>
                  </a:lnTo>
                  <a:cubicBezTo>
                    <a:pt x="2804" y="9641"/>
                    <a:pt x="1072" y="7876"/>
                    <a:pt x="851" y="5671"/>
                  </a:cubicBezTo>
                  <a:lnTo>
                    <a:pt x="851" y="5671"/>
                  </a:lnTo>
                  <a:cubicBezTo>
                    <a:pt x="977" y="5703"/>
                    <a:pt x="1135" y="5734"/>
                    <a:pt x="1261" y="5734"/>
                  </a:cubicBezTo>
                  <a:cubicBezTo>
                    <a:pt x="1418" y="5734"/>
                    <a:pt x="1544" y="5703"/>
                    <a:pt x="1702" y="5671"/>
                  </a:cubicBezTo>
                  <a:lnTo>
                    <a:pt x="1702" y="3340"/>
                  </a:lnTo>
                  <a:cubicBezTo>
                    <a:pt x="1576" y="3308"/>
                    <a:pt x="1418" y="3277"/>
                    <a:pt x="1261" y="3277"/>
                  </a:cubicBezTo>
                  <a:cubicBezTo>
                    <a:pt x="599" y="3277"/>
                    <a:pt x="0" y="3812"/>
                    <a:pt x="0" y="4537"/>
                  </a:cubicBezTo>
                  <a:lnTo>
                    <a:pt x="0" y="5356"/>
                  </a:lnTo>
                  <a:cubicBezTo>
                    <a:pt x="0" y="8191"/>
                    <a:pt x="2206" y="10523"/>
                    <a:pt x="4947" y="10712"/>
                  </a:cubicBezTo>
                  <a:lnTo>
                    <a:pt x="4947" y="11657"/>
                  </a:lnTo>
                  <a:cubicBezTo>
                    <a:pt x="4002" y="11846"/>
                    <a:pt x="3308" y="12697"/>
                    <a:pt x="3308" y="13673"/>
                  </a:cubicBezTo>
                  <a:cubicBezTo>
                    <a:pt x="3308" y="13894"/>
                    <a:pt x="3497" y="14051"/>
                    <a:pt x="3750" y="14051"/>
                  </a:cubicBezTo>
                  <a:lnTo>
                    <a:pt x="7058" y="14051"/>
                  </a:lnTo>
                  <a:cubicBezTo>
                    <a:pt x="7278" y="14051"/>
                    <a:pt x="7436" y="13862"/>
                    <a:pt x="7436" y="13673"/>
                  </a:cubicBezTo>
                  <a:cubicBezTo>
                    <a:pt x="7436" y="12697"/>
                    <a:pt x="6743" y="11815"/>
                    <a:pt x="5797" y="11657"/>
                  </a:cubicBezTo>
                  <a:lnTo>
                    <a:pt x="5797" y="10712"/>
                  </a:lnTo>
                  <a:cubicBezTo>
                    <a:pt x="8570" y="10523"/>
                    <a:pt x="10775" y="8191"/>
                    <a:pt x="10775" y="5356"/>
                  </a:cubicBezTo>
                  <a:lnTo>
                    <a:pt x="10775" y="4537"/>
                  </a:lnTo>
                  <a:cubicBezTo>
                    <a:pt x="10775" y="3875"/>
                    <a:pt x="10240" y="3277"/>
                    <a:pt x="9515" y="3277"/>
                  </a:cubicBezTo>
                  <a:cubicBezTo>
                    <a:pt x="9357" y="3277"/>
                    <a:pt x="9263" y="3308"/>
                    <a:pt x="9137" y="3340"/>
                  </a:cubicBezTo>
                  <a:lnTo>
                    <a:pt x="9137" y="5671"/>
                  </a:lnTo>
                  <a:cubicBezTo>
                    <a:pt x="9263" y="5703"/>
                    <a:pt x="9420" y="5734"/>
                    <a:pt x="9515" y="5734"/>
                  </a:cubicBezTo>
                  <a:cubicBezTo>
                    <a:pt x="9672" y="5734"/>
                    <a:pt x="9798" y="5703"/>
                    <a:pt x="9925" y="5671"/>
                  </a:cubicBezTo>
                  <a:lnTo>
                    <a:pt x="9925" y="5671"/>
                  </a:lnTo>
                  <a:cubicBezTo>
                    <a:pt x="9767" y="7876"/>
                    <a:pt x="8003" y="9641"/>
                    <a:pt x="5797" y="9861"/>
                  </a:cubicBezTo>
                  <a:lnTo>
                    <a:pt x="5797" y="9011"/>
                  </a:lnTo>
                  <a:cubicBezTo>
                    <a:pt x="7058" y="8822"/>
                    <a:pt x="8034" y="7845"/>
                    <a:pt x="8223" y="6585"/>
                  </a:cubicBezTo>
                  <a:lnTo>
                    <a:pt x="6207" y="6585"/>
                  </a:lnTo>
                  <a:cubicBezTo>
                    <a:pt x="5986" y="6585"/>
                    <a:pt x="5829" y="6396"/>
                    <a:pt x="5829" y="6144"/>
                  </a:cubicBezTo>
                  <a:cubicBezTo>
                    <a:pt x="5829" y="5892"/>
                    <a:pt x="6018" y="5734"/>
                    <a:pt x="6207" y="5734"/>
                  </a:cubicBezTo>
                  <a:lnTo>
                    <a:pt x="8318" y="5734"/>
                  </a:lnTo>
                  <a:lnTo>
                    <a:pt x="8318" y="4915"/>
                  </a:lnTo>
                  <a:lnTo>
                    <a:pt x="6207" y="4915"/>
                  </a:lnTo>
                  <a:cubicBezTo>
                    <a:pt x="5986" y="4915"/>
                    <a:pt x="5829" y="4726"/>
                    <a:pt x="5829" y="4537"/>
                  </a:cubicBezTo>
                  <a:cubicBezTo>
                    <a:pt x="5829" y="4285"/>
                    <a:pt x="6018" y="4096"/>
                    <a:pt x="6207" y="4096"/>
                  </a:cubicBezTo>
                  <a:lnTo>
                    <a:pt x="8318" y="4096"/>
                  </a:lnTo>
                  <a:lnTo>
                    <a:pt x="8318" y="3277"/>
                  </a:lnTo>
                  <a:lnTo>
                    <a:pt x="6207" y="3277"/>
                  </a:lnTo>
                  <a:cubicBezTo>
                    <a:pt x="5986" y="3277"/>
                    <a:pt x="5829" y="3056"/>
                    <a:pt x="5829" y="2867"/>
                  </a:cubicBezTo>
                  <a:cubicBezTo>
                    <a:pt x="5829" y="2678"/>
                    <a:pt x="6018" y="2489"/>
                    <a:pt x="6207" y="2489"/>
                  </a:cubicBezTo>
                  <a:lnTo>
                    <a:pt x="8223" y="2489"/>
                  </a:lnTo>
                  <a:cubicBezTo>
                    <a:pt x="8034" y="1071"/>
                    <a:pt x="6806" y="0"/>
                    <a:pt x="53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4" name="Google Shape;474;p52"/>
          <p:cNvSpPr/>
          <p:nvPr/>
        </p:nvSpPr>
        <p:spPr>
          <a:xfrm>
            <a:off x="436189" y="4293850"/>
            <a:ext cx="654592" cy="628561"/>
          </a:xfrm>
          <a:custGeom>
            <a:rect b="b" l="l" r="r" t="t"/>
            <a:pathLst>
              <a:path extrusionOk="0" h="21563" w="22456">
                <a:moveTo>
                  <a:pt x="11224" y="1"/>
                </a:moveTo>
                <a:cubicBezTo>
                  <a:pt x="10056" y="1"/>
                  <a:pt x="8889" y="447"/>
                  <a:pt x="8002" y="1340"/>
                </a:cubicBezTo>
                <a:lnTo>
                  <a:pt x="1787" y="7555"/>
                </a:lnTo>
                <a:cubicBezTo>
                  <a:pt x="1" y="9341"/>
                  <a:pt x="1" y="12234"/>
                  <a:pt x="1787" y="14008"/>
                </a:cubicBezTo>
                <a:lnTo>
                  <a:pt x="8002" y="20223"/>
                </a:lnTo>
                <a:cubicBezTo>
                  <a:pt x="8889" y="21116"/>
                  <a:pt x="10056" y="21563"/>
                  <a:pt x="11224" y="21563"/>
                </a:cubicBezTo>
                <a:cubicBezTo>
                  <a:pt x="12392" y="21563"/>
                  <a:pt x="13562" y="21116"/>
                  <a:pt x="14455" y="20223"/>
                </a:cubicBezTo>
                <a:lnTo>
                  <a:pt x="20670" y="14008"/>
                </a:lnTo>
                <a:cubicBezTo>
                  <a:pt x="22456" y="12234"/>
                  <a:pt x="22456" y="9341"/>
                  <a:pt x="20670" y="7555"/>
                </a:cubicBezTo>
                <a:lnTo>
                  <a:pt x="14455" y="1340"/>
                </a:lnTo>
                <a:cubicBezTo>
                  <a:pt x="13562" y="447"/>
                  <a:pt x="12392" y="1"/>
                  <a:pt x="11224" y="1"/>
                </a:cubicBezTo>
                <a:close/>
              </a:path>
            </a:pathLst>
          </a:custGeom>
          <a:solidFill>
            <a:srgbClr val="CC0000"/>
          </a:solidFill>
          <a:ln>
            <a:noFill/>
          </a:ln>
        </p:spPr>
        <p:txBody>
          <a:bodyPr anchorCtr="0" anchor="ctr" bIns="91425" lIns="0" spcFirstLastPara="1" rIns="0" wrap="square" tIns="9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mecab</a:t>
            </a:r>
            <a:endParaRPr sz="1300">
              <a:solidFill>
                <a:srgbClr val="FFFFFF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475" name="Google Shape;475;p52"/>
          <p:cNvSpPr/>
          <p:nvPr/>
        </p:nvSpPr>
        <p:spPr>
          <a:xfrm>
            <a:off x="436189" y="2804737"/>
            <a:ext cx="654592" cy="628299"/>
          </a:xfrm>
          <a:custGeom>
            <a:rect b="b" l="l" r="r" t="t"/>
            <a:pathLst>
              <a:path extrusionOk="0" h="21554" w="22456">
                <a:moveTo>
                  <a:pt x="11224" y="1"/>
                </a:moveTo>
                <a:cubicBezTo>
                  <a:pt x="10056" y="1"/>
                  <a:pt x="8889" y="447"/>
                  <a:pt x="8002" y="1340"/>
                </a:cubicBezTo>
                <a:lnTo>
                  <a:pt x="1787" y="7543"/>
                </a:lnTo>
                <a:cubicBezTo>
                  <a:pt x="1" y="9329"/>
                  <a:pt x="1" y="12222"/>
                  <a:pt x="1787" y="14008"/>
                </a:cubicBezTo>
                <a:lnTo>
                  <a:pt x="8002" y="20223"/>
                </a:lnTo>
                <a:cubicBezTo>
                  <a:pt x="8889" y="21110"/>
                  <a:pt x="10056" y="21554"/>
                  <a:pt x="11224" y="21554"/>
                </a:cubicBezTo>
                <a:cubicBezTo>
                  <a:pt x="12392" y="21554"/>
                  <a:pt x="13562" y="21110"/>
                  <a:pt x="14455" y="20223"/>
                </a:cubicBezTo>
                <a:lnTo>
                  <a:pt x="20670" y="14008"/>
                </a:lnTo>
                <a:cubicBezTo>
                  <a:pt x="22456" y="12222"/>
                  <a:pt x="22456" y="9329"/>
                  <a:pt x="20670" y="7543"/>
                </a:cubicBezTo>
                <a:lnTo>
                  <a:pt x="14455" y="1340"/>
                </a:lnTo>
                <a:cubicBezTo>
                  <a:pt x="13562" y="447"/>
                  <a:pt x="12392" y="1"/>
                  <a:pt x="11224" y="1"/>
                </a:cubicBezTo>
                <a:close/>
              </a:path>
            </a:pathLst>
          </a:custGeom>
          <a:solidFill>
            <a:srgbClr val="FCBD24"/>
          </a:solidFill>
          <a:ln>
            <a:noFill/>
          </a:ln>
        </p:spPr>
        <p:txBody>
          <a:bodyPr anchorCtr="0" anchor="ctr" bIns="91425" lIns="0" spcFirstLastPara="1" rIns="0" wrap="square" tIns="9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Kakao</a:t>
            </a:r>
            <a:endParaRPr sz="1300">
              <a:solidFill>
                <a:srgbClr val="FFFFFF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476" name="Google Shape;476;p52"/>
          <p:cNvSpPr/>
          <p:nvPr/>
        </p:nvSpPr>
        <p:spPr>
          <a:xfrm>
            <a:off x="436189" y="2060312"/>
            <a:ext cx="654622" cy="628299"/>
          </a:xfrm>
          <a:custGeom>
            <a:rect b="b" l="l" r="r" t="t"/>
            <a:pathLst>
              <a:path extrusionOk="0" h="21554" w="22457">
                <a:moveTo>
                  <a:pt x="11235" y="0"/>
                </a:moveTo>
                <a:cubicBezTo>
                  <a:pt x="10065" y="0"/>
                  <a:pt x="8895" y="444"/>
                  <a:pt x="8002" y="1331"/>
                </a:cubicBezTo>
                <a:lnTo>
                  <a:pt x="1787" y="7546"/>
                </a:lnTo>
                <a:cubicBezTo>
                  <a:pt x="1" y="9332"/>
                  <a:pt x="1" y="12225"/>
                  <a:pt x="1787" y="14011"/>
                </a:cubicBezTo>
                <a:lnTo>
                  <a:pt x="8002" y="20214"/>
                </a:lnTo>
                <a:cubicBezTo>
                  <a:pt x="8895" y="21107"/>
                  <a:pt x="10065" y="21553"/>
                  <a:pt x="11235" y="21553"/>
                </a:cubicBezTo>
                <a:cubicBezTo>
                  <a:pt x="12404" y="21553"/>
                  <a:pt x="13574" y="21107"/>
                  <a:pt x="14467" y="20214"/>
                </a:cubicBezTo>
                <a:lnTo>
                  <a:pt x="20670" y="14011"/>
                </a:lnTo>
                <a:cubicBezTo>
                  <a:pt x="22456" y="12225"/>
                  <a:pt x="22456" y="9332"/>
                  <a:pt x="20670" y="7546"/>
                </a:cubicBezTo>
                <a:lnTo>
                  <a:pt x="14467" y="1331"/>
                </a:lnTo>
                <a:cubicBezTo>
                  <a:pt x="13574" y="444"/>
                  <a:pt x="12404" y="0"/>
                  <a:pt x="11235" y="0"/>
                </a:cubicBezTo>
                <a:close/>
              </a:path>
            </a:pathLst>
          </a:custGeom>
          <a:solidFill>
            <a:srgbClr val="4949E7"/>
          </a:solidFill>
          <a:ln>
            <a:noFill/>
          </a:ln>
        </p:spPr>
        <p:txBody>
          <a:bodyPr anchorCtr="0" anchor="ctr" bIns="91425" lIns="0" spcFirstLastPara="1" rIns="0" wrap="square" tIns="9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" sz="1300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bareun</a:t>
            </a:r>
            <a:endParaRPr sz="13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477" name="Google Shape;477;p52"/>
          <p:cNvSpPr/>
          <p:nvPr/>
        </p:nvSpPr>
        <p:spPr>
          <a:xfrm>
            <a:off x="436189" y="3549162"/>
            <a:ext cx="654622" cy="628561"/>
          </a:xfrm>
          <a:custGeom>
            <a:rect b="b" l="l" r="r" t="t"/>
            <a:pathLst>
              <a:path extrusionOk="0" h="21563" w="22457">
                <a:moveTo>
                  <a:pt x="11235" y="0"/>
                </a:moveTo>
                <a:cubicBezTo>
                  <a:pt x="10065" y="0"/>
                  <a:pt x="8895" y="447"/>
                  <a:pt x="8002" y="1340"/>
                </a:cubicBezTo>
                <a:lnTo>
                  <a:pt x="1787" y="7555"/>
                </a:lnTo>
                <a:cubicBezTo>
                  <a:pt x="1" y="9329"/>
                  <a:pt x="1" y="12222"/>
                  <a:pt x="1787" y="14008"/>
                </a:cubicBezTo>
                <a:lnTo>
                  <a:pt x="8002" y="20223"/>
                </a:lnTo>
                <a:cubicBezTo>
                  <a:pt x="8895" y="21116"/>
                  <a:pt x="10065" y="21562"/>
                  <a:pt x="11235" y="21562"/>
                </a:cubicBezTo>
                <a:cubicBezTo>
                  <a:pt x="12404" y="21562"/>
                  <a:pt x="13574" y="21116"/>
                  <a:pt x="14467" y="20223"/>
                </a:cubicBezTo>
                <a:lnTo>
                  <a:pt x="20670" y="14008"/>
                </a:lnTo>
                <a:cubicBezTo>
                  <a:pt x="22456" y="12222"/>
                  <a:pt x="22456" y="9329"/>
                  <a:pt x="20670" y="7555"/>
                </a:cubicBezTo>
                <a:lnTo>
                  <a:pt x="14467" y="1340"/>
                </a:lnTo>
                <a:cubicBezTo>
                  <a:pt x="13574" y="447"/>
                  <a:pt x="12404" y="0"/>
                  <a:pt x="11235" y="0"/>
                </a:cubicBezTo>
                <a:close/>
              </a:path>
            </a:pathLst>
          </a:custGeom>
          <a:solidFill>
            <a:srgbClr val="00C249"/>
          </a:solidFill>
          <a:ln>
            <a:noFill/>
          </a:ln>
        </p:spPr>
        <p:txBody>
          <a:bodyPr anchorCtr="0" anchor="ctr" bIns="91425" lIns="0" spcFirstLastPara="1" rIns="0" wrap="square" tIns="9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" sz="1300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Kiwi</a:t>
            </a:r>
            <a:endParaRPr sz="13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478" name="Google Shape;478;p52"/>
          <p:cNvSpPr txBox="1"/>
          <p:nvPr/>
        </p:nvSpPr>
        <p:spPr>
          <a:xfrm>
            <a:off x="830000" y="2174350"/>
            <a:ext cx="542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8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FF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키</a:t>
            </a:r>
            <a:r>
              <a:rPr lang="ko">
                <a:solidFill>
                  <a:srgbClr val="0000FF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다랗/형용사</a:t>
            </a:r>
            <a:r>
              <a:rPr lang="ko">
                <a:solidFill>
                  <a:srgbClr val="434343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, </a:t>
            </a:r>
            <a:r>
              <a:rPr lang="ko">
                <a:solidFill>
                  <a:srgbClr val="0000FF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커엽/형용사</a:t>
            </a:r>
            <a:r>
              <a:rPr lang="ko">
                <a:solidFill>
                  <a:srgbClr val="434343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,</a:t>
            </a:r>
            <a:r>
              <a:rPr lang="ko">
                <a:solidFill>
                  <a:srgbClr val="0000FF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 킹받다/형용사</a:t>
            </a:r>
            <a:endParaRPr>
              <a:solidFill>
                <a:srgbClr val="0000FF"/>
              </a:solidFill>
              <a:latin typeface="Gothic A1 Medium"/>
              <a:ea typeface="Gothic A1 Medium"/>
              <a:cs typeface="Gothic A1 Medium"/>
              <a:sym typeface="Gothic A1 Medium"/>
            </a:endParaRPr>
          </a:p>
        </p:txBody>
      </p:sp>
      <p:sp>
        <p:nvSpPr>
          <p:cNvPr id="479" name="Google Shape;479;p52"/>
          <p:cNvSpPr txBox="1"/>
          <p:nvPr/>
        </p:nvSpPr>
        <p:spPr>
          <a:xfrm>
            <a:off x="830000" y="2918908"/>
            <a:ext cx="653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8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FF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키</a:t>
            </a:r>
            <a:r>
              <a:rPr lang="ko">
                <a:solidFill>
                  <a:srgbClr val="0000FF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다랗/형용사</a:t>
            </a:r>
            <a:r>
              <a:rPr lang="ko">
                <a:solidFill>
                  <a:srgbClr val="434343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, </a:t>
            </a:r>
            <a:r>
              <a:rPr lang="ko">
                <a:solidFill>
                  <a:srgbClr val="0000FF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커엽/형용사</a:t>
            </a:r>
            <a:r>
              <a:rPr lang="ko">
                <a:solidFill>
                  <a:srgbClr val="434343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,</a:t>
            </a:r>
            <a:r>
              <a:rPr lang="ko">
                <a:solidFill>
                  <a:srgbClr val="0000FF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 </a:t>
            </a:r>
            <a:r>
              <a:rPr lang="ko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(</a:t>
            </a:r>
            <a:r>
              <a:rPr lang="ko">
                <a:solidFill>
                  <a:srgbClr val="FF0000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킹/고유명사+받다/동사</a:t>
            </a:r>
            <a:r>
              <a:rPr lang="ko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)</a:t>
            </a:r>
            <a:endParaRPr>
              <a:solidFill>
                <a:srgbClr val="FF0000"/>
              </a:solidFill>
              <a:latin typeface="Gothic A1 Medium"/>
              <a:ea typeface="Gothic A1 Medium"/>
              <a:cs typeface="Gothic A1 Medium"/>
              <a:sym typeface="Gothic A1 Medium"/>
            </a:endParaRPr>
          </a:p>
        </p:txBody>
      </p:sp>
      <p:sp>
        <p:nvSpPr>
          <p:cNvPr id="480" name="Google Shape;480;p52"/>
          <p:cNvSpPr txBox="1"/>
          <p:nvPr/>
        </p:nvSpPr>
        <p:spPr>
          <a:xfrm>
            <a:off x="830000" y="3663467"/>
            <a:ext cx="715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8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0000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키</a:t>
            </a:r>
            <a:r>
              <a:rPr lang="ko">
                <a:solidFill>
                  <a:srgbClr val="FF0000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다랗고/일반명사</a:t>
            </a:r>
            <a:r>
              <a:rPr lang="ko">
                <a:solidFill>
                  <a:srgbClr val="434343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, </a:t>
            </a:r>
            <a:r>
              <a:rPr lang="ko">
                <a:solidFill>
                  <a:srgbClr val="FF0000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커여운/일반명사</a:t>
            </a:r>
            <a:r>
              <a:rPr lang="ko">
                <a:solidFill>
                  <a:srgbClr val="434343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,</a:t>
            </a:r>
            <a:r>
              <a:rPr lang="ko">
                <a:solidFill>
                  <a:srgbClr val="FF0000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 </a:t>
            </a:r>
            <a:r>
              <a:rPr lang="ko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(</a:t>
            </a:r>
            <a:r>
              <a:rPr lang="ko">
                <a:solidFill>
                  <a:srgbClr val="FF0000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킹/일반명사+받다/동사</a:t>
            </a:r>
            <a:r>
              <a:rPr lang="ko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)</a:t>
            </a:r>
            <a:endParaRPr>
              <a:solidFill>
                <a:schemeClr val="dk1"/>
              </a:solidFill>
              <a:latin typeface="Gothic A1 Medium"/>
              <a:ea typeface="Gothic A1 Medium"/>
              <a:cs typeface="Gothic A1 Medium"/>
              <a:sym typeface="Gothic A1 Medium"/>
            </a:endParaRPr>
          </a:p>
        </p:txBody>
      </p:sp>
      <p:sp>
        <p:nvSpPr>
          <p:cNvPr id="481" name="Google Shape;481;p52"/>
          <p:cNvSpPr txBox="1"/>
          <p:nvPr/>
        </p:nvSpPr>
        <p:spPr>
          <a:xfrm>
            <a:off x="830000" y="4408025"/>
            <a:ext cx="831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8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(</a:t>
            </a:r>
            <a:r>
              <a:rPr lang="ko">
                <a:solidFill>
                  <a:srgbClr val="FF0000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키</a:t>
            </a:r>
            <a:r>
              <a:rPr lang="ko">
                <a:solidFill>
                  <a:srgbClr val="FF0000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/일반명사</a:t>
            </a:r>
            <a:r>
              <a:rPr lang="ko">
                <a:solidFill>
                  <a:srgbClr val="434343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+</a:t>
            </a:r>
            <a:r>
              <a:rPr lang="ko">
                <a:solidFill>
                  <a:srgbClr val="FF0000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이다/서술격조사</a:t>
            </a:r>
            <a:r>
              <a:rPr lang="ko">
                <a:solidFill>
                  <a:srgbClr val="434343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+</a:t>
            </a:r>
            <a:r>
              <a:rPr lang="ko">
                <a:solidFill>
                  <a:srgbClr val="FF0000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랗고/Unknown</a:t>
            </a:r>
            <a:r>
              <a:rPr lang="ko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)</a:t>
            </a:r>
            <a:r>
              <a:rPr lang="ko">
                <a:solidFill>
                  <a:srgbClr val="434343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,</a:t>
            </a:r>
            <a:r>
              <a:rPr lang="ko">
                <a:solidFill>
                  <a:srgbClr val="FF0000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 </a:t>
            </a:r>
            <a:r>
              <a:rPr lang="ko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(</a:t>
            </a:r>
            <a:r>
              <a:rPr lang="ko">
                <a:solidFill>
                  <a:srgbClr val="FF0000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크다/형용사</a:t>
            </a:r>
            <a:r>
              <a:rPr lang="ko">
                <a:solidFill>
                  <a:srgbClr val="434343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+</a:t>
            </a:r>
            <a:r>
              <a:rPr lang="ko">
                <a:solidFill>
                  <a:srgbClr val="FF0000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여운/일반명사</a:t>
            </a:r>
            <a:r>
              <a:rPr lang="ko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)</a:t>
            </a:r>
            <a:r>
              <a:rPr lang="ko">
                <a:solidFill>
                  <a:srgbClr val="434343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,</a:t>
            </a:r>
            <a:r>
              <a:rPr lang="ko">
                <a:solidFill>
                  <a:srgbClr val="FF0000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 </a:t>
            </a:r>
            <a:r>
              <a:rPr lang="ko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(</a:t>
            </a:r>
            <a:r>
              <a:rPr lang="ko">
                <a:solidFill>
                  <a:srgbClr val="FF0000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킹/부사+받다/동사</a:t>
            </a:r>
            <a:r>
              <a:rPr lang="ko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)</a:t>
            </a:r>
            <a:endParaRPr>
              <a:solidFill>
                <a:schemeClr val="dk1"/>
              </a:solidFill>
              <a:latin typeface="Gothic A1 Medium"/>
              <a:ea typeface="Gothic A1 Medium"/>
              <a:cs typeface="Gothic A1 Medium"/>
              <a:sym typeface="Gothic A1 Medium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3"/>
          <p:cNvSpPr txBox="1"/>
          <p:nvPr>
            <p:ph type="title"/>
          </p:nvPr>
        </p:nvSpPr>
        <p:spPr>
          <a:xfrm>
            <a:off x="924050" y="286500"/>
            <a:ext cx="74667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예제3) 다른 형태소분석기 시연 화면 (축</a:t>
            </a:r>
            <a:r>
              <a:rPr lang="ko"/>
              <a:t>약)</a:t>
            </a:r>
            <a:endParaRPr/>
          </a:p>
        </p:txBody>
      </p:sp>
      <p:sp>
        <p:nvSpPr>
          <p:cNvPr id="487" name="Google Shape;487;p53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488" name="Google Shape;488;p53"/>
          <p:cNvSpPr txBox="1"/>
          <p:nvPr/>
        </p:nvSpPr>
        <p:spPr>
          <a:xfrm>
            <a:off x="3711819" y="1193875"/>
            <a:ext cx="142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Kiwi</a:t>
            </a:r>
            <a:endParaRPr sz="1200"/>
          </a:p>
        </p:txBody>
      </p:sp>
      <p:sp>
        <p:nvSpPr>
          <p:cNvPr id="489" name="Google Shape;489;p53"/>
          <p:cNvSpPr txBox="1"/>
          <p:nvPr/>
        </p:nvSpPr>
        <p:spPr>
          <a:xfrm>
            <a:off x="1009988" y="1193875"/>
            <a:ext cx="142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kakao</a:t>
            </a:r>
            <a:endParaRPr sz="1200"/>
          </a:p>
        </p:txBody>
      </p:sp>
      <p:sp>
        <p:nvSpPr>
          <p:cNvPr id="490" name="Google Shape;490;p53"/>
          <p:cNvSpPr txBox="1"/>
          <p:nvPr/>
        </p:nvSpPr>
        <p:spPr>
          <a:xfrm>
            <a:off x="6448038" y="1193863"/>
            <a:ext cx="101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Mecab</a:t>
            </a:r>
            <a:endParaRPr sz="1200"/>
          </a:p>
        </p:txBody>
      </p:sp>
      <p:pic>
        <p:nvPicPr>
          <p:cNvPr id="491" name="Google Shape;491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1819" y="1655575"/>
            <a:ext cx="1456450" cy="336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53"/>
          <p:cNvPicPr preferRelativeResize="0"/>
          <p:nvPr/>
        </p:nvPicPr>
        <p:blipFill rotWithShape="1">
          <a:blip r:embed="rId4">
            <a:alphaModFix/>
          </a:blip>
          <a:srcRect b="0" l="0" r="15909" t="0"/>
          <a:stretch/>
        </p:blipFill>
        <p:spPr>
          <a:xfrm>
            <a:off x="6448037" y="1603050"/>
            <a:ext cx="1618325" cy="336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9988" y="1603050"/>
            <a:ext cx="1422063" cy="336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4"/>
          <p:cNvSpPr/>
          <p:nvPr/>
        </p:nvSpPr>
        <p:spPr>
          <a:xfrm>
            <a:off x="856225" y="1383300"/>
            <a:ext cx="7994621" cy="492868"/>
          </a:xfrm>
          <a:custGeom>
            <a:rect b="b" l="l" r="r" t="t"/>
            <a:pathLst>
              <a:path extrusionOk="0" h="16908" w="88095">
                <a:moveTo>
                  <a:pt x="0" y="0"/>
                </a:moveTo>
                <a:lnTo>
                  <a:pt x="0" y="16907"/>
                </a:lnTo>
                <a:lnTo>
                  <a:pt x="79879" y="16907"/>
                </a:lnTo>
                <a:cubicBezTo>
                  <a:pt x="80570" y="16788"/>
                  <a:pt x="81236" y="16455"/>
                  <a:pt x="81772" y="15919"/>
                </a:cubicBezTo>
                <a:lnTo>
                  <a:pt x="86678" y="11014"/>
                </a:lnTo>
                <a:cubicBezTo>
                  <a:pt x="88094" y="9597"/>
                  <a:pt x="88094" y="7311"/>
                  <a:pt x="86678" y="5906"/>
                </a:cubicBezTo>
                <a:lnTo>
                  <a:pt x="81772" y="1000"/>
                </a:lnTo>
                <a:cubicBezTo>
                  <a:pt x="81248" y="465"/>
                  <a:pt x="80582" y="131"/>
                  <a:pt x="79903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8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434343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니가 성형하면 </a:t>
            </a:r>
            <a:r>
              <a:rPr lang="ko">
                <a:solidFill>
                  <a:srgbClr val="FF0000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부자연스럴까</a:t>
            </a:r>
            <a:r>
              <a:rPr lang="ko">
                <a:solidFill>
                  <a:srgbClr val="434343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? </a:t>
            </a:r>
            <a:r>
              <a:rPr lang="ko">
                <a:solidFill>
                  <a:srgbClr val="FF0000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결론졌</a:t>
            </a:r>
            <a:r>
              <a:rPr lang="ko">
                <a:solidFill>
                  <a:srgbClr val="434343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었잖여</a:t>
            </a:r>
            <a:endParaRPr>
              <a:solidFill>
                <a:srgbClr val="434343"/>
              </a:solidFill>
              <a:latin typeface="Gothic A1 Medium"/>
              <a:ea typeface="Gothic A1 Medium"/>
              <a:cs typeface="Gothic A1 Medium"/>
              <a:sym typeface="Gothic A1 Medium"/>
            </a:endParaRPr>
          </a:p>
        </p:txBody>
      </p:sp>
      <p:sp>
        <p:nvSpPr>
          <p:cNvPr id="499" name="Google Shape;499;p54"/>
          <p:cNvSpPr txBox="1"/>
          <p:nvPr>
            <p:ph type="title"/>
          </p:nvPr>
        </p:nvSpPr>
        <p:spPr>
          <a:xfrm>
            <a:off x="924050" y="286500"/>
            <a:ext cx="74667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예제3) 형태소분석 결과 비교 (축</a:t>
            </a:r>
            <a:r>
              <a:rPr lang="ko"/>
              <a:t>약)</a:t>
            </a:r>
            <a:endParaRPr/>
          </a:p>
        </p:txBody>
      </p:sp>
      <p:sp>
        <p:nvSpPr>
          <p:cNvPr id="500" name="Google Shape;500;p54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501" name="Google Shape;501;p54"/>
          <p:cNvSpPr/>
          <p:nvPr/>
        </p:nvSpPr>
        <p:spPr>
          <a:xfrm>
            <a:off x="8710265" y="1559606"/>
            <a:ext cx="140590" cy="140590"/>
          </a:xfrm>
          <a:custGeom>
            <a:rect b="b" l="l" r="r" t="t"/>
            <a:pathLst>
              <a:path extrusionOk="0" h="4823" w="4823">
                <a:moveTo>
                  <a:pt x="2405" y="1"/>
                </a:moveTo>
                <a:cubicBezTo>
                  <a:pt x="1072" y="1"/>
                  <a:pt x="0" y="1072"/>
                  <a:pt x="0" y="2406"/>
                </a:cubicBezTo>
                <a:cubicBezTo>
                  <a:pt x="0" y="3739"/>
                  <a:pt x="1072" y="4823"/>
                  <a:pt x="2405" y="4823"/>
                </a:cubicBezTo>
                <a:cubicBezTo>
                  <a:pt x="3739" y="4823"/>
                  <a:pt x="4822" y="3739"/>
                  <a:pt x="4822" y="2406"/>
                </a:cubicBezTo>
                <a:cubicBezTo>
                  <a:pt x="4822" y="1072"/>
                  <a:pt x="3739" y="1"/>
                  <a:pt x="2405" y="1"/>
                </a:cubicBezTo>
                <a:close/>
              </a:path>
            </a:pathLst>
          </a:cu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2" name="Google Shape;502;p54"/>
          <p:cNvGrpSpPr/>
          <p:nvPr/>
        </p:nvGrpSpPr>
        <p:grpSpPr>
          <a:xfrm>
            <a:off x="436189" y="1315625"/>
            <a:ext cx="654622" cy="628561"/>
            <a:chOff x="359989" y="1315625"/>
            <a:chExt cx="654622" cy="628561"/>
          </a:xfrm>
        </p:grpSpPr>
        <p:sp>
          <p:nvSpPr>
            <p:cNvPr id="503" name="Google Shape;503;p54"/>
            <p:cNvSpPr/>
            <p:nvPr/>
          </p:nvSpPr>
          <p:spPr>
            <a:xfrm>
              <a:off x="359989" y="1315625"/>
              <a:ext cx="654622" cy="628561"/>
            </a:xfrm>
            <a:custGeom>
              <a:rect b="b" l="l" r="r" t="t"/>
              <a:pathLst>
                <a:path extrusionOk="0" h="21563" w="22457">
                  <a:moveTo>
                    <a:pt x="11222" y="1"/>
                  </a:moveTo>
                  <a:cubicBezTo>
                    <a:pt x="10053" y="1"/>
                    <a:pt x="8883" y="447"/>
                    <a:pt x="7990" y="1340"/>
                  </a:cubicBezTo>
                  <a:lnTo>
                    <a:pt x="1787" y="7555"/>
                  </a:lnTo>
                  <a:cubicBezTo>
                    <a:pt x="1" y="9341"/>
                    <a:pt x="1" y="12234"/>
                    <a:pt x="1787" y="14008"/>
                  </a:cubicBezTo>
                  <a:lnTo>
                    <a:pt x="7990" y="20223"/>
                  </a:lnTo>
                  <a:cubicBezTo>
                    <a:pt x="8883" y="21116"/>
                    <a:pt x="10053" y="21563"/>
                    <a:pt x="11222" y="21563"/>
                  </a:cubicBezTo>
                  <a:cubicBezTo>
                    <a:pt x="12392" y="21563"/>
                    <a:pt x="13562" y="21116"/>
                    <a:pt x="14455" y="20223"/>
                  </a:cubicBezTo>
                  <a:lnTo>
                    <a:pt x="20670" y="14008"/>
                  </a:lnTo>
                  <a:cubicBezTo>
                    <a:pt x="22456" y="12234"/>
                    <a:pt x="22456" y="9341"/>
                    <a:pt x="20670" y="7555"/>
                  </a:cubicBezTo>
                  <a:lnTo>
                    <a:pt x="14455" y="1340"/>
                  </a:lnTo>
                  <a:cubicBezTo>
                    <a:pt x="13562" y="447"/>
                    <a:pt x="12392" y="1"/>
                    <a:pt x="11222" y="1"/>
                  </a:cubicBezTo>
                  <a:close/>
                </a:path>
              </a:pathLst>
            </a:custGeom>
            <a:solidFill>
              <a:srgbClr val="2E75B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54"/>
            <p:cNvSpPr/>
            <p:nvPr/>
          </p:nvSpPr>
          <p:spPr>
            <a:xfrm>
              <a:off x="551626" y="1452359"/>
              <a:ext cx="271340" cy="353864"/>
            </a:xfrm>
            <a:custGeom>
              <a:rect b="b" l="l" r="r" t="t"/>
              <a:pathLst>
                <a:path extrusionOk="0" h="14052" w="10776">
                  <a:moveTo>
                    <a:pt x="5388" y="0"/>
                  </a:moveTo>
                  <a:cubicBezTo>
                    <a:pt x="3939" y="0"/>
                    <a:pt x="2741" y="1071"/>
                    <a:pt x="2552" y="2489"/>
                  </a:cubicBezTo>
                  <a:lnTo>
                    <a:pt x="4569" y="2489"/>
                  </a:lnTo>
                  <a:cubicBezTo>
                    <a:pt x="4789" y="2489"/>
                    <a:pt x="5010" y="2678"/>
                    <a:pt x="5010" y="2867"/>
                  </a:cubicBezTo>
                  <a:cubicBezTo>
                    <a:pt x="5010" y="3056"/>
                    <a:pt x="4789" y="3277"/>
                    <a:pt x="4569" y="3277"/>
                  </a:cubicBezTo>
                  <a:lnTo>
                    <a:pt x="2489" y="3277"/>
                  </a:lnTo>
                  <a:lnTo>
                    <a:pt x="2489" y="4096"/>
                  </a:lnTo>
                  <a:lnTo>
                    <a:pt x="4569" y="4096"/>
                  </a:lnTo>
                  <a:cubicBezTo>
                    <a:pt x="4789" y="4096"/>
                    <a:pt x="5010" y="4285"/>
                    <a:pt x="5010" y="4537"/>
                  </a:cubicBezTo>
                  <a:cubicBezTo>
                    <a:pt x="5010" y="4757"/>
                    <a:pt x="4789" y="4915"/>
                    <a:pt x="4569" y="4915"/>
                  </a:cubicBezTo>
                  <a:lnTo>
                    <a:pt x="2489" y="4915"/>
                  </a:lnTo>
                  <a:lnTo>
                    <a:pt x="2489" y="5734"/>
                  </a:lnTo>
                  <a:lnTo>
                    <a:pt x="4569" y="5734"/>
                  </a:lnTo>
                  <a:cubicBezTo>
                    <a:pt x="4789" y="5734"/>
                    <a:pt x="5010" y="5955"/>
                    <a:pt x="5010" y="6144"/>
                  </a:cubicBezTo>
                  <a:cubicBezTo>
                    <a:pt x="5010" y="6396"/>
                    <a:pt x="4789" y="6585"/>
                    <a:pt x="4569" y="6585"/>
                  </a:cubicBezTo>
                  <a:lnTo>
                    <a:pt x="2552" y="6585"/>
                  </a:lnTo>
                  <a:cubicBezTo>
                    <a:pt x="2741" y="7845"/>
                    <a:pt x="3750" y="8822"/>
                    <a:pt x="5010" y="9011"/>
                  </a:cubicBezTo>
                  <a:lnTo>
                    <a:pt x="5010" y="9861"/>
                  </a:lnTo>
                  <a:cubicBezTo>
                    <a:pt x="2804" y="9641"/>
                    <a:pt x="1072" y="7876"/>
                    <a:pt x="851" y="5671"/>
                  </a:cubicBezTo>
                  <a:lnTo>
                    <a:pt x="851" y="5671"/>
                  </a:lnTo>
                  <a:cubicBezTo>
                    <a:pt x="977" y="5703"/>
                    <a:pt x="1135" y="5734"/>
                    <a:pt x="1261" y="5734"/>
                  </a:cubicBezTo>
                  <a:cubicBezTo>
                    <a:pt x="1418" y="5734"/>
                    <a:pt x="1544" y="5703"/>
                    <a:pt x="1702" y="5671"/>
                  </a:cubicBezTo>
                  <a:lnTo>
                    <a:pt x="1702" y="3340"/>
                  </a:lnTo>
                  <a:cubicBezTo>
                    <a:pt x="1576" y="3308"/>
                    <a:pt x="1418" y="3277"/>
                    <a:pt x="1261" y="3277"/>
                  </a:cubicBezTo>
                  <a:cubicBezTo>
                    <a:pt x="599" y="3277"/>
                    <a:pt x="0" y="3812"/>
                    <a:pt x="0" y="4537"/>
                  </a:cubicBezTo>
                  <a:lnTo>
                    <a:pt x="0" y="5356"/>
                  </a:lnTo>
                  <a:cubicBezTo>
                    <a:pt x="0" y="8191"/>
                    <a:pt x="2206" y="10523"/>
                    <a:pt x="4947" y="10712"/>
                  </a:cubicBezTo>
                  <a:lnTo>
                    <a:pt x="4947" y="11657"/>
                  </a:lnTo>
                  <a:cubicBezTo>
                    <a:pt x="4002" y="11846"/>
                    <a:pt x="3308" y="12697"/>
                    <a:pt x="3308" y="13673"/>
                  </a:cubicBezTo>
                  <a:cubicBezTo>
                    <a:pt x="3308" y="13894"/>
                    <a:pt x="3497" y="14051"/>
                    <a:pt x="3750" y="14051"/>
                  </a:cubicBezTo>
                  <a:lnTo>
                    <a:pt x="7058" y="14051"/>
                  </a:lnTo>
                  <a:cubicBezTo>
                    <a:pt x="7278" y="14051"/>
                    <a:pt x="7436" y="13862"/>
                    <a:pt x="7436" y="13673"/>
                  </a:cubicBezTo>
                  <a:cubicBezTo>
                    <a:pt x="7436" y="12697"/>
                    <a:pt x="6743" y="11815"/>
                    <a:pt x="5797" y="11657"/>
                  </a:cubicBezTo>
                  <a:lnTo>
                    <a:pt x="5797" y="10712"/>
                  </a:lnTo>
                  <a:cubicBezTo>
                    <a:pt x="8570" y="10523"/>
                    <a:pt x="10775" y="8191"/>
                    <a:pt x="10775" y="5356"/>
                  </a:cubicBezTo>
                  <a:lnTo>
                    <a:pt x="10775" y="4537"/>
                  </a:lnTo>
                  <a:cubicBezTo>
                    <a:pt x="10775" y="3875"/>
                    <a:pt x="10240" y="3277"/>
                    <a:pt x="9515" y="3277"/>
                  </a:cubicBezTo>
                  <a:cubicBezTo>
                    <a:pt x="9357" y="3277"/>
                    <a:pt x="9263" y="3308"/>
                    <a:pt x="9137" y="3340"/>
                  </a:cubicBezTo>
                  <a:lnTo>
                    <a:pt x="9137" y="5671"/>
                  </a:lnTo>
                  <a:cubicBezTo>
                    <a:pt x="9263" y="5703"/>
                    <a:pt x="9420" y="5734"/>
                    <a:pt x="9515" y="5734"/>
                  </a:cubicBezTo>
                  <a:cubicBezTo>
                    <a:pt x="9672" y="5734"/>
                    <a:pt x="9798" y="5703"/>
                    <a:pt x="9925" y="5671"/>
                  </a:cubicBezTo>
                  <a:lnTo>
                    <a:pt x="9925" y="5671"/>
                  </a:lnTo>
                  <a:cubicBezTo>
                    <a:pt x="9767" y="7876"/>
                    <a:pt x="8003" y="9641"/>
                    <a:pt x="5797" y="9861"/>
                  </a:cubicBezTo>
                  <a:lnTo>
                    <a:pt x="5797" y="9011"/>
                  </a:lnTo>
                  <a:cubicBezTo>
                    <a:pt x="7058" y="8822"/>
                    <a:pt x="8034" y="7845"/>
                    <a:pt x="8223" y="6585"/>
                  </a:cubicBezTo>
                  <a:lnTo>
                    <a:pt x="6207" y="6585"/>
                  </a:lnTo>
                  <a:cubicBezTo>
                    <a:pt x="5986" y="6585"/>
                    <a:pt x="5829" y="6396"/>
                    <a:pt x="5829" y="6144"/>
                  </a:cubicBezTo>
                  <a:cubicBezTo>
                    <a:pt x="5829" y="5892"/>
                    <a:pt x="6018" y="5734"/>
                    <a:pt x="6207" y="5734"/>
                  </a:cubicBezTo>
                  <a:lnTo>
                    <a:pt x="8318" y="5734"/>
                  </a:lnTo>
                  <a:lnTo>
                    <a:pt x="8318" y="4915"/>
                  </a:lnTo>
                  <a:lnTo>
                    <a:pt x="6207" y="4915"/>
                  </a:lnTo>
                  <a:cubicBezTo>
                    <a:pt x="5986" y="4915"/>
                    <a:pt x="5829" y="4726"/>
                    <a:pt x="5829" y="4537"/>
                  </a:cubicBezTo>
                  <a:cubicBezTo>
                    <a:pt x="5829" y="4285"/>
                    <a:pt x="6018" y="4096"/>
                    <a:pt x="6207" y="4096"/>
                  </a:cubicBezTo>
                  <a:lnTo>
                    <a:pt x="8318" y="4096"/>
                  </a:lnTo>
                  <a:lnTo>
                    <a:pt x="8318" y="3277"/>
                  </a:lnTo>
                  <a:lnTo>
                    <a:pt x="6207" y="3277"/>
                  </a:lnTo>
                  <a:cubicBezTo>
                    <a:pt x="5986" y="3277"/>
                    <a:pt x="5829" y="3056"/>
                    <a:pt x="5829" y="2867"/>
                  </a:cubicBezTo>
                  <a:cubicBezTo>
                    <a:pt x="5829" y="2678"/>
                    <a:pt x="6018" y="2489"/>
                    <a:pt x="6207" y="2489"/>
                  </a:cubicBezTo>
                  <a:lnTo>
                    <a:pt x="8223" y="2489"/>
                  </a:lnTo>
                  <a:cubicBezTo>
                    <a:pt x="8034" y="1071"/>
                    <a:pt x="6806" y="0"/>
                    <a:pt x="53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5" name="Google Shape;505;p54"/>
          <p:cNvSpPr/>
          <p:nvPr/>
        </p:nvSpPr>
        <p:spPr>
          <a:xfrm>
            <a:off x="436189" y="4293850"/>
            <a:ext cx="654592" cy="628561"/>
          </a:xfrm>
          <a:custGeom>
            <a:rect b="b" l="l" r="r" t="t"/>
            <a:pathLst>
              <a:path extrusionOk="0" h="21563" w="22456">
                <a:moveTo>
                  <a:pt x="11224" y="1"/>
                </a:moveTo>
                <a:cubicBezTo>
                  <a:pt x="10056" y="1"/>
                  <a:pt x="8889" y="447"/>
                  <a:pt x="8002" y="1340"/>
                </a:cubicBezTo>
                <a:lnTo>
                  <a:pt x="1787" y="7555"/>
                </a:lnTo>
                <a:cubicBezTo>
                  <a:pt x="1" y="9341"/>
                  <a:pt x="1" y="12234"/>
                  <a:pt x="1787" y="14008"/>
                </a:cubicBezTo>
                <a:lnTo>
                  <a:pt x="8002" y="20223"/>
                </a:lnTo>
                <a:cubicBezTo>
                  <a:pt x="8889" y="21116"/>
                  <a:pt x="10056" y="21563"/>
                  <a:pt x="11224" y="21563"/>
                </a:cubicBezTo>
                <a:cubicBezTo>
                  <a:pt x="12392" y="21563"/>
                  <a:pt x="13562" y="21116"/>
                  <a:pt x="14455" y="20223"/>
                </a:cubicBezTo>
                <a:lnTo>
                  <a:pt x="20670" y="14008"/>
                </a:lnTo>
                <a:cubicBezTo>
                  <a:pt x="22456" y="12234"/>
                  <a:pt x="22456" y="9341"/>
                  <a:pt x="20670" y="7555"/>
                </a:cubicBezTo>
                <a:lnTo>
                  <a:pt x="14455" y="1340"/>
                </a:lnTo>
                <a:cubicBezTo>
                  <a:pt x="13562" y="447"/>
                  <a:pt x="12392" y="1"/>
                  <a:pt x="11224" y="1"/>
                </a:cubicBezTo>
                <a:close/>
              </a:path>
            </a:pathLst>
          </a:custGeom>
          <a:solidFill>
            <a:srgbClr val="CC0000"/>
          </a:solidFill>
          <a:ln>
            <a:noFill/>
          </a:ln>
        </p:spPr>
        <p:txBody>
          <a:bodyPr anchorCtr="0" anchor="ctr" bIns="91425" lIns="0" spcFirstLastPara="1" rIns="0" wrap="square" tIns="9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mecab</a:t>
            </a:r>
            <a:endParaRPr sz="1300">
              <a:solidFill>
                <a:srgbClr val="FFFFFF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506" name="Google Shape;506;p54"/>
          <p:cNvSpPr/>
          <p:nvPr/>
        </p:nvSpPr>
        <p:spPr>
          <a:xfrm>
            <a:off x="436189" y="2804737"/>
            <a:ext cx="654592" cy="628299"/>
          </a:xfrm>
          <a:custGeom>
            <a:rect b="b" l="l" r="r" t="t"/>
            <a:pathLst>
              <a:path extrusionOk="0" h="21554" w="22456">
                <a:moveTo>
                  <a:pt x="11224" y="1"/>
                </a:moveTo>
                <a:cubicBezTo>
                  <a:pt x="10056" y="1"/>
                  <a:pt x="8889" y="447"/>
                  <a:pt x="8002" y="1340"/>
                </a:cubicBezTo>
                <a:lnTo>
                  <a:pt x="1787" y="7543"/>
                </a:lnTo>
                <a:cubicBezTo>
                  <a:pt x="1" y="9329"/>
                  <a:pt x="1" y="12222"/>
                  <a:pt x="1787" y="14008"/>
                </a:cubicBezTo>
                <a:lnTo>
                  <a:pt x="8002" y="20223"/>
                </a:lnTo>
                <a:cubicBezTo>
                  <a:pt x="8889" y="21110"/>
                  <a:pt x="10056" y="21554"/>
                  <a:pt x="11224" y="21554"/>
                </a:cubicBezTo>
                <a:cubicBezTo>
                  <a:pt x="12392" y="21554"/>
                  <a:pt x="13562" y="21110"/>
                  <a:pt x="14455" y="20223"/>
                </a:cubicBezTo>
                <a:lnTo>
                  <a:pt x="20670" y="14008"/>
                </a:lnTo>
                <a:cubicBezTo>
                  <a:pt x="22456" y="12222"/>
                  <a:pt x="22456" y="9329"/>
                  <a:pt x="20670" y="7543"/>
                </a:cubicBezTo>
                <a:lnTo>
                  <a:pt x="14455" y="1340"/>
                </a:lnTo>
                <a:cubicBezTo>
                  <a:pt x="13562" y="447"/>
                  <a:pt x="12392" y="1"/>
                  <a:pt x="11224" y="1"/>
                </a:cubicBezTo>
                <a:close/>
              </a:path>
            </a:pathLst>
          </a:custGeom>
          <a:solidFill>
            <a:srgbClr val="FCBD24"/>
          </a:solidFill>
          <a:ln>
            <a:noFill/>
          </a:ln>
        </p:spPr>
        <p:txBody>
          <a:bodyPr anchorCtr="0" anchor="ctr" bIns="91425" lIns="0" spcFirstLastPara="1" rIns="0" wrap="square" tIns="9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Kakao</a:t>
            </a:r>
            <a:endParaRPr sz="1300">
              <a:solidFill>
                <a:srgbClr val="FFFFFF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507" name="Google Shape;507;p54"/>
          <p:cNvSpPr/>
          <p:nvPr/>
        </p:nvSpPr>
        <p:spPr>
          <a:xfrm>
            <a:off x="436189" y="2060312"/>
            <a:ext cx="654622" cy="628299"/>
          </a:xfrm>
          <a:custGeom>
            <a:rect b="b" l="l" r="r" t="t"/>
            <a:pathLst>
              <a:path extrusionOk="0" h="21554" w="22457">
                <a:moveTo>
                  <a:pt x="11235" y="0"/>
                </a:moveTo>
                <a:cubicBezTo>
                  <a:pt x="10065" y="0"/>
                  <a:pt x="8895" y="444"/>
                  <a:pt x="8002" y="1331"/>
                </a:cubicBezTo>
                <a:lnTo>
                  <a:pt x="1787" y="7546"/>
                </a:lnTo>
                <a:cubicBezTo>
                  <a:pt x="1" y="9332"/>
                  <a:pt x="1" y="12225"/>
                  <a:pt x="1787" y="14011"/>
                </a:cubicBezTo>
                <a:lnTo>
                  <a:pt x="8002" y="20214"/>
                </a:lnTo>
                <a:cubicBezTo>
                  <a:pt x="8895" y="21107"/>
                  <a:pt x="10065" y="21553"/>
                  <a:pt x="11235" y="21553"/>
                </a:cubicBezTo>
                <a:cubicBezTo>
                  <a:pt x="12404" y="21553"/>
                  <a:pt x="13574" y="21107"/>
                  <a:pt x="14467" y="20214"/>
                </a:cubicBezTo>
                <a:lnTo>
                  <a:pt x="20670" y="14011"/>
                </a:lnTo>
                <a:cubicBezTo>
                  <a:pt x="22456" y="12225"/>
                  <a:pt x="22456" y="9332"/>
                  <a:pt x="20670" y="7546"/>
                </a:cubicBezTo>
                <a:lnTo>
                  <a:pt x="14467" y="1331"/>
                </a:lnTo>
                <a:cubicBezTo>
                  <a:pt x="13574" y="444"/>
                  <a:pt x="12404" y="0"/>
                  <a:pt x="11235" y="0"/>
                </a:cubicBezTo>
                <a:close/>
              </a:path>
            </a:pathLst>
          </a:custGeom>
          <a:solidFill>
            <a:srgbClr val="4949E7"/>
          </a:solidFill>
          <a:ln>
            <a:noFill/>
          </a:ln>
        </p:spPr>
        <p:txBody>
          <a:bodyPr anchorCtr="0" anchor="ctr" bIns="91425" lIns="0" spcFirstLastPara="1" rIns="0" wrap="square" tIns="9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" sz="1300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bareun</a:t>
            </a:r>
            <a:endParaRPr sz="13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508" name="Google Shape;508;p54"/>
          <p:cNvSpPr/>
          <p:nvPr/>
        </p:nvSpPr>
        <p:spPr>
          <a:xfrm>
            <a:off x="436189" y="3549162"/>
            <a:ext cx="654622" cy="628561"/>
          </a:xfrm>
          <a:custGeom>
            <a:rect b="b" l="l" r="r" t="t"/>
            <a:pathLst>
              <a:path extrusionOk="0" h="21563" w="22457">
                <a:moveTo>
                  <a:pt x="11235" y="0"/>
                </a:moveTo>
                <a:cubicBezTo>
                  <a:pt x="10065" y="0"/>
                  <a:pt x="8895" y="447"/>
                  <a:pt x="8002" y="1340"/>
                </a:cubicBezTo>
                <a:lnTo>
                  <a:pt x="1787" y="7555"/>
                </a:lnTo>
                <a:cubicBezTo>
                  <a:pt x="1" y="9329"/>
                  <a:pt x="1" y="12222"/>
                  <a:pt x="1787" y="14008"/>
                </a:cubicBezTo>
                <a:lnTo>
                  <a:pt x="8002" y="20223"/>
                </a:lnTo>
                <a:cubicBezTo>
                  <a:pt x="8895" y="21116"/>
                  <a:pt x="10065" y="21562"/>
                  <a:pt x="11235" y="21562"/>
                </a:cubicBezTo>
                <a:cubicBezTo>
                  <a:pt x="12404" y="21562"/>
                  <a:pt x="13574" y="21116"/>
                  <a:pt x="14467" y="20223"/>
                </a:cubicBezTo>
                <a:lnTo>
                  <a:pt x="20670" y="14008"/>
                </a:lnTo>
                <a:cubicBezTo>
                  <a:pt x="22456" y="12222"/>
                  <a:pt x="22456" y="9329"/>
                  <a:pt x="20670" y="7555"/>
                </a:cubicBezTo>
                <a:lnTo>
                  <a:pt x="14467" y="1340"/>
                </a:lnTo>
                <a:cubicBezTo>
                  <a:pt x="13574" y="447"/>
                  <a:pt x="12404" y="0"/>
                  <a:pt x="11235" y="0"/>
                </a:cubicBezTo>
                <a:close/>
              </a:path>
            </a:pathLst>
          </a:custGeom>
          <a:solidFill>
            <a:srgbClr val="00C249"/>
          </a:solidFill>
          <a:ln>
            <a:noFill/>
          </a:ln>
        </p:spPr>
        <p:txBody>
          <a:bodyPr anchorCtr="0" anchor="ctr" bIns="91425" lIns="0" spcFirstLastPara="1" rIns="0" wrap="square" tIns="9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" sz="1300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Kiwi</a:t>
            </a:r>
            <a:endParaRPr sz="1300"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  <p:sp>
        <p:nvSpPr>
          <p:cNvPr id="509" name="Google Shape;509;p54"/>
          <p:cNvSpPr txBox="1"/>
          <p:nvPr/>
        </p:nvSpPr>
        <p:spPr>
          <a:xfrm>
            <a:off x="830000" y="2174350"/>
            <a:ext cx="715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8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FF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부자연스럽다/형용사+ㄹ</a:t>
            </a:r>
            <a:r>
              <a:rPr lang="ko">
                <a:solidFill>
                  <a:srgbClr val="0000FF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까/종결어미</a:t>
            </a:r>
            <a:r>
              <a:rPr lang="ko">
                <a:solidFill>
                  <a:srgbClr val="434343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, </a:t>
            </a:r>
            <a:r>
              <a:rPr lang="ko">
                <a:solidFill>
                  <a:srgbClr val="0000FF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결론짓다/동사</a:t>
            </a:r>
            <a:r>
              <a:rPr lang="ko">
                <a:solidFill>
                  <a:srgbClr val="434343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,</a:t>
            </a:r>
            <a:r>
              <a:rPr lang="ko">
                <a:solidFill>
                  <a:srgbClr val="0000FF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 -잖여/종결어미</a:t>
            </a:r>
            <a:endParaRPr>
              <a:solidFill>
                <a:srgbClr val="0000FF"/>
              </a:solidFill>
              <a:latin typeface="Gothic A1 Medium"/>
              <a:ea typeface="Gothic A1 Medium"/>
              <a:cs typeface="Gothic A1 Medium"/>
              <a:sym typeface="Gothic A1 Medium"/>
            </a:endParaRPr>
          </a:p>
        </p:txBody>
      </p:sp>
      <p:sp>
        <p:nvSpPr>
          <p:cNvPr id="510" name="Google Shape;510;p54"/>
          <p:cNvSpPr txBox="1"/>
          <p:nvPr/>
        </p:nvSpPr>
        <p:spPr>
          <a:xfrm>
            <a:off x="830000" y="2918908"/>
            <a:ext cx="653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8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(</a:t>
            </a:r>
            <a:r>
              <a:rPr lang="ko">
                <a:solidFill>
                  <a:srgbClr val="0000FF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부/접두사+자연/명사+스럽/접미사</a:t>
            </a:r>
            <a:r>
              <a:rPr lang="ko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)</a:t>
            </a:r>
            <a:r>
              <a:rPr lang="ko">
                <a:solidFill>
                  <a:srgbClr val="434343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, </a:t>
            </a:r>
            <a:r>
              <a:rPr lang="ko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(</a:t>
            </a:r>
            <a:r>
              <a:rPr lang="ko">
                <a:solidFill>
                  <a:srgbClr val="FF0000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결/동사+론/명사</a:t>
            </a:r>
            <a:r>
              <a:rPr lang="ko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)</a:t>
            </a:r>
            <a:r>
              <a:rPr lang="ko">
                <a:solidFill>
                  <a:srgbClr val="434343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,</a:t>
            </a:r>
            <a:r>
              <a:rPr lang="ko">
                <a:solidFill>
                  <a:srgbClr val="0000FF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 </a:t>
            </a:r>
            <a:r>
              <a:rPr lang="ko">
                <a:solidFill>
                  <a:srgbClr val="FF0000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-잖여/연결어미</a:t>
            </a:r>
            <a:endParaRPr>
              <a:solidFill>
                <a:srgbClr val="FF0000"/>
              </a:solidFill>
              <a:latin typeface="Gothic A1 Medium"/>
              <a:ea typeface="Gothic A1 Medium"/>
              <a:cs typeface="Gothic A1 Medium"/>
              <a:sym typeface="Gothic A1 Medium"/>
            </a:endParaRPr>
          </a:p>
        </p:txBody>
      </p:sp>
      <p:sp>
        <p:nvSpPr>
          <p:cNvPr id="511" name="Google Shape;511;p54"/>
          <p:cNvSpPr txBox="1"/>
          <p:nvPr/>
        </p:nvSpPr>
        <p:spPr>
          <a:xfrm>
            <a:off x="830000" y="3663467"/>
            <a:ext cx="715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8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(</a:t>
            </a:r>
            <a:r>
              <a:rPr lang="ko">
                <a:solidFill>
                  <a:srgbClr val="FF0000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부/접두사+자연/명사+스/동사+러/연결어미</a:t>
            </a:r>
            <a:r>
              <a:rPr lang="ko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),</a:t>
            </a:r>
            <a:r>
              <a:rPr lang="ko">
                <a:solidFill>
                  <a:srgbClr val="0000FF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 </a:t>
            </a:r>
            <a:r>
              <a:rPr lang="ko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(</a:t>
            </a:r>
            <a:r>
              <a:rPr lang="ko">
                <a:solidFill>
                  <a:srgbClr val="FF0000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결론/명사+지다/동사</a:t>
            </a:r>
            <a:r>
              <a:rPr lang="ko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)</a:t>
            </a:r>
            <a:r>
              <a:rPr lang="ko">
                <a:solidFill>
                  <a:srgbClr val="434343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,</a:t>
            </a:r>
            <a:r>
              <a:rPr lang="ko">
                <a:solidFill>
                  <a:srgbClr val="0000FF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 -잖여/종결어미</a:t>
            </a:r>
            <a:endParaRPr>
              <a:solidFill>
                <a:schemeClr val="dk1"/>
              </a:solidFill>
              <a:latin typeface="Gothic A1 Medium"/>
              <a:ea typeface="Gothic A1 Medium"/>
              <a:cs typeface="Gothic A1 Medium"/>
              <a:sym typeface="Gothic A1 Medium"/>
            </a:endParaRPr>
          </a:p>
        </p:txBody>
      </p:sp>
      <p:sp>
        <p:nvSpPr>
          <p:cNvPr id="512" name="Google Shape;512;p54"/>
          <p:cNvSpPr txBox="1"/>
          <p:nvPr/>
        </p:nvSpPr>
        <p:spPr>
          <a:xfrm>
            <a:off x="830000" y="4408025"/>
            <a:ext cx="785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8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(</a:t>
            </a:r>
            <a:r>
              <a:rPr lang="ko">
                <a:solidFill>
                  <a:srgbClr val="FF0000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부/접두사+자연/명사+스/접두사+럴까/Unknown</a:t>
            </a:r>
            <a:r>
              <a:rPr lang="ko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)</a:t>
            </a:r>
            <a:r>
              <a:rPr lang="ko">
                <a:solidFill>
                  <a:srgbClr val="434343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,</a:t>
            </a:r>
            <a:r>
              <a:rPr lang="ko">
                <a:solidFill>
                  <a:srgbClr val="FF0000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 </a:t>
            </a:r>
            <a:r>
              <a:rPr lang="ko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(</a:t>
            </a:r>
            <a:r>
              <a:rPr lang="ko">
                <a:solidFill>
                  <a:srgbClr val="FF0000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결론/명사+지다/동사</a:t>
            </a:r>
            <a:r>
              <a:rPr lang="ko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)</a:t>
            </a:r>
            <a:r>
              <a:rPr lang="ko">
                <a:solidFill>
                  <a:srgbClr val="434343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,</a:t>
            </a:r>
            <a:r>
              <a:rPr lang="ko">
                <a:solidFill>
                  <a:srgbClr val="FF0000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 </a:t>
            </a:r>
            <a:r>
              <a:rPr lang="ko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(</a:t>
            </a:r>
            <a:r>
              <a:rPr lang="ko">
                <a:solidFill>
                  <a:srgbClr val="FF0000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-잖여/연결어미</a:t>
            </a:r>
            <a:r>
              <a:rPr lang="ko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)</a:t>
            </a:r>
            <a:endParaRPr>
              <a:solidFill>
                <a:schemeClr val="dk1"/>
              </a:solidFill>
              <a:latin typeface="Gothic A1 Medium"/>
              <a:ea typeface="Gothic A1 Medium"/>
              <a:cs typeface="Gothic A1 Medium"/>
              <a:sym typeface="Gothic A1 Medium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5"/>
          <p:cNvSpPr txBox="1"/>
          <p:nvPr>
            <p:ph type="title"/>
          </p:nvPr>
        </p:nvSpPr>
        <p:spPr>
          <a:xfrm>
            <a:off x="924050" y="286500"/>
            <a:ext cx="74667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Reference</a:t>
            </a:r>
            <a:endParaRPr/>
          </a:p>
        </p:txBody>
      </p:sp>
      <p:sp>
        <p:nvSpPr>
          <p:cNvPr id="518" name="Google Shape;518;p55"/>
          <p:cNvSpPr txBox="1"/>
          <p:nvPr/>
        </p:nvSpPr>
        <p:spPr>
          <a:xfrm>
            <a:off x="924050" y="1196925"/>
            <a:ext cx="72429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7CBE5F"/>
              </a:buClr>
              <a:buSzPts val="1500"/>
              <a:buFont typeface="Gothic A1"/>
              <a:buChar char="●"/>
            </a:pPr>
            <a:r>
              <a:rPr lang="ko" sz="15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박진호(2019), “딥러닝 기반 자연어 처리에서 도메인 지식의 역할”, 인공지능인문학연구 4, 135-166.</a:t>
            </a:r>
            <a:endParaRPr sz="15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CBE5F"/>
              </a:buClr>
              <a:buSzPts val="1500"/>
              <a:buFont typeface="Gothic A1"/>
              <a:buChar char="●"/>
            </a:pPr>
            <a:r>
              <a:rPr lang="ko" sz="15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rPr>
              <a:t>원유권 외(2023), “한국어 중의성 해소 평가 데이터의 구축과 활용”, 정보과학회논문지(투고 진행중)</a:t>
            </a:r>
            <a:endParaRPr sz="1500">
              <a:solidFill>
                <a:schemeClr val="dk1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519" name="Google Shape;519;p5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4" name="Google Shape;524;p56"/>
          <p:cNvGraphicFramePr/>
          <p:nvPr/>
        </p:nvGraphicFramePr>
        <p:xfrm>
          <a:off x="423300" y="1196925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{E0FCCD9F-2931-4359-8EE8-A17C1EFFD06F}</a:tableStyleId>
              </a:tblPr>
              <a:tblGrid>
                <a:gridCol w="1901525"/>
                <a:gridCol w="575650"/>
                <a:gridCol w="5820225"/>
              </a:tblGrid>
              <a:tr h="353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구분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72000" marB="72000" marR="72000" marL="72000" anchor="ctr">
                    <a:lnR cap="flat" cmpd="sng" w="705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4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문의 방법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72000" marB="72000" marR="72000" marL="72000" anchor="ctr">
                    <a:lnL cap="flat" cmpd="sng" w="705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BDC1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4"/>
                    </a:solidFill>
                  </a:tcPr>
                </a:tc>
                <a:tc hMerge="1"/>
              </a:tr>
              <a:tr h="353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라이센스 문의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72000" marB="72000" marR="72000" marL="72000" anchor="ctr">
                    <a:lnR cap="flat" cmpd="sng" w="705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 u="sng">
                          <a:solidFill>
                            <a:schemeClr val="hlink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  <a:hlinkClick r:id="rId3"/>
                        </a:rPr>
                        <a:t>bareun.license@bareun.ai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72000" marB="72000" marR="72000" marL="72000" anchor="ctr">
                    <a:lnL cap="flat" cmpd="sng" w="705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BDC1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53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기술 지원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72000" marB="72000" marR="72000" marL="72000" anchor="ctr">
                    <a:lnR cap="flat" cmpd="sng" w="705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 u="sng">
                          <a:solidFill>
                            <a:schemeClr val="hlink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  <a:hlinkClick r:id="rId4"/>
                        </a:rPr>
                        <a:t>support@bareun.ai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72000" marB="72000" marR="72000" marL="72000" anchor="ctr">
                    <a:lnL cap="flat" cmpd="sng" w="705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BDC1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53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바른 도움말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72000" marB="72000" marR="72000" marL="72000" anchor="ctr">
                    <a:lnR cap="flat" cmpd="sng" w="705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 u="sng">
                          <a:solidFill>
                            <a:schemeClr val="hlink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  <a:hlinkClick r:id="rId5"/>
                        </a:rPr>
                        <a:t>https://docs.bareun.ai/intro/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72000" marB="72000" marR="72000" marL="72000" anchor="ctr">
                    <a:lnL cap="flat" cmpd="sng" w="705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BDC1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53550"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커뮤니티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72000" marB="72000" marR="72000" marL="72000" anchor="ctr">
                    <a:lnR cap="flat" cmpd="sng" w="705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72000" marB="72000" marR="72000" marL="72000" anchor="ctr">
                    <a:lnL cap="flat" cmpd="sng" w="705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BDC1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BDC1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200" u="sng">
                          <a:solidFill>
                            <a:schemeClr val="dk1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슬랙 채널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72000" marB="72000" marR="72000" marL="72000" anchor="ctr">
                    <a:lnL cap="flat" cmpd="sng" w="7050">
                      <a:solidFill>
                        <a:srgbClr val="BDC1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BDC1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BDC1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5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72000" marB="72000" marR="72000" marL="72000" anchor="ctr">
                    <a:lnL cap="flat" cmpd="sng" w="705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BDC1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BDC1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BDC1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200" u="sng">
                          <a:solidFill>
                            <a:schemeClr val="dk1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카카오톡 오픈 채팅방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72000" marB="72000" marR="72000" marL="72000" anchor="ctr">
                    <a:lnL cap="flat" cmpd="sng" w="7050">
                      <a:solidFill>
                        <a:srgbClr val="BDC1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BDC1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BDC1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BDC1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5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72000" marB="72000" marR="72000" marL="72000" anchor="ctr">
                    <a:lnL cap="flat" cmpd="sng" w="705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BDC1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BDC1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 u="sng">
                          <a:solidFill>
                            <a:schemeClr val="hlink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  <a:hlinkClick r:id="rId8"/>
                        </a:rPr>
                        <a:t>깃허브 이슈 제보</a:t>
                      </a:r>
                      <a:endParaRPr sz="1200">
                        <a:latin typeface="Gothic A1"/>
                        <a:ea typeface="Gothic A1"/>
                        <a:cs typeface="Gothic A1"/>
                        <a:sym typeface="Gothic A1"/>
                      </a:endParaRPr>
                    </a:p>
                  </a:txBody>
                  <a:tcPr marT="72000" marB="72000" marR="72000" marL="72000" anchor="ctr">
                    <a:lnL cap="flat" cmpd="sng" w="7050">
                      <a:solidFill>
                        <a:srgbClr val="BDC1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BDC1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BDC1C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BDC1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25" name="Google Shape;525;p56"/>
          <p:cNvSpPr txBox="1"/>
          <p:nvPr>
            <p:ph type="title"/>
          </p:nvPr>
        </p:nvSpPr>
        <p:spPr>
          <a:xfrm>
            <a:off x="924050" y="286500"/>
            <a:ext cx="74667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기술 지원</a:t>
            </a:r>
            <a:endParaRPr/>
          </a:p>
        </p:txBody>
      </p:sp>
      <p:pic>
        <p:nvPicPr>
          <p:cNvPr id="526" name="Google Shape;526;p5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73825" y="2651800"/>
            <a:ext cx="258800" cy="26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5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473825" y="3016300"/>
            <a:ext cx="258800" cy="25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5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368850" y="3375925"/>
            <a:ext cx="468755" cy="263675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56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iola template">
  <a:themeElements>
    <a:clrScheme name="Custom 347">
      <a:dk1>
        <a:srgbClr val="000000"/>
      </a:dk1>
      <a:lt1>
        <a:srgbClr val="FFFFFF"/>
      </a:lt1>
      <a:dk2>
        <a:srgbClr val="8A8682"/>
      </a:dk2>
      <a:lt2>
        <a:srgbClr val="F0EEE9"/>
      </a:lt2>
      <a:accent1>
        <a:srgbClr val="FFCD00"/>
      </a:accent1>
      <a:accent2>
        <a:srgbClr val="F6921D"/>
      </a:accent2>
      <a:accent3>
        <a:srgbClr val="A7693A"/>
      </a:accent3>
      <a:accent4>
        <a:srgbClr val="D8D6D2"/>
      </a:accent4>
      <a:accent5>
        <a:srgbClr val="979593"/>
      </a:accent5>
      <a:accent6>
        <a:srgbClr val="6F6868"/>
      </a:accent6>
      <a:hlink>
        <a:srgbClr val="0000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